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(0:00). Callback chain: Module 1 you learned to READ the meter, Module 2 to DESIGN the call. Now you BUILD — a real application, no infrastructure. Kill the biggest myth in the room up front: 'working with AI needs a GPU and cloud credits.' It doesn't. The modern stack is API-driven and runs on free tiers. By the end of this module they'll have executed a real extraction app in Colab. Tie back to the workshop title: ₹0, no GPU, before you graduate.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myth (0:45-2:30). Most students genuinely believe the left column — it's what 'doing ML' looked like in their coursework. Reframe: the GPUs still exist, but they're OpenAI's / Google's problem, not yours. You rent inference over HTTP. The only thing you own is the Python that calls it. This is liberating — it means a 2nd-year with a laptop and a free key has the same access as an engineer at a big company. That's the door this module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API-first (2:30-4:00). Three boxes: your code → hosted model → structured result. Emphasise the boundary — everything hard (the GPUs, the model weights, the serving infra) is on the far side of the API, owned by the provider. Your side is just: format a request, parse a response. Repeat the workshop's core skill line: knowing WHICH API and HOW to structure the request and parse the response — that's modern AI engineering. This is exactly what the Colab notebook does in ~10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of a call (4:00-5:30). Demystify the code — it's genuinely this short. Walk the four annotated parts: model (the tier choice from M1), contents (the input, billed as input tokens), config (where M2's system prompt + JSON schema live), response (text plus usage_metadata — our meter). Point out there is NO training, NO GPU setup, NO model download anywhere in this file. This is the exact shape of the code in the Colab notebook they're about to run. Transition: 'but raw text out isn't enough for a real app — we need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(5:30-7:00). This is the conceptual heart of Module 3 and the upgrade over Module 2: in M2 we ASKED for JSON; here we ENFORCE it with a response_schema (a Pydantic model). The model is now contractually bound to return that exact shape — no preamble, no drift. That guarantee is what makes it safe to put inside an app: json.loads() always works, every field is present. This is literally the Candidate class in the notebook's Part B. Next slide = RAG, for when the model needs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(7:00-9:00). Solves Module 1's 'no live knowledge / frozen at cutoff' limitation. The instinct students have — 'I'll fine-tune / retrain the model on my data' — is the expensive, GPU-heavy, wrong answer for most cases. RAG is the cheap, no-GPU answer: retrieve the relevant snippets, stuff them into the prompt as context, let the model answer from them. Three steps: retrieve, augment, generate. Real-world framing: company chatbots over internal docs are almost all RAG, not fine-tuned. Leads naturally into embeddings (how retrieval finds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(9:00-10:30). Keep it strictly intuitive — no vectors-and-cosine math, that's the promise of the module title. The one mental image: text becomes a point in space; similar meanings cluster. king/queen near, banana far. Once text is points, 'search' = 'find nearest points', which is how RAG retrieval actually works under the hood. Then the practical payoff list: semantic search, recommendations, dedup, RAG. They don't need to implement it today — they need to know it exists and what it's FOR. Now: the free toolstack that makes all this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toolstack (10:30-12:00). These all have real free tiers — the point is students leave with a kit, not just a memory. Gemini = what we use today (free, no card). Groq = when you want speed on open models. HuggingFace = the model zoo + inference API. Colab = the browser runtime tying it together. Mention free-tier reality briefly: rate limits exist (a few requests/min), so add small delays in loops — but for learning it's effectively unlimited. Now stop talking and BUILD — the live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intro (12:00-13:00). Share the Colab link (chat / QR / short URL). Everyone should already have a key from the Module 2 lab — if not, the Setup cells handle it. Direct them to PART B specifically (Module 3's half). Reassure: only a Google account, no card, the notebook installs everything. Have the notebook already open and run on YOUR screen as the reference + wifi-failure backup. The 'Cost so far: ₹0.00' line is the punchline of the whole module — point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steps (13:00-15:00). Walk these three cells live in the notebook. (1) The Candidate schema cell — point out each field. (2) The run(...) call with schema=Candidate — note this is the SAME run() helper from the Module 2 lab, now with a schema. (3) The json.loads cell that proves it's real data, printing name/skills/seniority. Run it once, then CHANGE something live — paste a different résumé or add a schema field like languages: list[str] — and re-run so they see the model adapt. End on the generalisation line: this pattern is the workhorse of real data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meter (15:00-16:30). This ties all three modules into one screen. The usage block they print is M1 (the meter), the structured JSON is M2 (designed call) + M3 (schema), and the whole thing ran with no GPU on a free key (M3's thesis). Say it plainly: you sent text, you got back data, and you can see the exact cost. That visibility + that control IS being a ₹0 AI engineer. Let a couple of students read their own token numbers aloud — make it theirs. Numbers shown are illustrative; live will vary.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(16:30-18:00). The honest 'this is what makes it a real job' slide. A demo that works once is easy; a service that works at 3am on the 10,000th call is engineering. Four things that WILL happen: rate limits (429s on free tier — retry with backoff), malformed/unexpected output (validate even schema'd output), latency (timeouts), and cost runaway (a loop is N calls — estimate first, callback to M1's cost math). Tell them: handling these gracefully is exactly what separates a student script from a production feature, and it's what interviewers probe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 homework (18:00-21:00). Read the five checks — note how each maps to a notebook cell they just ran. The 'do tonight' makes it personal (their own CV) and extends the skill (modify the schema). Bridge to Module 4: 'right now the model returns data; next it will DO things — call tools, take actions, complete multi-step tasks.' Close on the thesis one more time and point back at the ₹0.00 cost line: you don't need a GPU, you need judgement about which API to call and how to design the call — and you've now done it end to end.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E"/>
        </a:solidFill>
      </p:bgPr>
    </p:bg>
    <p:spTree>
      <p:nvGrpSpPr>
        <p:cNvPr id="1" name=""/>
        <p:cNvGrpSpPr/>
        <p:nvPr/>
      </p:nvGrpSpPr>
      <p:grpSpPr>
        <a:xfrm>
          <a:off x="0" y="0"/>
          <a:ext cx="0" cy="0"/>
          <a:chOff x="0" y="0"/>
          <a:chExt cx="0" cy="0"/>
        </a:xfrm>
      </p:grpSpPr>
      <p:sp>
        <p:nvSpPr>
          <p:cNvPr id="2" name="Shape 0"/>
          <p:cNvSpPr/>
          <p:nvPr/>
        </p:nvSpPr>
        <p:spPr>
          <a:xfrm>
            <a:off x="8778240" y="-1280160"/>
            <a:ext cx="5669280" cy="5669280"/>
          </a:xfrm>
          <a:prstGeom prst="ellipse">
            <a:avLst/>
          </a:prstGeom>
          <a:solidFill>
            <a:srgbClr val="0D9488">
              <a:alpha val="12000"/>
            </a:srgbClr>
          </a:solidFill>
          <a:ln/>
        </p:spPr>
      </p:sp>
      <p:sp>
        <p:nvSpPr>
          <p:cNvPr id="3" name="Shape 1"/>
          <p:cNvSpPr/>
          <p:nvPr/>
        </p:nvSpPr>
        <p:spPr>
          <a:xfrm>
            <a:off x="10058400" y="3291840"/>
            <a:ext cx="4206240" cy="4206240"/>
          </a:xfrm>
          <a:prstGeom prst="ellipse">
            <a:avLst/>
          </a:prstGeom>
          <a:solidFill>
            <a:srgbClr val="F4A338">
              <a:alpha val="10000"/>
            </a:srgbClr>
          </a:solidFill>
          <a:ln/>
        </p:spPr>
      </p:sp>
      <p:pic>
        <p:nvPicPr>
          <p:cNvPr id="4" name="Image 0" descr="icons/cloud.png">    </p:cNvPr>
          <p:cNvPicPr>
            <a:picLocks noChangeAspect="1"/>
          </p:cNvPicPr>
          <p:nvPr/>
        </p:nvPicPr>
        <p:blipFill>
          <a:blip r:embed="rId1"/>
          <a:stretch>
            <a:fillRect/>
          </a:stretch>
        </p:blipFill>
        <p:spPr>
          <a:xfrm>
            <a:off x="685800" y="960120"/>
            <a:ext cx="960120" cy="960120"/>
          </a:xfrm>
          <a:prstGeom prst="rect">
            <a:avLst/>
          </a:prstGeom>
        </p:spPr>
      </p:pic>
      <p:sp>
        <p:nvSpPr>
          <p:cNvPr id="5" name="Text 2"/>
          <p:cNvSpPr/>
          <p:nvPr/>
        </p:nvSpPr>
        <p:spPr>
          <a:xfrm>
            <a:off x="1828800" y="1005840"/>
            <a:ext cx="4572000" cy="365760"/>
          </a:xfrm>
          <a:prstGeom prst="rect">
            <a:avLst/>
          </a:prstGeom>
          <a:noFill/>
          <a:ln/>
        </p:spPr>
        <p:txBody>
          <a:bodyPr wrap="square" rtlCol="0" anchor="ctr"/>
          <a:lstStyle/>
          <a:p>
            <a:pPr indent="0" marL="0">
              <a:buNone/>
            </a:pPr>
            <a:r>
              <a:rPr lang="en-US" sz="1500" b="1" spc="400" kern="0" dirty="0">
                <a:solidFill>
                  <a:srgbClr val="5EEAD4"/>
                </a:solidFill>
                <a:latin typeface="Calibri" pitchFamily="34" charset="0"/>
                <a:ea typeface="Calibri" pitchFamily="34" charset="-122"/>
                <a:cs typeface="Calibri" pitchFamily="34" charset="-120"/>
              </a:rPr>
              <a:t>MODULE 3</a:t>
            </a:r>
            <a:endParaRPr lang="en-US" sz="1500" dirty="0"/>
          </a:p>
        </p:txBody>
      </p:sp>
      <p:sp>
        <p:nvSpPr>
          <p:cNvPr id="6" name="Text 3"/>
          <p:cNvSpPr/>
          <p:nvPr/>
        </p:nvSpPr>
        <p:spPr>
          <a:xfrm>
            <a:off x="658368" y="1828800"/>
            <a:ext cx="11247120" cy="91440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Building Real Applications</a:t>
            </a:r>
            <a:endParaRPr lang="en-US" sz="4800" dirty="0"/>
          </a:p>
        </p:txBody>
      </p:sp>
      <p:sp>
        <p:nvSpPr>
          <p:cNvPr id="7" name="Text 4"/>
          <p:cNvSpPr/>
          <p:nvPr/>
        </p:nvSpPr>
        <p:spPr>
          <a:xfrm>
            <a:off x="676656" y="2743200"/>
            <a:ext cx="10972800" cy="731520"/>
          </a:xfrm>
          <a:prstGeom prst="rect">
            <a:avLst/>
          </a:prstGeom>
          <a:noFill/>
          <a:ln/>
        </p:spPr>
        <p:txBody>
          <a:bodyPr wrap="square" rtlCol="0" anchor="ctr"/>
          <a:lstStyle/>
          <a:p>
            <a:pPr indent="0" marL="0">
              <a:buNone/>
            </a:pPr>
            <a:r>
              <a:rPr lang="en-US" sz="4800" b="1" dirty="0">
                <a:solidFill>
                  <a:srgbClr val="5EEAD4"/>
                </a:solidFill>
                <a:latin typeface="Cambria" pitchFamily="34" charset="0"/>
                <a:ea typeface="Cambria" pitchFamily="34" charset="-122"/>
                <a:cs typeface="Cambria" pitchFamily="34" charset="-120"/>
              </a:rPr>
              <a:t>Without a GPU</a:t>
            </a:r>
            <a:endParaRPr lang="en-US" sz="4800" dirty="0"/>
          </a:p>
        </p:txBody>
      </p:sp>
      <p:sp>
        <p:nvSpPr>
          <p:cNvPr id="8" name="Text 5"/>
          <p:cNvSpPr/>
          <p:nvPr/>
        </p:nvSpPr>
        <p:spPr>
          <a:xfrm>
            <a:off x="685800" y="3886200"/>
            <a:ext cx="10607040" cy="548640"/>
          </a:xfrm>
          <a:prstGeom prst="rect">
            <a:avLst/>
          </a:prstGeom>
          <a:noFill/>
          <a:ln/>
        </p:spPr>
        <p:txBody>
          <a:bodyPr wrap="square" rtlCol="0" anchor="ctr"/>
          <a:lstStyle/>
          <a:p>
            <a:pPr indent="0" marL="0">
              <a:buNone/>
            </a:pPr>
            <a:r>
              <a:rPr lang="en-US" sz="1700" dirty="0">
                <a:solidFill>
                  <a:srgbClr val="9FBEC0"/>
                </a:solidFill>
                <a:latin typeface="Calibri" pitchFamily="34" charset="0"/>
                <a:ea typeface="Calibri" pitchFamily="34" charset="-122"/>
                <a:cs typeface="Calibri" pitchFamily="34" charset="-120"/>
              </a:rPr>
              <a:t>A 10-line script today does what needed a research team in 2018 — </a:t>
            </a:r>
            <a:pPr indent="0" marL="0">
              <a:buNone/>
            </a:pPr>
            <a:r>
              <a:rPr lang="en-US" sz="1700" b="1" dirty="0">
                <a:solidFill>
                  <a:srgbClr val="FFFFFF"/>
                </a:solidFill>
                <a:latin typeface="Calibri" pitchFamily="34" charset="0"/>
                <a:ea typeface="Calibri" pitchFamily="34" charset="-122"/>
                <a:cs typeface="Calibri" pitchFamily="34" charset="-120"/>
              </a:rPr>
              <a:t>and it costs ₹0</a:t>
            </a:r>
            <a:endParaRPr lang="en-US" sz="1700" dirty="0"/>
          </a:p>
        </p:txBody>
      </p:sp>
      <p:sp>
        <p:nvSpPr>
          <p:cNvPr id="9" name="Shape 6"/>
          <p:cNvSpPr/>
          <p:nvPr/>
        </p:nvSpPr>
        <p:spPr>
          <a:xfrm>
            <a:off x="713232" y="4617720"/>
            <a:ext cx="2194560" cy="0"/>
          </a:xfrm>
          <a:prstGeom prst="line">
            <a:avLst/>
          </a:prstGeom>
          <a:noFill/>
          <a:ln w="31750">
            <a:solidFill>
              <a:srgbClr val="F4A338"/>
            </a:solidFill>
            <a:prstDash val="solid"/>
          </a:ln>
        </p:spPr>
      </p:sp>
      <p:sp>
        <p:nvSpPr>
          <p:cNvPr id="10" name="Text 7"/>
          <p:cNvSpPr/>
          <p:nvPr/>
        </p:nvSpPr>
        <p:spPr>
          <a:xfrm>
            <a:off x="685800" y="4846320"/>
            <a:ext cx="10058400" cy="365760"/>
          </a:xfrm>
          <a:prstGeom prst="rect">
            <a:avLst/>
          </a:prstGeom>
          <a:noFill/>
          <a:ln/>
        </p:spPr>
        <p:txBody>
          <a:bodyPr wrap="square" rtlCol="0" anchor="ctr"/>
          <a:lstStyle/>
          <a:p>
            <a:pPr indent="0" marL="0">
              <a:buNone/>
            </a:pPr>
            <a:r>
              <a:rPr lang="en-US" sz="1400" dirty="0">
                <a:solidFill>
                  <a:srgbClr val="9FBEC0"/>
                </a:solidFill>
                <a:latin typeface="Calibri" pitchFamily="34" charset="0"/>
                <a:ea typeface="Calibri" pitchFamily="34" charset="-122"/>
                <a:cs typeface="Calibri" pitchFamily="34" charset="-120"/>
              </a:rPr>
              <a:t>Pramit Mitra  ·  Principal Engineer, Data Science Platform — Dell Technologies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E05252"/>
                </a:solidFill>
                <a:latin typeface="Calibri" pitchFamily="34" charset="0"/>
                <a:ea typeface="Calibri" pitchFamily="34" charset="-122"/>
                <a:cs typeface="Calibri" pitchFamily="34" charset="-120"/>
              </a:rPr>
              <a:t>THE MYTH WE'RE KILLING</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“I need a GPU to build with AI”  —  you don't</a:t>
            </a:r>
            <a:endParaRPr lang="en-US" sz="3000" dirty="0"/>
          </a:p>
        </p:txBody>
      </p:sp>
      <p:sp>
        <p:nvSpPr>
          <p:cNvPr id="4" name="Shape 2"/>
          <p:cNvSpPr/>
          <p:nvPr/>
        </p:nvSpPr>
        <p:spPr>
          <a:xfrm>
            <a:off x="640080" y="1828800"/>
            <a:ext cx="5349240" cy="3931920"/>
          </a:xfrm>
          <a:prstGeom prst="roundRect">
            <a:avLst>
              <a:gd name="adj" fmla="val 2791"/>
            </a:avLst>
          </a:prstGeom>
          <a:solidFill>
            <a:srgbClr val="F1F5F9"/>
          </a:solidFill>
          <a:ln/>
          <a:effectLst>
            <a:outerShdw sx="100000" sy="100000" kx="0" ky="0" algn="bl" rotWithShape="0" blurRad="88900" dist="38100" dir="2700000">
              <a:srgbClr val="000000">
                <a:alpha val="10000"/>
              </a:srgbClr>
            </a:outerShdw>
          </a:effectLst>
        </p:spPr>
      </p:sp>
      <p:sp>
        <p:nvSpPr>
          <p:cNvPr id="5" name="Shape 3"/>
          <p:cNvSpPr/>
          <p:nvPr/>
        </p:nvSpPr>
        <p:spPr>
          <a:xfrm>
            <a:off x="960120" y="2194560"/>
            <a:ext cx="868680" cy="868680"/>
          </a:xfrm>
          <a:prstGeom prst="ellipse">
            <a:avLst/>
          </a:prstGeom>
          <a:solidFill>
            <a:srgbClr val="E05252"/>
          </a:solidFill>
          <a:ln/>
        </p:spPr>
      </p:sp>
      <p:pic>
        <p:nvPicPr>
          <p:cNvPr id="6" name="Image 0" descr="icons/chip_w.png">    </p:cNvPr>
          <p:cNvPicPr>
            <a:picLocks noChangeAspect="1"/>
          </p:cNvPicPr>
          <p:nvPr/>
        </p:nvPicPr>
        <p:blipFill>
          <a:blip r:embed="rId1"/>
          <a:stretch>
            <a:fillRect/>
          </a:stretch>
        </p:blipFill>
        <p:spPr>
          <a:xfrm>
            <a:off x="1161288" y="2395728"/>
            <a:ext cx="457200" cy="457200"/>
          </a:xfrm>
          <a:prstGeom prst="rect">
            <a:avLst/>
          </a:prstGeom>
        </p:spPr>
      </p:pic>
      <p:sp>
        <p:nvSpPr>
          <p:cNvPr id="7" name="Text 4"/>
          <p:cNvSpPr/>
          <p:nvPr/>
        </p:nvSpPr>
        <p:spPr>
          <a:xfrm>
            <a:off x="2011680" y="2286000"/>
            <a:ext cx="3840480" cy="640080"/>
          </a:xfrm>
          <a:prstGeom prst="rect">
            <a:avLst/>
          </a:prstGeom>
          <a:noFill/>
          <a:ln/>
        </p:spPr>
        <p:txBody>
          <a:bodyPr wrap="square" rtlCol="0" anchor="ctr"/>
          <a:lstStyle/>
          <a:p>
            <a:pPr indent="0" marL="0">
              <a:buNone/>
            </a:pPr>
            <a:r>
              <a:rPr lang="en-US" sz="1600" b="1" dirty="0">
                <a:solidFill>
                  <a:srgbClr val="E05252"/>
                </a:solidFill>
                <a:latin typeface="Calibri" pitchFamily="34" charset="0"/>
                <a:ea typeface="Calibri" pitchFamily="34" charset="-122"/>
                <a:cs typeface="Calibri" pitchFamily="34" charset="-120"/>
              </a:rPr>
              <a:t>THE OLD MENTAL MODEL</a:t>
            </a:r>
            <a:endParaRPr lang="en-US" sz="1600" dirty="0"/>
          </a:p>
        </p:txBody>
      </p:sp>
      <p:sp>
        <p:nvSpPr>
          <p:cNvPr id="8" name="Text 5"/>
          <p:cNvSpPr/>
          <p:nvPr/>
        </p:nvSpPr>
        <p:spPr>
          <a:xfrm>
            <a:off x="1005840" y="3246120"/>
            <a:ext cx="4663440" cy="502920"/>
          </a:xfrm>
          <a:prstGeom prst="rect">
            <a:avLst/>
          </a:prstGeom>
          <a:noFill/>
          <a:ln/>
        </p:spPr>
        <p:txBody>
          <a:bodyPr wrap="square" rtlCol="0" anchor="ctr"/>
          <a:lstStyle/>
          <a:p>
            <a:pPr marL="177800" indent="-177800">
              <a:buSzPct val="100000"/>
              <a:buChar char="•"/>
            </a:pPr>
            <a:r>
              <a:rPr lang="en-US" sz="1500" dirty="0">
                <a:solidFill>
                  <a:srgbClr val="1E293B"/>
                </a:solidFill>
                <a:latin typeface="Calibri" pitchFamily="34" charset="0"/>
                <a:ea typeface="Calibri" pitchFamily="34" charset="-122"/>
                <a:cs typeface="Calibri" pitchFamily="34" charset="-120"/>
              </a:rPr>
              <a:t>Buy / rent expensive GPUs</a:t>
            </a:r>
            <a:endParaRPr lang="en-US" sz="1500" dirty="0"/>
          </a:p>
        </p:txBody>
      </p:sp>
      <p:sp>
        <p:nvSpPr>
          <p:cNvPr id="9" name="Text 6"/>
          <p:cNvSpPr/>
          <p:nvPr/>
        </p:nvSpPr>
        <p:spPr>
          <a:xfrm>
            <a:off x="1005840" y="3813048"/>
            <a:ext cx="4663440" cy="502920"/>
          </a:xfrm>
          <a:prstGeom prst="rect">
            <a:avLst/>
          </a:prstGeom>
          <a:noFill/>
          <a:ln/>
        </p:spPr>
        <p:txBody>
          <a:bodyPr wrap="square" rtlCol="0" anchor="ctr"/>
          <a:lstStyle/>
          <a:p>
            <a:pPr marL="177800" indent="-177800">
              <a:buSzPct val="100000"/>
              <a:buChar char="•"/>
            </a:pPr>
            <a:r>
              <a:rPr lang="en-US" sz="1500" dirty="0">
                <a:solidFill>
                  <a:srgbClr val="1E293B"/>
                </a:solidFill>
                <a:latin typeface="Calibri" pitchFamily="34" charset="0"/>
                <a:ea typeface="Calibri" pitchFamily="34" charset="-122"/>
                <a:cs typeface="Calibri" pitchFamily="34" charset="-120"/>
              </a:rPr>
              <a:t>Download and host huge models</a:t>
            </a:r>
            <a:endParaRPr lang="en-US" sz="1500" dirty="0"/>
          </a:p>
        </p:txBody>
      </p:sp>
      <p:sp>
        <p:nvSpPr>
          <p:cNvPr id="10" name="Text 7"/>
          <p:cNvSpPr/>
          <p:nvPr/>
        </p:nvSpPr>
        <p:spPr>
          <a:xfrm>
            <a:off x="1005840" y="4379976"/>
            <a:ext cx="4663440" cy="502920"/>
          </a:xfrm>
          <a:prstGeom prst="rect">
            <a:avLst/>
          </a:prstGeom>
          <a:noFill/>
          <a:ln/>
        </p:spPr>
        <p:txBody>
          <a:bodyPr wrap="square" rtlCol="0" anchor="ctr"/>
          <a:lstStyle/>
          <a:p>
            <a:pPr marL="177800" indent="-177800">
              <a:buSzPct val="100000"/>
              <a:buChar char="•"/>
            </a:pPr>
            <a:r>
              <a:rPr lang="en-US" sz="1500" dirty="0">
                <a:solidFill>
                  <a:srgbClr val="1E293B"/>
                </a:solidFill>
                <a:latin typeface="Calibri" pitchFamily="34" charset="0"/>
                <a:ea typeface="Calibri" pitchFamily="34" charset="-122"/>
                <a:cs typeface="Calibri" pitchFamily="34" charset="-120"/>
              </a:rPr>
              <a:t>Manage CUDA, drivers, servers</a:t>
            </a:r>
            <a:endParaRPr lang="en-US" sz="1500" dirty="0"/>
          </a:p>
        </p:txBody>
      </p:sp>
      <p:sp>
        <p:nvSpPr>
          <p:cNvPr id="11" name="Text 8"/>
          <p:cNvSpPr/>
          <p:nvPr/>
        </p:nvSpPr>
        <p:spPr>
          <a:xfrm>
            <a:off x="1005840" y="4946904"/>
            <a:ext cx="4663440" cy="502920"/>
          </a:xfrm>
          <a:prstGeom prst="rect">
            <a:avLst/>
          </a:prstGeom>
          <a:noFill/>
          <a:ln/>
        </p:spPr>
        <p:txBody>
          <a:bodyPr wrap="square" rtlCol="0" anchor="ctr"/>
          <a:lstStyle/>
          <a:p>
            <a:pPr marL="177800" indent="-177800">
              <a:buSzPct val="100000"/>
              <a:buChar char="•"/>
            </a:pPr>
            <a:r>
              <a:rPr lang="en-US" sz="1500" dirty="0">
                <a:solidFill>
                  <a:srgbClr val="1E293B"/>
                </a:solidFill>
                <a:latin typeface="Calibri" pitchFamily="34" charset="0"/>
                <a:ea typeface="Calibri" pitchFamily="34" charset="-122"/>
                <a:cs typeface="Calibri" pitchFamily="34" charset="-120"/>
              </a:rPr>
              <a:t>Spend ₹ before you build anything</a:t>
            </a:r>
            <a:endParaRPr lang="en-US" sz="1500" dirty="0"/>
          </a:p>
        </p:txBody>
      </p:sp>
      <p:sp>
        <p:nvSpPr>
          <p:cNvPr id="12" name="Shape 9"/>
          <p:cNvSpPr/>
          <p:nvPr/>
        </p:nvSpPr>
        <p:spPr>
          <a:xfrm>
            <a:off x="6172200" y="1828800"/>
            <a:ext cx="5349240" cy="3931920"/>
          </a:xfrm>
          <a:prstGeom prst="roundRect">
            <a:avLst>
              <a:gd name="adj" fmla="val 2791"/>
            </a:avLst>
          </a:prstGeom>
          <a:solidFill>
            <a:srgbClr val="E8F4F2"/>
          </a:solidFill>
          <a:ln/>
          <a:effectLst>
            <a:outerShdw sx="100000" sy="100000" kx="0" ky="0" algn="bl" rotWithShape="0" blurRad="88900" dist="38100" dir="2700000">
              <a:srgbClr val="000000">
                <a:alpha val="12000"/>
              </a:srgbClr>
            </a:outerShdw>
          </a:effectLst>
        </p:spPr>
      </p:sp>
      <p:sp>
        <p:nvSpPr>
          <p:cNvPr id="13" name="Shape 10"/>
          <p:cNvSpPr/>
          <p:nvPr/>
        </p:nvSpPr>
        <p:spPr>
          <a:xfrm>
            <a:off x="6492240" y="2194560"/>
            <a:ext cx="868680" cy="868680"/>
          </a:xfrm>
          <a:prstGeom prst="ellipse">
            <a:avLst/>
          </a:prstGeom>
          <a:solidFill>
            <a:srgbClr val="0D9488"/>
          </a:solidFill>
          <a:ln/>
        </p:spPr>
      </p:sp>
      <p:pic>
        <p:nvPicPr>
          <p:cNvPr id="14" name="Image 1" descr="icons/plug_w.png">    </p:cNvPr>
          <p:cNvPicPr>
            <a:picLocks noChangeAspect="1"/>
          </p:cNvPicPr>
          <p:nvPr/>
        </p:nvPicPr>
        <p:blipFill>
          <a:blip r:embed="rId2"/>
          <a:stretch>
            <a:fillRect/>
          </a:stretch>
        </p:blipFill>
        <p:spPr>
          <a:xfrm>
            <a:off x="6729984" y="2395728"/>
            <a:ext cx="384048" cy="457200"/>
          </a:xfrm>
          <a:prstGeom prst="rect">
            <a:avLst/>
          </a:prstGeom>
        </p:spPr>
      </p:pic>
      <p:sp>
        <p:nvSpPr>
          <p:cNvPr id="15" name="Text 11"/>
          <p:cNvSpPr/>
          <p:nvPr/>
        </p:nvSpPr>
        <p:spPr>
          <a:xfrm>
            <a:off x="7543800" y="2286000"/>
            <a:ext cx="3840480" cy="640080"/>
          </a:xfrm>
          <a:prstGeom prst="rect">
            <a:avLst/>
          </a:prstGeom>
          <a:noFill/>
          <a:ln/>
        </p:spPr>
        <p:txBody>
          <a:bodyPr wrap="square"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THE INDUSTRY REALITY</a:t>
            </a:r>
            <a:endParaRPr lang="en-US" sz="1600" dirty="0"/>
          </a:p>
        </p:txBody>
      </p:sp>
      <p:sp>
        <p:nvSpPr>
          <p:cNvPr id="16" name="Text 12"/>
          <p:cNvSpPr/>
          <p:nvPr/>
        </p:nvSpPr>
        <p:spPr>
          <a:xfrm>
            <a:off x="6537960" y="3246120"/>
            <a:ext cx="4663440" cy="502920"/>
          </a:xfrm>
          <a:prstGeom prst="rect">
            <a:avLst/>
          </a:prstGeom>
          <a:noFill/>
          <a:ln/>
        </p:spPr>
        <p:txBody>
          <a:bodyPr wrap="square" rtlCol="0" anchor="ctr"/>
          <a:lstStyle/>
          <a:p>
            <a:pPr marL="177800" indent="-177800">
              <a:buSzPct val="100000"/>
              <a:buChar char="•"/>
            </a:pPr>
            <a:r>
              <a:rPr lang="en-US" sz="1500" b="1" dirty="0">
                <a:solidFill>
                  <a:srgbClr val="0F2A2E"/>
                </a:solidFill>
                <a:latin typeface="Calibri" pitchFamily="34" charset="0"/>
                <a:ea typeface="Calibri" pitchFamily="34" charset="-122"/>
                <a:cs typeface="Calibri" pitchFamily="34" charset="-120"/>
              </a:rPr>
              <a:t>Call a hosted model over an API</a:t>
            </a:r>
            <a:endParaRPr lang="en-US" sz="1500" dirty="0"/>
          </a:p>
        </p:txBody>
      </p:sp>
      <p:sp>
        <p:nvSpPr>
          <p:cNvPr id="17" name="Text 13"/>
          <p:cNvSpPr/>
          <p:nvPr/>
        </p:nvSpPr>
        <p:spPr>
          <a:xfrm>
            <a:off x="6537960" y="3813048"/>
            <a:ext cx="4663440" cy="502920"/>
          </a:xfrm>
          <a:prstGeom prst="rect">
            <a:avLst/>
          </a:prstGeom>
          <a:noFill/>
          <a:ln/>
        </p:spPr>
        <p:txBody>
          <a:bodyPr wrap="square" rtlCol="0" anchor="ctr"/>
          <a:lstStyle/>
          <a:p>
            <a:pPr marL="177800" indent="-177800">
              <a:buSzPct val="100000"/>
              <a:buChar char="•"/>
            </a:pPr>
            <a:r>
              <a:rPr lang="en-US" sz="1500" b="1" dirty="0">
                <a:solidFill>
                  <a:srgbClr val="0F2A2E"/>
                </a:solidFill>
                <a:latin typeface="Calibri" pitchFamily="34" charset="0"/>
                <a:ea typeface="Calibri" pitchFamily="34" charset="-122"/>
                <a:cs typeface="Calibri" pitchFamily="34" charset="-120"/>
              </a:rPr>
              <a:t>Someone else owns the GPUs</a:t>
            </a:r>
            <a:endParaRPr lang="en-US" sz="1500" dirty="0"/>
          </a:p>
        </p:txBody>
      </p:sp>
      <p:sp>
        <p:nvSpPr>
          <p:cNvPr id="18" name="Text 14"/>
          <p:cNvSpPr/>
          <p:nvPr/>
        </p:nvSpPr>
        <p:spPr>
          <a:xfrm>
            <a:off x="6537960" y="4379976"/>
            <a:ext cx="4663440" cy="502920"/>
          </a:xfrm>
          <a:prstGeom prst="rect">
            <a:avLst/>
          </a:prstGeom>
          <a:noFill/>
          <a:ln/>
        </p:spPr>
        <p:txBody>
          <a:bodyPr wrap="square" rtlCol="0" anchor="ctr"/>
          <a:lstStyle/>
          <a:p>
            <a:pPr marL="177800" indent="-177800">
              <a:buSzPct val="100000"/>
              <a:buChar char="•"/>
            </a:pPr>
            <a:r>
              <a:rPr lang="en-US" sz="1500" b="1" dirty="0">
                <a:solidFill>
                  <a:srgbClr val="0F2A2E"/>
                </a:solidFill>
                <a:latin typeface="Calibri" pitchFamily="34" charset="0"/>
                <a:ea typeface="Calibri" pitchFamily="34" charset="-122"/>
                <a:cs typeface="Calibri" pitchFamily="34" charset="-120"/>
              </a:rPr>
              <a:t>You write Python that makes requests</a:t>
            </a:r>
            <a:endParaRPr lang="en-US" sz="1500" dirty="0"/>
          </a:p>
        </p:txBody>
      </p:sp>
      <p:sp>
        <p:nvSpPr>
          <p:cNvPr id="19" name="Text 15"/>
          <p:cNvSpPr/>
          <p:nvPr/>
        </p:nvSpPr>
        <p:spPr>
          <a:xfrm>
            <a:off x="6537960" y="4946904"/>
            <a:ext cx="4663440" cy="502920"/>
          </a:xfrm>
          <a:prstGeom prst="rect">
            <a:avLst/>
          </a:prstGeom>
          <a:noFill/>
          <a:ln/>
        </p:spPr>
        <p:txBody>
          <a:bodyPr wrap="square" rtlCol="0" anchor="ctr"/>
          <a:lstStyle/>
          <a:p>
            <a:pPr marL="177800" indent="-177800">
              <a:buSzPct val="100000"/>
              <a:buChar char="•"/>
            </a:pPr>
            <a:r>
              <a:rPr lang="en-US" sz="1500" b="1" dirty="0">
                <a:solidFill>
                  <a:srgbClr val="0F2A2E"/>
                </a:solidFill>
                <a:latin typeface="Calibri" pitchFamily="34" charset="0"/>
                <a:ea typeface="Calibri" pitchFamily="34" charset="-122"/>
                <a:cs typeface="Calibri" pitchFamily="34" charset="-120"/>
              </a:rPr>
              <a:t>Free tier → build first, pay never*</a:t>
            </a:r>
            <a:endParaRPr lang="en-US" sz="1500" dirty="0"/>
          </a:p>
        </p:txBody>
      </p:sp>
      <p:sp>
        <p:nvSpPr>
          <p:cNvPr id="20" name="Text 16"/>
          <p:cNvSpPr/>
          <p:nvPr/>
        </p:nvSpPr>
        <p:spPr>
          <a:xfrm>
            <a:off x="6537960" y="5486400"/>
            <a:ext cx="4572000" cy="27432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*for learning &amp; prototyping</a:t>
            </a:r>
            <a:endParaRPr lang="en-US" sz="1100" dirty="0"/>
          </a:p>
        </p:txBody>
      </p:sp>
      <p:sp>
        <p:nvSpPr>
          <p:cNvPr id="21" name="Text 17"/>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3</a:t>
            </a:r>
            <a:endParaRPr lang="en-US" sz="900" dirty="0"/>
          </a:p>
        </p:txBody>
      </p:sp>
      <p:sp>
        <p:nvSpPr>
          <p:cNvPr id="22" name="Text 18"/>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A2E"/>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THE SHIFT</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API-first model: consume, don't train</a:t>
            </a:r>
            <a:endParaRPr lang="en-US" sz="3000" dirty="0"/>
          </a:p>
        </p:txBody>
      </p:sp>
      <p:sp>
        <p:nvSpPr>
          <p:cNvPr id="4" name="Shape 2"/>
          <p:cNvSpPr/>
          <p:nvPr/>
        </p:nvSpPr>
        <p:spPr>
          <a:xfrm>
            <a:off x="822960" y="2011680"/>
            <a:ext cx="3063240" cy="2194560"/>
          </a:xfrm>
          <a:prstGeom prst="roundRect">
            <a:avLst>
              <a:gd name="adj" fmla="val 5000"/>
            </a:avLst>
          </a:prstGeom>
          <a:solidFill>
            <a:srgbClr val="143A40"/>
          </a:solidFill>
          <a:ln w="12700">
            <a:solidFill>
              <a:srgbClr val="21555B"/>
            </a:solidFill>
            <a:prstDash val="solid"/>
          </a:ln>
          <a:effectLst>
            <a:outerShdw sx="100000" sy="100000" kx="0" ky="0" algn="bl" rotWithShape="0" blurRad="88900" dist="38100" dir="2700000">
              <a:srgbClr val="000000">
                <a:alpha val="22000"/>
              </a:srgbClr>
            </a:outerShdw>
          </a:effectLst>
        </p:spPr>
      </p:sp>
      <p:sp>
        <p:nvSpPr>
          <p:cNvPr id="5" name="Shape 3"/>
          <p:cNvSpPr/>
          <p:nvPr/>
        </p:nvSpPr>
        <p:spPr>
          <a:xfrm>
            <a:off x="1892808" y="2286000"/>
            <a:ext cx="914400" cy="914400"/>
          </a:xfrm>
          <a:prstGeom prst="ellipse">
            <a:avLst/>
          </a:prstGeom>
          <a:solidFill>
            <a:srgbClr val="0D9488"/>
          </a:solidFill>
          <a:ln/>
        </p:spPr>
      </p:sp>
      <p:pic>
        <p:nvPicPr>
          <p:cNvPr id="6" name="Image 0" descr="icons/py_w.png">    </p:cNvPr>
          <p:cNvPicPr>
            <a:picLocks noChangeAspect="1"/>
          </p:cNvPicPr>
          <p:nvPr/>
        </p:nvPicPr>
        <p:blipFill>
          <a:blip r:embed="rId1"/>
          <a:stretch>
            <a:fillRect/>
          </a:stretch>
        </p:blipFill>
        <p:spPr>
          <a:xfrm>
            <a:off x="2121408" y="2514600"/>
            <a:ext cx="457200" cy="457200"/>
          </a:xfrm>
          <a:prstGeom prst="rect">
            <a:avLst/>
          </a:prstGeom>
        </p:spPr>
      </p:pic>
      <p:sp>
        <p:nvSpPr>
          <p:cNvPr id="7" name="Text 4"/>
          <p:cNvSpPr/>
          <p:nvPr/>
        </p:nvSpPr>
        <p:spPr>
          <a:xfrm>
            <a:off x="868680" y="3291840"/>
            <a:ext cx="29718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Your Python</a:t>
            </a:r>
            <a:endParaRPr lang="en-US" sz="1600" dirty="0"/>
          </a:p>
        </p:txBody>
      </p:sp>
      <p:sp>
        <p:nvSpPr>
          <p:cNvPr id="8" name="Text 5"/>
          <p:cNvSpPr/>
          <p:nvPr/>
        </p:nvSpPr>
        <p:spPr>
          <a:xfrm>
            <a:off x="868680" y="3749040"/>
            <a:ext cx="2971800" cy="365760"/>
          </a:xfrm>
          <a:prstGeom prst="rect">
            <a:avLst/>
          </a:prstGeom>
          <a:noFill/>
          <a:ln/>
        </p:spPr>
        <p:txBody>
          <a:bodyPr wrap="square" rtlCol="0" anchor="ctr"/>
          <a:lstStyle/>
          <a:p>
            <a:pPr algn="ctr" indent="0" marL="0">
              <a:buNone/>
            </a:pPr>
            <a:r>
              <a:rPr lang="en-US" sz="1200" dirty="0">
                <a:solidFill>
                  <a:srgbClr val="B9D4D6"/>
                </a:solidFill>
                <a:latin typeface="Calibri" pitchFamily="34" charset="0"/>
                <a:ea typeface="Calibri" pitchFamily="34" charset="-122"/>
                <a:cs typeface="Calibri" pitchFamily="34" charset="-120"/>
              </a:rPr>
              <a:t>a few lines of code</a:t>
            </a:r>
            <a:endParaRPr lang="en-US" sz="1200" dirty="0"/>
          </a:p>
        </p:txBody>
      </p:sp>
      <p:pic>
        <p:nvPicPr>
          <p:cNvPr id="9" name="Image 1" descr="icons/arrow_w.png">    </p:cNvPr>
          <p:cNvPicPr>
            <a:picLocks noChangeAspect="1"/>
          </p:cNvPicPr>
          <p:nvPr/>
        </p:nvPicPr>
        <p:blipFill>
          <a:blip r:embed="rId2"/>
          <a:stretch>
            <a:fillRect/>
          </a:stretch>
        </p:blipFill>
        <p:spPr>
          <a:xfrm>
            <a:off x="3977640" y="2788920"/>
            <a:ext cx="502920" cy="502920"/>
          </a:xfrm>
          <a:prstGeom prst="rect">
            <a:avLst/>
          </a:prstGeom>
        </p:spPr>
      </p:pic>
      <p:sp>
        <p:nvSpPr>
          <p:cNvPr id="10" name="Shape 6"/>
          <p:cNvSpPr/>
          <p:nvPr/>
        </p:nvSpPr>
        <p:spPr>
          <a:xfrm>
            <a:off x="4572000" y="2011680"/>
            <a:ext cx="3063240" cy="2194560"/>
          </a:xfrm>
          <a:prstGeom prst="roundRect">
            <a:avLst>
              <a:gd name="adj" fmla="val 5000"/>
            </a:avLst>
          </a:prstGeom>
          <a:solidFill>
            <a:srgbClr val="143A40"/>
          </a:solidFill>
          <a:ln w="12700">
            <a:solidFill>
              <a:srgbClr val="21555B"/>
            </a:solidFill>
            <a:prstDash val="solid"/>
          </a:ln>
          <a:effectLst>
            <a:outerShdw sx="100000" sy="100000" kx="0" ky="0" algn="bl" rotWithShape="0" blurRad="88900" dist="38100" dir="2700000">
              <a:srgbClr val="000000">
                <a:alpha val="22000"/>
              </a:srgbClr>
            </a:outerShdw>
          </a:effectLst>
        </p:spPr>
      </p:sp>
      <p:sp>
        <p:nvSpPr>
          <p:cNvPr id="11" name="Shape 7"/>
          <p:cNvSpPr/>
          <p:nvPr/>
        </p:nvSpPr>
        <p:spPr>
          <a:xfrm>
            <a:off x="5641848" y="2286000"/>
            <a:ext cx="914400" cy="914400"/>
          </a:xfrm>
          <a:prstGeom prst="ellipse">
            <a:avLst/>
          </a:prstGeom>
          <a:solidFill>
            <a:srgbClr val="F4A338"/>
          </a:solidFill>
          <a:ln/>
        </p:spPr>
      </p:sp>
      <p:pic>
        <p:nvPicPr>
          <p:cNvPr id="12" name="Image 2" descr="icons/cloud_w.png">    </p:cNvPr>
          <p:cNvPicPr>
            <a:picLocks noChangeAspect="1"/>
          </p:cNvPicPr>
          <p:nvPr/>
        </p:nvPicPr>
        <p:blipFill>
          <a:blip r:embed="rId3"/>
          <a:stretch>
            <a:fillRect/>
          </a:stretch>
        </p:blipFill>
        <p:spPr>
          <a:xfrm>
            <a:off x="5870448" y="2514600"/>
            <a:ext cx="457200" cy="457200"/>
          </a:xfrm>
          <a:prstGeom prst="rect">
            <a:avLst/>
          </a:prstGeom>
        </p:spPr>
      </p:pic>
      <p:sp>
        <p:nvSpPr>
          <p:cNvPr id="13" name="Text 8"/>
          <p:cNvSpPr/>
          <p:nvPr/>
        </p:nvSpPr>
        <p:spPr>
          <a:xfrm>
            <a:off x="4617720" y="3291840"/>
            <a:ext cx="29718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Hosted model</a:t>
            </a:r>
            <a:endParaRPr lang="en-US" sz="1600" dirty="0"/>
          </a:p>
        </p:txBody>
      </p:sp>
      <p:sp>
        <p:nvSpPr>
          <p:cNvPr id="14" name="Text 9"/>
          <p:cNvSpPr/>
          <p:nvPr/>
        </p:nvSpPr>
        <p:spPr>
          <a:xfrm>
            <a:off x="4617720" y="3749040"/>
            <a:ext cx="2971800" cy="365760"/>
          </a:xfrm>
          <a:prstGeom prst="rect">
            <a:avLst/>
          </a:prstGeom>
          <a:noFill/>
          <a:ln/>
        </p:spPr>
        <p:txBody>
          <a:bodyPr wrap="square" rtlCol="0" anchor="ctr"/>
          <a:lstStyle/>
          <a:p>
            <a:pPr algn="ctr" indent="0" marL="0">
              <a:buNone/>
            </a:pPr>
            <a:r>
              <a:rPr lang="en-US" sz="1200" dirty="0">
                <a:solidFill>
                  <a:srgbClr val="B9D4D6"/>
                </a:solidFill>
                <a:latin typeface="Calibri" pitchFamily="34" charset="0"/>
                <a:ea typeface="Calibri" pitchFamily="34" charset="-122"/>
                <a:cs typeface="Calibri" pitchFamily="34" charset="-120"/>
              </a:rPr>
              <a:t>runs on their GPUs</a:t>
            </a:r>
            <a:endParaRPr lang="en-US" sz="1200" dirty="0"/>
          </a:p>
        </p:txBody>
      </p:sp>
      <p:pic>
        <p:nvPicPr>
          <p:cNvPr id="15" name="Image 3" descr="icons/arrow_w.png">    </p:cNvPr>
          <p:cNvPicPr>
            <a:picLocks noChangeAspect="1"/>
          </p:cNvPicPr>
          <p:nvPr/>
        </p:nvPicPr>
        <p:blipFill>
          <a:blip r:embed="rId4"/>
          <a:stretch>
            <a:fillRect/>
          </a:stretch>
        </p:blipFill>
        <p:spPr>
          <a:xfrm>
            <a:off x="7726680" y="2788920"/>
            <a:ext cx="502920" cy="502920"/>
          </a:xfrm>
          <a:prstGeom prst="rect">
            <a:avLst/>
          </a:prstGeom>
        </p:spPr>
      </p:pic>
      <p:sp>
        <p:nvSpPr>
          <p:cNvPr id="16" name="Shape 10"/>
          <p:cNvSpPr/>
          <p:nvPr/>
        </p:nvSpPr>
        <p:spPr>
          <a:xfrm>
            <a:off x="8321040" y="2011680"/>
            <a:ext cx="3063240" cy="2194560"/>
          </a:xfrm>
          <a:prstGeom prst="roundRect">
            <a:avLst>
              <a:gd name="adj" fmla="val 5000"/>
            </a:avLst>
          </a:prstGeom>
          <a:solidFill>
            <a:srgbClr val="143A40"/>
          </a:solidFill>
          <a:ln w="12700">
            <a:solidFill>
              <a:srgbClr val="21555B"/>
            </a:solidFill>
            <a:prstDash val="solid"/>
          </a:ln>
          <a:effectLst>
            <a:outerShdw sx="100000" sy="100000" kx="0" ky="0" algn="bl" rotWithShape="0" blurRad="88900" dist="38100" dir="2700000">
              <a:srgbClr val="000000">
                <a:alpha val="22000"/>
              </a:srgbClr>
            </a:outerShdw>
          </a:effectLst>
        </p:spPr>
      </p:sp>
      <p:sp>
        <p:nvSpPr>
          <p:cNvPr id="17" name="Shape 11"/>
          <p:cNvSpPr/>
          <p:nvPr/>
        </p:nvSpPr>
        <p:spPr>
          <a:xfrm>
            <a:off x="9390888" y="2286000"/>
            <a:ext cx="914400" cy="914400"/>
          </a:xfrm>
          <a:prstGeom prst="ellipse">
            <a:avLst/>
          </a:prstGeom>
          <a:solidFill>
            <a:srgbClr val="1FA971"/>
          </a:solidFill>
          <a:ln/>
        </p:spPr>
      </p:sp>
      <p:pic>
        <p:nvPicPr>
          <p:cNvPr id="18" name="Image 4" descr="icons/db_w.png">    </p:cNvPr>
          <p:cNvPicPr>
            <a:picLocks noChangeAspect="1"/>
          </p:cNvPicPr>
          <p:nvPr/>
        </p:nvPicPr>
        <p:blipFill>
          <a:blip r:embed="rId5"/>
          <a:stretch>
            <a:fillRect/>
          </a:stretch>
        </p:blipFill>
        <p:spPr>
          <a:xfrm>
            <a:off x="9619488" y="2514600"/>
            <a:ext cx="457200" cy="457200"/>
          </a:xfrm>
          <a:prstGeom prst="rect">
            <a:avLst/>
          </a:prstGeom>
        </p:spPr>
      </p:pic>
      <p:sp>
        <p:nvSpPr>
          <p:cNvPr id="19" name="Text 12"/>
          <p:cNvSpPr/>
          <p:nvPr/>
        </p:nvSpPr>
        <p:spPr>
          <a:xfrm>
            <a:off x="8366760" y="3291840"/>
            <a:ext cx="29718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Structured result</a:t>
            </a:r>
            <a:endParaRPr lang="en-US" sz="1600" dirty="0"/>
          </a:p>
        </p:txBody>
      </p:sp>
      <p:sp>
        <p:nvSpPr>
          <p:cNvPr id="20" name="Text 13"/>
          <p:cNvSpPr/>
          <p:nvPr/>
        </p:nvSpPr>
        <p:spPr>
          <a:xfrm>
            <a:off x="8366760" y="3749040"/>
            <a:ext cx="2971800" cy="365760"/>
          </a:xfrm>
          <a:prstGeom prst="rect">
            <a:avLst/>
          </a:prstGeom>
          <a:noFill/>
          <a:ln/>
        </p:spPr>
        <p:txBody>
          <a:bodyPr wrap="square" rtlCol="0" anchor="ctr"/>
          <a:lstStyle/>
          <a:p>
            <a:pPr algn="ctr" indent="0" marL="0">
              <a:buNone/>
            </a:pPr>
            <a:r>
              <a:rPr lang="en-US" sz="1200" dirty="0">
                <a:solidFill>
                  <a:srgbClr val="B9D4D6"/>
                </a:solidFill>
                <a:latin typeface="Calibri" pitchFamily="34" charset="0"/>
                <a:ea typeface="Calibri" pitchFamily="34" charset="-122"/>
                <a:cs typeface="Calibri" pitchFamily="34" charset="-120"/>
              </a:rPr>
              <a:t>drops into your app</a:t>
            </a:r>
            <a:endParaRPr lang="en-US" sz="1200" dirty="0"/>
          </a:p>
        </p:txBody>
      </p:sp>
      <p:sp>
        <p:nvSpPr>
          <p:cNvPr id="21" name="Text 14"/>
          <p:cNvSpPr/>
          <p:nvPr/>
        </p:nvSpPr>
        <p:spPr>
          <a:xfrm>
            <a:off x="640080" y="5029200"/>
            <a:ext cx="10881360" cy="457200"/>
          </a:xfrm>
          <a:prstGeom prst="rect">
            <a:avLst/>
          </a:prstGeom>
          <a:noFill/>
          <a:ln/>
        </p:spPr>
        <p:txBody>
          <a:bodyPr wrap="square" rtlCol="0" anchor="ctr"/>
          <a:lstStyle/>
          <a:p>
            <a:pPr algn="ctr" indent="0" marL="0">
              <a:buNone/>
            </a:pPr>
            <a:r>
              <a:rPr lang="en-US" sz="1600" i="1" dirty="0">
                <a:solidFill>
                  <a:srgbClr val="5EEAD4"/>
                </a:solidFill>
                <a:latin typeface="Cambria" pitchFamily="34" charset="0"/>
                <a:ea typeface="Cambria" pitchFamily="34" charset="-122"/>
                <a:cs typeface="Cambria" pitchFamily="34" charset="-120"/>
              </a:rPr>
              <a:t>You never see a GPU. You send text, you get back data. That's the whole job.</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UNDER THE HOOD</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What a real API call actually looks like</a:t>
            </a:r>
            <a:endParaRPr lang="en-US" sz="3000" dirty="0"/>
          </a:p>
        </p:txBody>
      </p:sp>
      <p:sp>
        <p:nvSpPr>
          <p:cNvPr id="4" name="Shape 2"/>
          <p:cNvSpPr/>
          <p:nvPr/>
        </p:nvSpPr>
        <p:spPr>
          <a:xfrm>
            <a:off x="640080" y="1783080"/>
            <a:ext cx="6766560" cy="4069080"/>
          </a:xfrm>
          <a:prstGeom prst="roundRect">
            <a:avLst>
              <a:gd name="adj" fmla="val 2247"/>
            </a:avLst>
          </a:prstGeom>
          <a:solidFill>
            <a:srgbClr val="0F2A2E"/>
          </a:solidFill>
          <a:ln/>
          <a:effectLst>
            <a:outerShdw sx="100000" sy="100000" kx="0" ky="0" algn="bl" rotWithShape="0" blurRad="88900" dist="38100" dir="2700000">
              <a:srgbClr val="000000">
                <a:alpha val="18000"/>
              </a:srgbClr>
            </a:outerShdw>
          </a:effectLst>
        </p:spPr>
      </p:sp>
      <p:sp>
        <p:nvSpPr>
          <p:cNvPr id="5" name="Text 3"/>
          <p:cNvSpPr/>
          <p:nvPr/>
        </p:nvSpPr>
        <p:spPr>
          <a:xfrm>
            <a:off x="914400" y="1965960"/>
            <a:ext cx="5486400" cy="320040"/>
          </a:xfrm>
          <a:prstGeom prst="rect">
            <a:avLst/>
          </a:prstGeom>
          <a:noFill/>
          <a:ln/>
        </p:spPr>
        <p:txBody>
          <a:bodyPr wrap="square" rtlCol="0" anchor="ctr"/>
          <a:lstStyle/>
          <a:p>
            <a:pPr indent="0" marL="0">
              <a:buNone/>
            </a:pPr>
            <a:r>
              <a:rPr lang="en-US" sz="1200" dirty="0">
                <a:solidFill>
                  <a:srgbClr val="6E8C90"/>
                </a:solidFill>
                <a:latin typeface="Courier New" pitchFamily="34" charset="0"/>
                <a:ea typeface="Courier New" pitchFamily="34" charset="-122"/>
                <a:cs typeface="Courier New" pitchFamily="34" charset="-120"/>
              </a:rPr>
              <a:t>résumé_extractor.py</a:t>
            </a:r>
            <a:endParaRPr lang="en-US" sz="1200" dirty="0"/>
          </a:p>
        </p:txBody>
      </p:sp>
      <p:sp>
        <p:nvSpPr>
          <p:cNvPr id="6" name="Text 4"/>
          <p:cNvSpPr/>
          <p:nvPr/>
        </p:nvSpPr>
        <p:spPr>
          <a:xfrm>
            <a:off x="914400" y="2331720"/>
            <a:ext cx="6400800" cy="3383280"/>
          </a:xfrm>
          <a:prstGeom prst="rect">
            <a:avLst/>
          </a:prstGeom>
          <a:noFill/>
          <a:ln/>
        </p:spPr>
        <p:txBody>
          <a:bodyPr wrap="square" rtlCol="0" anchor="t"/>
          <a:lstStyle/>
          <a:p>
            <a:pPr indent="0" marL="0">
              <a:lnSpc>
                <a:spcPct val="112000"/>
              </a:lnSpc>
              <a:buNone/>
            </a:pPr>
            <a:r>
              <a:rPr lang="en-US" sz="1500" dirty="0">
                <a:solidFill>
                  <a:srgbClr val="5EEAD4"/>
                </a:solidFill>
                <a:latin typeface="Courier New" pitchFamily="34" charset="0"/>
                <a:ea typeface="Courier New" pitchFamily="34" charset="-122"/>
                <a:cs typeface="Courier New" pitchFamily="34" charset="-120"/>
              </a:rPr>
              <a:t>from google import genai</a:t>
            </a:r>
            <a:endParaRPr lang="en-US" sz="1500" dirty="0"/>
          </a:p>
          <a:p>
            <a:pPr indent="0" marL="0">
              <a:lnSpc>
                <a:spcPct val="112000"/>
              </a:lnSpc>
              <a:buNone/>
            </a:pPr>
            <a:endParaRPr lang="en-US" sz="1500" dirty="0"/>
          </a:p>
          <a:p>
            <a:pPr indent="0" marL="0">
              <a:lnSpc>
                <a:spcPct val="112000"/>
              </a:lnSpc>
              <a:buNone/>
            </a:pPr>
            <a:r>
              <a:rPr lang="en-US" sz="1500" dirty="0">
                <a:solidFill>
                  <a:srgbClr val="E2F0F0"/>
                </a:solidFill>
                <a:latin typeface="Courier New" pitchFamily="34" charset="0"/>
                <a:ea typeface="Courier New" pitchFamily="34" charset="-122"/>
                <a:cs typeface="Courier New" pitchFamily="34" charset="-120"/>
              </a:rPr>
              <a:t>client = genai.Client(api_key=KEY)</a:t>
            </a:r>
            <a:endParaRPr lang="en-US" sz="1500" dirty="0"/>
          </a:p>
          <a:p>
            <a:pPr indent="0" marL="0">
              <a:lnSpc>
                <a:spcPct val="112000"/>
              </a:lnSpc>
              <a:buNone/>
            </a:pPr>
            <a:endParaRPr lang="en-US" sz="1500" dirty="0"/>
          </a:p>
          <a:p>
            <a:pPr indent="0" marL="0">
              <a:lnSpc>
                <a:spcPct val="112000"/>
              </a:lnSpc>
              <a:buNone/>
            </a:pPr>
            <a:r>
              <a:rPr lang="en-US" sz="1500" dirty="0">
                <a:solidFill>
                  <a:srgbClr val="E2F0F0"/>
                </a:solidFill>
                <a:latin typeface="Courier New" pitchFamily="34" charset="0"/>
                <a:ea typeface="Courier New" pitchFamily="34" charset="-122"/>
                <a:cs typeface="Courier New" pitchFamily="34" charset="-120"/>
              </a:rPr>
              <a:t>response = client.models.generate_content(</a:t>
            </a:r>
            <a:endParaRPr lang="en-US" sz="1500" dirty="0"/>
          </a:p>
          <a:p>
            <a:pPr indent="0" marL="0">
              <a:lnSpc>
                <a:spcPct val="112000"/>
              </a:lnSpc>
              <a:buNone/>
            </a:pPr>
            <a:r>
              <a:rPr lang="en-US" sz="1500" dirty="0">
                <a:solidFill>
                  <a:srgbClr val="F4A338"/>
                </a:solidFill>
                <a:latin typeface="Courier New" pitchFamily="34" charset="0"/>
                <a:ea typeface="Courier New" pitchFamily="34" charset="-122"/>
                <a:cs typeface="Courier New" pitchFamily="34" charset="-120"/>
              </a:rPr>
              <a:t>    model="gemini-2.5-flash",</a:t>
            </a:r>
            <a:endParaRPr lang="en-US" sz="1500" dirty="0"/>
          </a:p>
          <a:p>
            <a:pPr indent="0" marL="0">
              <a:lnSpc>
                <a:spcPct val="112000"/>
              </a:lnSpc>
              <a:buNone/>
            </a:pPr>
            <a:r>
              <a:rPr lang="en-US" sz="1500" dirty="0">
                <a:solidFill>
                  <a:srgbClr val="E2F0F0"/>
                </a:solidFill>
                <a:latin typeface="Courier New" pitchFamily="34" charset="0"/>
                <a:ea typeface="Courier New" pitchFamily="34" charset="-122"/>
                <a:cs typeface="Courier New" pitchFamily="34" charset="-120"/>
              </a:rPr>
              <a:t>    contents=resume_text,</a:t>
            </a:r>
            <a:endParaRPr lang="en-US" sz="1500" dirty="0"/>
          </a:p>
          <a:p>
            <a:pPr indent="0" marL="0">
              <a:lnSpc>
                <a:spcPct val="112000"/>
              </a:lnSpc>
              <a:buNone/>
            </a:pPr>
            <a:r>
              <a:rPr lang="en-US" sz="1500" dirty="0">
                <a:solidFill>
                  <a:srgbClr val="E2F0F0"/>
                </a:solidFill>
                <a:latin typeface="Courier New" pitchFamily="34" charset="0"/>
                <a:ea typeface="Courier New" pitchFamily="34" charset="-122"/>
                <a:cs typeface="Courier New" pitchFamily="34" charset="-120"/>
              </a:rPr>
              <a:t>    config=config,   </a:t>
            </a:r>
            <a:endParaRPr lang="en-US" sz="1500" dirty="0"/>
          </a:p>
          <a:p>
            <a:pPr indent="0" marL="0">
              <a:lnSpc>
                <a:spcPct val="112000"/>
              </a:lnSpc>
              <a:buNone/>
            </a:pPr>
            <a:r>
              <a:rPr lang="en-US" sz="1500" dirty="0">
                <a:solidFill>
                  <a:srgbClr val="E2F0F0"/>
                </a:solidFill>
                <a:latin typeface="Courier New" pitchFamily="34" charset="0"/>
                <a:ea typeface="Courier New" pitchFamily="34" charset="-122"/>
                <a:cs typeface="Courier New" pitchFamily="34" charset="-120"/>
              </a:rPr>
              <a:t>)</a:t>
            </a:r>
            <a:endParaRPr lang="en-US" sz="1500" dirty="0"/>
          </a:p>
          <a:p>
            <a:pPr indent="0" marL="0">
              <a:lnSpc>
                <a:spcPct val="112000"/>
              </a:lnSpc>
              <a:buNone/>
            </a:pPr>
            <a:endParaRPr lang="en-US" sz="1500" dirty="0"/>
          </a:p>
          <a:p>
            <a:pPr indent="0" marL="0">
              <a:lnSpc>
                <a:spcPct val="112000"/>
              </a:lnSpc>
              <a:buNone/>
            </a:pPr>
            <a:r>
              <a:rPr lang="en-US" sz="1500" dirty="0">
                <a:solidFill>
                  <a:srgbClr val="5EEAD4"/>
                </a:solidFill>
                <a:latin typeface="Courier New" pitchFamily="34" charset="0"/>
                <a:ea typeface="Courier New" pitchFamily="34" charset="-122"/>
                <a:cs typeface="Courier New" pitchFamily="34" charset="-120"/>
              </a:rPr>
              <a:t>print(response.text)</a:t>
            </a:r>
            <a:endParaRPr lang="en-US" sz="1500" dirty="0"/>
          </a:p>
        </p:txBody>
      </p:sp>
      <p:sp>
        <p:nvSpPr>
          <p:cNvPr id="7" name="Shape 5"/>
          <p:cNvSpPr/>
          <p:nvPr/>
        </p:nvSpPr>
        <p:spPr>
          <a:xfrm>
            <a:off x="7680960" y="2011680"/>
            <a:ext cx="3840480" cy="868680"/>
          </a:xfrm>
          <a:prstGeom prst="roundRect">
            <a:avLst>
              <a:gd name="adj" fmla="val 9474"/>
            </a:avLst>
          </a:prstGeom>
          <a:solidFill>
            <a:srgbClr val="F1F5F9"/>
          </a:solidFill>
          <a:ln/>
        </p:spPr>
      </p:sp>
      <p:sp>
        <p:nvSpPr>
          <p:cNvPr id="8" name="Text 6"/>
          <p:cNvSpPr/>
          <p:nvPr/>
        </p:nvSpPr>
        <p:spPr>
          <a:xfrm>
            <a:off x="7909560" y="2130552"/>
            <a:ext cx="3474720" cy="365760"/>
          </a:xfrm>
          <a:prstGeom prst="rect">
            <a:avLst/>
          </a:prstGeom>
          <a:noFill/>
          <a:ln/>
        </p:spPr>
        <p:txBody>
          <a:bodyPr wrap="square" rtlCol="0" anchor="ctr"/>
          <a:lstStyle/>
          <a:p>
            <a:pPr indent="0" marL="0">
              <a:buNone/>
            </a:pPr>
            <a:r>
              <a:rPr lang="en-US" sz="1500" b="1" dirty="0">
                <a:solidFill>
                  <a:srgbClr val="F4A338"/>
                </a:solidFill>
                <a:latin typeface="Courier New" pitchFamily="34" charset="0"/>
                <a:ea typeface="Courier New" pitchFamily="34" charset="-122"/>
                <a:cs typeface="Courier New" pitchFamily="34" charset="-120"/>
              </a:rPr>
              <a:t>model</a:t>
            </a:r>
            <a:endParaRPr lang="en-US" sz="1500" dirty="0"/>
          </a:p>
        </p:txBody>
      </p:sp>
      <p:sp>
        <p:nvSpPr>
          <p:cNvPr id="9" name="Text 7"/>
          <p:cNvSpPr/>
          <p:nvPr/>
        </p:nvSpPr>
        <p:spPr>
          <a:xfrm>
            <a:off x="7909560" y="2468880"/>
            <a:ext cx="347472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which tier you're renting</a:t>
            </a:r>
            <a:endParaRPr lang="en-US" sz="1200" dirty="0"/>
          </a:p>
        </p:txBody>
      </p:sp>
      <p:sp>
        <p:nvSpPr>
          <p:cNvPr id="10" name="Shape 8"/>
          <p:cNvSpPr/>
          <p:nvPr/>
        </p:nvSpPr>
        <p:spPr>
          <a:xfrm>
            <a:off x="7680960" y="2980944"/>
            <a:ext cx="3840480" cy="868680"/>
          </a:xfrm>
          <a:prstGeom prst="roundRect">
            <a:avLst>
              <a:gd name="adj" fmla="val 9474"/>
            </a:avLst>
          </a:prstGeom>
          <a:solidFill>
            <a:srgbClr val="F1F5F9"/>
          </a:solidFill>
          <a:ln/>
        </p:spPr>
      </p:sp>
      <p:sp>
        <p:nvSpPr>
          <p:cNvPr id="11" name="Text 9"/>
          <p:cNvSpPr/>
          <p:nvPr/>
        </p:nvSpPr>
        <p:spPr>
          <a:xfrm>
            <a:off x="7909560" y="3099816"/>
            <a:ext cx="3474720" cy="365760"/>
          </a:xfrm>
          <a:prstGeom prst="rect">
            <a:avLst/>
          </a:prstGeom>
          <a:noFill/>
          <a:ln/>
        </p:spPr>
        <p:txBody>
          <a:bodyPr wrap="square" rtlCol="0" anchor="ctr"/>
          <a:lstStyle/>
          <a:p>
            <a:pPr indent="0" marL="0">
              <a:buNone/>
            </a:pPr>
            <a:r>
              <a:rPr lang="en-US" sz="1500" b="1" dirty="0">
                <a:solidFill>
                  <a:srgbClr val="0D9488"/>
                </a:solidFill>
                <a:latin typeface="Courier New" pitchFamily="34" charset="0"/>
                <a:ea typeface="Courier New" pitchFamily="34" charset="-122"/>
                <a:cs typeface="Courier New" pitchFamily="34" charset="-120"/>
              </a:rPr>
              <a:t>contents</a:t>
            </a:r>
            <a:endParaRPr lang="en-US" sz="1500" dirty="0"/>
          </a:p>
        </p:txBody>
      </p:sp>
      <p:sp>
        <p:nvSpPr>
          <p:cNvPr id="12" name="Text 10"/>
          <p:cNvSpPr/>
          <p:nvPr/>
        </p:nvSpPr>
        <p:spPr>
          <a:xfrm>
            <a:off x="7909560" y="3438144"/>
            <a:ext cx="347472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the input you send (billed as input tokens)</a:t>
            </a:r>
            <a:endParaRPr lang="en-US" sz="1200" dirty="0"/>
          </a:p>
        </p:txBody>
      </p:sp>
      <p:sp>
        <p:nvSpPr>
          <p:cNvPr id="13" name="Shape 11"/>
          <p:cNvSpPr/>
          <p:nvPr/>
        </p:nvSpPr>
        <p:spPr>
          <a:xfrm>
            <a:off x="7680960" y="3950208"/>
            <a:ext cx="3840480" cy="868680"/>
          </a:xfrm>
          <a:prstGeom prst="roundRect">
            <a:avLst>
              <a:gd name="adj" fmla="val 9474"/>
            </a:avLst>
          </a:prstGeom>
          <a:solidFill>
            <a:srgbClr val="F1F5F9"/>
          </a:solidFill>
          <a:ln/>
        </p:spPr>
      </p:sp>
      <p:sp>
        <p:nvSpPr>
          <p:cNvPr id="14" name="Text 12"/>
          <p:cNvSpPr/>
          <p:nvPr/>
        </p:nvSpPr>
        <p:spPr>
          <a:xfrm>
            <a:off x="7909560" y="4069080"/>
            <a:ext cx="3474720" cy="365760"/>
          </a:xfrm>
          <a:prstGeom prst="rect">
            <a:avLst/>
          </a:prstGeom>
          <a:noFill/>
          <a:ln/>
        </p:spPr>
        <p:txBody>
          <a:bodyPr wrap="square" rtlCol="0" anchor="ctr"/>
          <a:lstStyle/>
          <a:p>
            <a:pPr indent="0" marL="0">
              <a:buNone/>
            </a:pPr>
            <a:r>
              <a:rPr lang="en-US" sz="1500" b="1" dirty="0">
                <a:solidFill>
                  <a:srgbClr val="1FA971"/>
                </a:solidFill>
                <a:latin typeface="Courier New" pitchFamily="34" charset="0"/>
                <a:ea typeface="Courier New" pitchFamily="34" charset="-122"/>
                <a:cs typeface="Courier New" pitchFamily="34" charset="-120"/>
              </a:rPr>
              <a:t>config</a:t>
            </a:r>
            <a:endParaRPr lang="en-US" sz="1500" dirty="0"/>
          </a:p>
        </p:txBody>
      </p:sp>
      <p:sp>
        <p:nvSpPr>
          <p:cNvPr id="15" name="Text 13"/>
          <p:cNvSpPr/>
          <p:nvPr/>
        </p:nvSpPr>
        <p:spPr>
          <a:xfrm>
            <a:off x="7909560" y="4407408"/>
            <a:ext cx="347472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your rules: format, schema, system prompt</a:t>
            </a:r>
            <a:endParaRPr lang="en-US" sz="1200" dirty="0"/>
          </a:p>
        </p:txBody>
      </p:sp>
      <p:sp>
        <p:nvSpPr>
          <p:cNvPr id="16" name="Shape 14"/>
          <p:cNvSpPr/>
          <p:nvPr/>
        </p:nvSpPr>
        <p:spPr>
          <a:xfrm>
            <a:off x="7680960" y="4919472"/>
            <a:ext cx="3840480" cy="868680"/>
          </a:xfrm>
          <a:prstGeom prst="roundRect">
            <a:avLst>
              <a:gd name="adj" fmla="val 9474"/>
            </a:avLst>
          </a:prstGeom>
          <a:solidFill>
            <a:srgbClr val="F1F5F9"/>
          </a:solidFill>
          <a:ln/>
        </p:spPr>
      </p:sp>
      <p:sp>
        <p:nvSpPr>
          <p:cNvPr id="17" name="Text 15"/>
          <p:cNvSpPr/>
          <p:nvPr/>
        </p:nvSpPr>
        <p:spPr>
          <a:xfrm>
            <a:off x="7909560" y="5038344"/>
            <a:ext cx="3474720" cy="365760"/>
          </a:xfrm>
          <a:prstGeom prst="rect">
            <a:avLst/>
          </a:prstGeom>
          <a:noFill/>
          <a:ln/>
        </p:spPr>
        <p:txBody>
          <a:bodyPr wrap="square" rtlCol="0" anchor="ctr"/>
          <a:lstStyle/>
          <a:p>
            <a:pPr indent="0" marL="0">
              <a:buNone/>
            </a:pPr>
            <a:r>
              <a:rPr lang="en-US" sz="1500" b="1" dirty="0">
                <a:solidFill>
                  <a:srgbClr val="0D9488"/>
                </a:solidFill>
                <a:latin typeface="Courier New" pitchFamily="34" charset="0"/>
                <a:ea typeface="Courier New" pitchFamily="34" charset="-122"/>
                <a:cs typeface="Courier New" pitchFamily="34" charset="-120"/>
              </a:rPr>
              <a:t>response</a:t>
            </a:r>
            <a:endParaRPr lang="en-US" sz="1500" dirty="0"/>
          </a:p>
        </p:txBody>
      </p:sp>
      <p:sp>
        <p:nvSpPr>
          <p:cNvPr id="18" name="Text 16"/>
          <p:cNvSpPr/>
          <p:nvPr/>
        </p:nvSpPr>
        <p:spPr>
          <a:xfrm>
            <a:off x="7909560" y="5376672"/>
            <a:ext cx="347472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text + the live usage meter</a:t>
            </a:r>
            <a:endParaRPr lang="en-US" sz="1200" dirty="0"/>
          </a:p>
        </p:txBody>
      </p:sp>
      <p:sp>
        <p:nvSpPr>
          <p:cNvPr id="19" name="Text 17"/>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3</a:t>
            </a:r>
            <a:endParaRPr lang="en-US" sz="900" dirty="0"/>
          </a:p>
        </p:txBody>
      </p:sp>
      <p:sp>
        <p:nvSpPr>
          <p:cNvPr id="20" name="Text 18"/>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A2E"/>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FROM TOY TO APP</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schema turns “a demo” into “a feature”</a:t>
            </a:r>
            <a:endParaRPr lang="en-US" sz="3000" dirty="0"/>
          </a:p>
        </p:txBody>
      </p:sp>
      <p:sp>
        <p:nvSpPr>
          <p:cNvPr id="4" name="Shape 2"/>
          <p:cNvSpPr/>
          <p:nvPr/>
        </p:nvSpPr>
        <p:spPr>
          <a:xfrm>
            <a:off x="640080" y="1783080"/>
            <a:ext cx="5440680" cy="4114800"/>
          </a:xfrm>
          <a:prstGeom prst="roundRect">
            <a:avLst>
              <a:gd name="adj" fmla="val 2222"/>
            </a:avLst>
          </a:prstGeom>
          <a:solidFill>
            <a:srgbClr val="143A40"/>
          </a:solidFill>
          <a:ln w="16510">
            <a:solidFill>
              <a:srgbClr val="0D9488"/>
            </a:solidFill>
            <a:prstDash val="solid"/>
          </a:ln>
        </p:spPr>
      </p:sp>
      <p:sp>
        <p:nvSpPr>
          <p:cNvPr id="5" name="Text 3"/>
          <p:cNvSpPr/>
          <p:nvPr/>
        </p:nvSpPr>
        <p:spPr>
          <a:xfrm>
            <a:off x="914400" y="1965960"/>
            <a:ext cx="4572000" cy="320040"/>
          </a:xfrm>
          <a:prstGeom prst="rect">
            <a:avLst/>
          </a:prstGeom>
          <a:noFill/>
          <a:ln/>
        </p:spPr>
        <p:txBody>
          <a:bodyPr wrap="square" rtlCol="0" anchor="ctr"/>
          <a:lstStyle/>
          <a:p>
            <a:pPr indent="0" marL="0">
              <a:buNone/>
            </a:pPr>
            <a:r>
              <a:rPr lang="en-US" sz="1200" b="1" spc="100" kern="0" dirty="0">
                <a:solidFill>
                  <a:srgbClr val="5EEAD4"/>
                </a:solidFill>
                <a:latin typeface="Calibri" pitchFamily="34" charset="0"/>
                <a:ea typeface="Calibri" pitchFamily="34" charset="-122"/>
                <a:cs typeface="Calibri" pitchFamily="34" charset="-120"/>
              </a:rPr>
              <a:t>YOU DEFINE THE SHAPE</a:t>
            </a:r>
            <a:endParaRPr lang="en-US" sz="1200" dirty="0"/>
          </a:p>
        </p:txBody>
      </p:sp>
      <p:sp>
        <p:nvSpPr>
          <p:cNvPr id="6" name="Text 4"/>
          <p:cNvSpPr/>
          <p:nvPr/>
        </p:nvSpPr>
        <p:spPr>
          <a:xfrm>
            <a:off x="914400" y="2377440"/>
            <a:ext cx="5120640" cy="2103120"/>
          </a:xfrm>
          <a:prstGeom prst="rect">
            <a:avLst/>
          </a:prstGeom>
          <a:noFill/>
          <a:ln/>
        </p:spPr>
        <p:txBody>
          <a:bodyPr wrap="square" rtlCol="0" anchor="ctr"/>
          <a:lstStyle/>
          <a:p>
            <a:pPr indent="0" marL="0">
              <a:lnSpc>
                <a:spcPct val="120000"/>
              </a:lnSpc>
              <a:buNone/>
            </a:pPr>
            <a:r>
              <a:rPr lang="en-US" sz="1500" dirty="0">
                <a:solidFill>
                  <a:srgbClr val="F4A338"/>
                </a:solidFill>
                <a:latin typeface="Courier New" pitchFamily="34" charset="0"/>
                <a:ea typeface="Courier New" pitchFamily="34" charset="-122"/>
                <a:cs typeface="Courier New" pitchFamily="34" charset="-120"/>
              </a:rPr>
              <a:t>class Candidate(BaseModel):</a:t>
            </a:r>
            <a:endParaRPr lang="en-US" sz="1500" dirty="0"/>
          </a:p>
          <a:p>
            <a:pPr indent="0" marL="0">
              <a:lnSpc>
                <a:spcPct val="120000"/>
              </a:lnSpc>
              <a:buNone/>
            </a:pPr>
            <a:r>
              <a:rPr lang="en-US" sz="1500" dirty="0">
                <a:solidFill>
                  <a:srgbClr val="E2F0F0"/>
                </a:solidFill>
                <a:latin typeface="Courier New" pitchFamily="34" charset="0"/>
                <a:ea typeface="Courier New" pitchFamily="34" charset="-122"/>
                <a:cs typeface="Courier New" pitchFamily="34" charset="-120"/>
              </a:rPr>
              <a:t>    name: str</a:t>
            </a:r>
            <a:endParaRPr lang="en-US" sz="1500" dirty="0"/>
          </a:p>
          <a:p>
            <a:pPr indent="0" marL="0">
              <a:lnSpc>
                <a:spcPct val="120000"/>
              </a:lnSpc>
              <a:buNone/>
            </a:pPr>
            <a:r>
              <a:rPr lang="en-US" sz="1500" dirty="0">
                <a:solidFill>
                  <a:srgbClr val="E2F0F0"/>
                </a:solidFill>
                <a:latin typeface="Courier New" pitchFamily="34" charset="0"/>
                <a:ea typeface="Courier New" pitchFamily="34" charset="-122"/>
                <a:cs typeface="Courier New" pitchFamily="34" charset="-120"/>
              </a:rPr>
              <a:t>    years_experience: float</a:t>
            </a:r>
            <a:endParaRPr lang="en-US" sz="1500" dirty="0"/>
          </a:p>
          <a:p>
            <a:pPr indent="0" marL="0">
              <a:lnSpc>
                <a:spcPct val="120000"/>
              </a:lnSpc>
              <a:buNone/>
            </a:pPr>
            <a:r>
              <a:rPr lang="en-US" sz="1500" dirty="0">
                <a:solidFill>
                  <a:srgbClr val="E2F0F0"/>
                </a:solidFill>
                <a:latin typeface="Courier New" pitchFamily="34" charset="0"/>
                <a:ea typeface="Courier New" pitchFamily="34" charset="-122"/>
                <a:cs typeface="Courier New" pitchFamily="34" charset="-120"/>
              </a:rPr>
              <a:t>    skills: list[str]</a:t>
            </a:r>
            <a:endParaRPr lang="en-US" sz="1500" dirty="0"/>
          </a:p>
          <a:p>
            <a:pPr indent="0" marL="0">
              <a:lnSpc>
                <a:spcPct val="120000"/>
              </a:lnSpc>
              <a:buNone/>
            </a:pPr>
            <a:r>
              <a:rPr lang="en-US" sz="1500" dirty="0">
                <a:solidFill>
                  <a:srgbClr val="E2F0F0"/>
                </a:solidFill>
                <a:latin typeface="Courier New" pitchFamily="34" charset="0"/>
                <a:ea typeface="Courier New" pitchFamily="34" charset="-122"/>
                <a:cs typeface="Courier New" pitchFamily="34" charset="-120"/>
              </a:rPr>
              <a:t>    summary: str</a:t>
            </a:r>
            <a:endParaRPr lang="en-US" sz="1500" dirty="0"/>
          </a:p>
          <a:p>
            <a:pPr indent="0" marL="0">
              <a:lnSpc>
                <a:spcPct val="120000"/>
              </a:lnSpc>
              <a:buNone/>
            </a:pPr>
            <a:r>
              <a:rPr lang="en-US" sz="1500" dirty="0">
                <a:solidFill>
                  <a:srgbClr val="E2F0F0"/>
                </a:solidFill>
                <a:latin typeface="Courier New" pitchFamily="34" charset="0"/>
                <a:ea typeface="Courier New" pitchFamily="34" charset="-122"/>
                <a:cs typeface="Courier New" pitchFamily="34" charset="-120"/>
              </a:rPr>
              <a:t>    seniority: str</a:t>
            </a:r>
            <a:endParaRPr lang="en-US" sz="1500" dirty="0"/>
          </a:p>
        </p:txBody>
      </p:sp>
      <p:sp>
        <p:nvSpPr>
          <p:cNvPr id="7" name="Text 5"/>
          <p:cNvSpPr/>
          <p:nvPr/>
        </p:nvSpPr>
        <p:spPr>
          <a:xfrm>
            <a:off x="914400" y="4846320"/>
            <a:ext cx="5029200" cy="914400"/>
          </a:xfrm>
          <a:prstGeom prst="rect">
            <a:avLst/>
          </a:prstGeom>
          <a:noFill/>
          <a:ln/>
        </p:spPr>
        <p:txBody>
          <a:bodyPr wrap="square" rtlCol="0" anchor="ctr"/>
          <a:lstStyle/>
          <a:p>
            <a:pPr indent="0" marL="0">
              <a:buNone/>
            </a:pPr>
            <a:r>
              <a:rPr lang="en-US" sz="1400" dirty="0">
                <a:solidFill>
                  <a:srgbClr val="B9D4D6"/>
                </a:solidFill>
                <a:latin typeface="Calibri" pitchFamily="34" charset="0"/>
                <a:ea typeface="Calibri" pitchFamily="34" charset="-122"/>
                <a:cs typeface="Calibri" pitchFamily="34" charset="-120"/>
              </a:rPr>
              <a:t>Pass it as response_schema → the model is REQUIRED to fill it.</a:t>
            </a:r>
            <a:endParaRPr lang="en-US" sz="1400" dirty="0"/>
          </a:p>
        </p:txBody>
      </p:sp>
      <p:sp>
        <p:nvSpPr>
          <p:cNvPr id="8" name="Shape 6"/>
          <p:cNvSpPr/>
          <p:nvPr/>
        </p:nvSpPr>
        <p:spPr>
          <a:xfrm>
            <a:off x="6263640" y="1783080"/>
            <a:ext cx="5257800" cy="4114800"/>
          </a:xfrm>
          <a:prstGeom prst="roundRect">
            <a:avLst>
              <a:gd name="adj" fmla="val 2222"/>
            </a:avLst>
          </a:prstGeom>
          <a:solidFill>
            <a:srgbClr val="143A40"/>
          </a:solidFill>
          <a:ln w="16510">
            <a:solidFill>
              <a:srgbClr val="1FA971"/>
            </a:solidFill>
            <a:prstDash val="solid"/>
          </a:ln>
        </p:spPr>
      </p:sp>
      <p:sp>
        <p:nvSpPr>
          <p:cNvPr id="9" name="Text 7"/>
          <p:cNvSpPr/>
          <p:nvPr/>
        </p:nvSpPr>
        <p:spPr>
          <a:xfrm>
            <a:off x="6537960" y="1965960"/>
            <a:ext cx="4572000" cy="320040"/>
          </a:xfrm>
          <a:prstGeom prst="rect">
            <a:avLst/>
          </a:prstGeom>
          <a:noFill/>
          <a:ln/>
        </p:spPr>
        <p:txBody>
          <a:bodyPr wrap="square" rtlCol="0" anchor="ctr"/>
          <a:lstStyle/>
          <a:p>
            <a:pPr indent="0" marL="0">
              <a:buNone/>
            </a:pPr>
            <a:r>
              <a:rPr lang="en-US" sz="1200" b="1" spc="100" kern="0" dirty="0">
                <a:solidFill>
                  <a:srgbClr val="1FA971"/>
                </a:solidFill>
                <a:latin typeface="Calibri" pitchFamily="34" charset="0"/>
                <a:ea typeface="Calibri" pitchFamily="34" charset="-122"/>
                <a:cs typeface="Calibri" pitchFamily="34" charset="-120"/>
              </a:rPr>
              <a:t>THE MODEL MUST RETURN</a:t>
            </a:r>
            <a:endParaRPr lang="en-US" sz="1200" dirty="0"/>
          </a:p>
        </p:txBody>
      </p:sp>
      <p:sp>
        <p:nvSpPr>
          <p:cNvPr id="10" name="Text 8"/>
          <p:cNvSpPr/>
          <p:nvPr/>
        </p:nvSpPr>
        <p:spPr>
          <a:xfrm>
            <a:off x="6537960" y="2377440"/>
            <a:ext cx="4937760" cy="2286000"/>
          </a:xfrm>
          <a:prstGeom prst="rect">
            <a:avLst/>
          </a:prstGeom>
          <a:noFill/>
          <a:ln/>
        </p:spPr>
        <p:txBody>
          <a:bodyPr wrap="square" rtlCol="0" anchor="ctr"/>
          <a:lstStyle/>
          <a:p>
            <a:pPr indent="0" marL="0">
              <a:lnSpc>
                <a:spcPct val="120000"/>
              </a:lnSpc>
              <a:buNone/>
            </a:pPr>
            <a:r>
              <a:rPr lang="en-US" sz="1450" dirty="0">
                <a:solidFill>
                  <a:srgbClr val="5EEAD4"/>
                </a:solidFill>
                <a:latin typeface="Courier New" pitchFamily="34" charset="0"/>
                <a:ea typeface="Courier New" pitchFamily="34" charset="-122"/>
                <a:cs typeface="Courier New" pitchFamily="34" charset="-120"/>
              </a:rPr>
              <a:t>{</a:t>
            </a:r>
            <a:endParaRPr lang="en-US" sz="1450" dirty="0"/>
          </a:p>
          <a:p>
            <a:pPr indent="0" marL="0">
              <a:lnSpc>
                <a:spcPct val="120000"/>
              </a:lnSpc>
              <a:buNone/>
            </a:pPr>
            <a:r>
              <a:rPr lang="en-US" sz="1450" dirty="0">
                <a:solidFill>
                  <a:srgbClr val="5EEAD4"/>
                </a:solidFill>
                <a:latin typeface="Courier New" pitchFamily="34" charset="0"/>
                <a:ea typeface="Courier New" pitchFamily="34" charset="-122"/>
                <a:cs typeface="Courier New" pitchFamily="34" charset="-120"/>
              </a:rPr>
              <a:t>  "name": "Aarti Sharma",</a:t>
            </a:r>
            <a:endParaRPr lang="en-US" sz="1450" dirty="0"/>
          </a:p>
          <a:p>
            <a:pPr indent="0" marL="0">
              <a:lnSpc>
                <a:spcPct val="120000"/>
              </a:lnSpc>
              <a:buNone/>
            </a:pPr>
            <a:r>
              <a:rPr lang="en-US" sz="1450" dirty="0">
                <a:solidFill>
                  <a:srgbClr val="5EEAD4"/>
                </a:solidFill>
                <a:latin typeface="Courier New" pitchFamily="34" charset="0"/>
                <a:ea typeface="Courier New" pitchFamily="34" charset="-122"/>
                <a:cs typeface="Courier New" pitchFamily="34" charset="-120"/>
              </a:rPr>
              <a:t>  "years_experience": 4,</a:t>
            </a:r>
            <a:endParaRPr lang="en-US" sz="1450" dirty="0"/>
          </a:p>
          <a:p>
            <a:pPr indent="0" marL="0">
              <a:lnSpc>
                <a:spcPct val="120000"/>
              </a:lnSpc>
              <a:buNone/>
            </a:pPr>
            <a:r>
              <a:rPr lang="en-US" sz="1450" dirty="0">
                <a:solidFill>
                  <a:srgbClr val="5EEAD4"/>
                </a:solidFill>
                <a:latin typeface="Courier New" pitchFamily="34" charset="0"/>
                <a:ea typeface="Courier New" pitchFamily="34" charset="-122"/>
                <a:cs typeface="Courier New" pitchFamily="34" charset="-120"/>
              </a:rPr>
              <a:t>  "skills": ["Python","Spark"],</a:t>
            </a:r>
            <a:endParaRPr lang="en-US" sz="1450" dirty="0"/>
          </a:p>
          <a:p>
            <a:pPr indent="0" marL="0">
              <a:lnSpc>
                <a:spcPct val="120000"/>
              </a:lnSpc>
              <a:buNone/>
            </a:pPr>
            <a:r>
              <a:rPr lang="en-US" sz="1450" dirty="0">
                <a:solidFill>
                  <a:srgbClr val="5EEAD4"/>
                </a:solidFill>
                <a:latin typeface="Courier New" pitchFamily="34" charset="0"/>
                <a:ea typeface="Courier New" pitchFamily="34" charset="-122"/>
                <a:cs typeface="Courier New" pitchFamily="34" charset="-120"/>
              </a:rPr>
              <a:t>  "summary": "Backend data eng.",</a:t>
            </a:r>
            <a:endParaRPr lang="en-US" sz="1450" dirty="0"/>
          </a:p>
          <a:p>
            <a:pPr indent="0" marL="0">
              <a:lnSpc>
                <a:spcPct val="120000"/>
              </a:lnSpc>
              <a:buNone/>
            </a:pPr>
            <a:r>
              <a:rPr lang="en-US" sz="1450" dirty="0">
                <a:solidFill>
                  <a:srgbClr val="5EEAD4"/>
                </a:solidFill>
                <a:latin typeface="Courier New" pitchFamily="34" charset="0"/>
                <a:ea typeface="Courier New" pitchFamily="34" charset="-122"/>
                <a:cs typeface="Courier New" pitchFamily="34" charset="-120"/>
              </a:rPr>
              <a:t>  "seniority": "mid"</a:t>
            </a:r>
            <a:endParaRPr lang="en-US" sz="1450" dirty="0"/>
          </a:p>
          <a:p>
            <a:pPr indent="0" marL="0">
              <a:lnSpc>
                <a:spcPct val="120000"/>
              </a:lnSpc>
              <a:buNone/>
            </a:pPr>
            <a:r>
              <a:rPr lang="en-US" sz="1450" dirty="0">
                <a:solidFill>
                  <a:srgbClr val="5EEAD4"/>
                </a:solidFill>
                <a:latin typeface="Courier New" pitchFamily="34" charset="0"/>
                <a:ea typeface="Courier New" pitchFamily="34" charset="-122"/>
                <a:cs typeface="Courier New" pitchFamily="34" charset="-120"/>
              </a:rPr>
              <a:t>}</a:t>
            </a:r>
            <a:endParaRPr lang="en-US" sz="1450" dirty="0"/>
          </a:p>
        </p:txBody>
      </p:sp>
      <p:sp>
        <p:nvSpPr>
          <p:cNvPr id="11" name="Text 9"/>
          <p:cNvSpPr/>
          <p:nvPr/>
        </p:nvSpPr>
        <p:spPr>
          <a:xfrm>
            <a:off x="6537960" y="5029200"/>
            <a:ext cx="4846320" cy="731520"/>
          </a:xfrm>
          <a:prstGeom prst="rect">
            <a:avLst/>
          </a:prstGeom>
          <a:noFill/>
          <a:ln/>
        </p:spPr>
        <p:txBody>
          <a:bodyPr wrap="square" rtlCol="0" anchor="ctr"/>
          <a:lstStyle/>
          <a:p>
            <a:pPr indent="0" marL="0">
              <a:buNone/>
            </a:pPr>
            <a:r>
              <a:rPr lang="en-US" sz="1350" dirty="0">
                <a:solidFill>
                  <a:srgbClr val="D6E8E9"/>
                </a:solidFill>
                <a:latin typeface="Courier New" pitchFamily="34" charset="0"/>
                <a:ea typeface="Courier New" pitchFamily="34" charset="-122"/>
                <a:cs typeface="Courier New" pitchFamily="34" charset="-120"/>
              </a:rPr>
              <a:t>data = json.loads(response.text)  →  straight into a DB row.</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GIVING THE MODEL YOUR DATA</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RAG: answers grounded in your documents</a:t>
            </a:r>
            <a:endParaRPr lang="en-US" sz="3000" dirty="0"/>
          </a:p>
        </p:txBody>
      </p:sp>
      <p:sp>
        <p:nvSpPr>
          <p:cNvPr id="4" name="Text 2"/>
          <p:cNvSpPr/>
          <p:nvPr/>
        </p:nvSpPr>
        <p:spPr>
          <a:xfrm>
            <a:off x="640080" y="1600200"/>
            <a:ext cx="10972800" cy="365760"/>
          </a:xfrm>
          <a:prstGeom prst="rect">
            <a:avLst/>
          </a:prstGeom>
          <a:noFill/>
          <a:ln/>
        </p:spPr>
        <p:txBody>
          <a:bodyPr wrap="square" rtlCol="0" anchor="ctr"/>
          <a:lstStyle/>
          <a:p>
            <a:pPr indent="0" marL="0">
              <a:buNone/>
            </a:pPr>
            <a:r>
              <a:rPr lang="en-US" sz="1500" dirty="0">
                <a:solidFill>
                  <a:srgbClr val="64748B"/>
                </a:solidFill>
                <a:latin typeface="Calibri" pitchFamily="34" charset="0"/>
                <a:ea typeface="Calibri" pitchFamily="34" charset="-122"/>
                <a:cs typeface="Calibri" pitchFamily="34" charset="-120"/>
              </a:rPr>
              <a:t>Retrieval-Augmented Generation — no fine-tuning, no GPU, no training cost.</a:t>
            </a:r>
            <a:endParaRPr lang="en-US" sz="1500" dirty="0"/>
          </a:p>
        </p:txBody>
      </p:sp>
      <p:sp>
        <p:nvSpPr>
          <p:cNvPr id="5" name="Shape 3"/>
          <p:cNvSpPr/>
          <p:nvPr/>
        </p:nvSpPr>
        <p:spPr>
          <a:xfrm>
            <a:off x="640080" y="2194560"/>
            <a:ext cx="3520440" cy="2743200"/>
          </a:xfrm>
          <a:prstGeom prst="roundRect">
            <a:avLst>
              <a:gd name="adj" fmla="val 4000"/>
            </a:avLst>
          </a:prstGeom>
          <a:solidFill>
            <a:srgbClr val="F1F5F9"/>
          </a:solidFill>
          <a:ln/>
          <a:effectLst>
            <a:outerShdw sx="100000" sy="100000" kx="0" ky="0" algn="bl" rotWithShape="0" blurRad="88900" dist="38100" dir="2700000">
              <a:srgbClr val="000000">
                <a:alpha val="12000"/>
              </a:srgbClr>
            </a:outerShdw>
          </a:effectLst>
        </p:spPr>
      </p:sp>
      <p:sp>
        <p:nvSpPr>
          <p:cNvPr id="6" name="Shape 4"/>
          <p:cNvSpPr/>
          <p:nvPr/>
        </p:nvSpPr>
        <p:spPr>
          <a:xfrm>
            <a:off x="960120" y="2514600"/>
            <a:ext cx="914400" cy="914400"/>
          </a:xfrm>
          <a:prstGeom prst="ellipse">
            <a:avLst/>
          </a:prstGeom>
          <a:solidFill>
            <a:srgbClr val="0D9488"/>
          </a:solidFill>
          <a:ln/>
        </p:spPr>
      </p:sp>
      <p:pic>
        <p:nvPicPr>
          <p:cNvPr id="7" name="Image 0" descr="icons/search_w.png">    </p:cNvPr>
          <p:cNvPicPr>
            <a:picLocks noChangeAspect="1"/>
          </p:cNvPicPr>
          <p:nvPr/>
        </p:nvPicPr>
        <p:blipFill>
          <a:blip r:embed="rId1"/>
          <a:stretch>
            <a:fillRect/>
          </a:stretch>
        </p:blipFill>
        <p:spPr>
          <a:xfrm>
            <a:off x="1188720" y="2743200"/>
            <a:ext cx="457200" cy="457200"/>
          </a:xfrm>
          <a:prstGeom prst="rect">
            <a:avLst/>
          </a:prstGeom>
        </p:spPr>
      </p:pic>
      <p:sp>
        <p:nvSpPr>
          <p:cNvPr id="8" name="Text 5"/>
          <p:cNvSpPr/>
          <p:nvPr/>
        </p:nvSpPr>
        <p:spPr>
          <a:xfrm>
            <a:off x="914400" y="3566160"/>
            <a:ext cx="3017520" cy="50292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1 · Retrieve</a:t>
            </a:r>
            <a:endParaRPr lang="en-US" sz="1800" dirty="0"/>
          </a:p>
        </p:txBody>
      </p:sp>
      <p:sp>
        <p:nvSpPr>
          <p:cNvPr id="9" name="Text 6"/>
          <p:cNvSpPr/>
          <p:nvPr/>
        </p:nvSpPr>
        <p:spPr>
          <a:xfrm>
            <a:off x="914400" y="4069080"/>
            <a:ext cx="3063240" cy="82296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Find the few documents relevant to the question</a:t>
            </a:r>
            <a:endParaRPr lang="en-US" sz="1350" dirty="0"/>
          </a:p>
        </p:txBody>
      </p:sp>
      <p:sp>
        <p:nvSpPr>
          <p:cNvPr id="10" name="Shape 7"/>
          <p:cNvSpPr/>
          <p:nvPr/>
        </p:nvSpPr>
        <p:spPr>
          <a:xfrm>
            <a:off x="4361688" y="2194560"/>
            <a:ext cx="3520440" cy="2743200"/>
          </a:xfrm>
          <a:prstGeom prst="roundRect">
            <a:avLst>
              <a:gd name="adj" fmla="val 4000"/>
            </a:avLst>
          </a:prstGeom>
          <a:solidFill>
            <a:srgbClr val="F1F5F9"/>
          </a:solidFill>
          <a:ln/>
          <a:effectLst>
            <a:outerShdw sx="100000" sy="100000" kx="0" ky="0" algn="bl" rotWithShape="0" blurRad="88900" dist="38100" dir="2700000">
              <a:srgbClr val="000000">
                <a:alpha val="12000"/>
              </a:srgbClr>
            </a:outerShdw>
          </a:effectLst>
        </p:spPr>
      </p:sp>
      <p:sp>
        <p:nvSpPr>
          <p:cNvPr id="11" name="Shape 8"/>
          <p:cNvSpPr/>
          <p:nvPr/>
        </p:nvSpPr>
        <p:spPr>
          <a:xfrm>
            <a:off x="4681728" y="2514600"/>
            <a:ext cx="914400" cy="914400"/>
          </a:xfrm>
          <a:prstGeom prst="ellipse">
            <a:avLst/>
          </a:prstGeom>
          <a:solidFill>
            <a:srgbClr val="F4A338"/>
          </a:solidFill>
          <a:ln/>
        </p:spPr>
      </p:sp>
      <p:pic>
        <p:nvPicPr>
          <p:cNvPr id="12" name="Image 1" descr="icons/book_w.png">    </p:cNvPr>
          <p:cNvPicPr>
            <a:picLocks noChangeAspect="1"/>
          </p:cNvPicPr>
          <p:nvPr/>
        </p:nvPicPr>
        <p:blipFill>
          <a:blip r:embed="rId2"/>
          <a:stretch>
            <a:fillRect/>
          </a:stretch>
        </p:blipFill>
        <p:spPr>
          <a:xfrm>
            <a:off x="4910328" y="2743200"/>
            <a:ext cx="457200" cy="457200"/>
          </a:xfrm>
          <a:prstGeom prst="rect">
            <a:avLst/>
          </a:prstGeom>
        </p:spPr>
      </p:pic>
      <p:sp>
        <p:nvSpPr>
          <p:cNvPr id="13" name="Text 9"/>
          <p:cNvSpPr/>
          <p:nvPr/>
        </p:nvSpPr>
        <p:spPr>
          <a:xfrm>
            <a:off x="4636008" y="3566160"/>
            <a:ext cx="3017520" cy="50292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2 · Augment</a:t>
            </a:r>
            <a:endParaRPr lang="en-US" sz="1800" dirty="0"/>
          </a:p>
        </p:txBody>
      </p:sp>
      <p:sp>
        <p:nvSpPr>
          <p:cNvPr id="14" name="Text 10"/>
          <p:cNvSpPr/>
          <p:nvPr/>
        </p:nvSpPr>
        <p:spPr>
          <a:xfrm>
            <a:off x="4636008" y="4069080"/>
            <a:ext cx="3063240" cy="82296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Paste those snippets into the prompt as context</a:t>
            </a:r>
            <a:endParaRPr lang="en-US" sz="1350" dirty="0"/>
          </a:p>
        </p:txBody>
      </p:sp>
      <p:sp>
        <p:nvSpPr>
          <p:cNvPr id="15" name="Shape 11"/>
          <p:cNvSpPr/>
          <p:nvPr/>
        </p:nvSpPr>
        <p:spPr>
          <a:xfrm>
            <a:off x="8083296" y="2194560"/>
            <a:ext cx="3520440" cy="2743200"/>
          </a:xfrm>
          <a:prstGeom prst="roundRect">
            <a:avLst>
              <a:gd name="adj" fmla="val 4000"/>
            </a:avLst>
          </a:prstGeom>
          <a:solidFill>
            <a:srgbClr val="F1F5F9"/>
          </a:solidFill>
          <a:ln/>
          <a:effectLst>
            <a:outerShdw sx="100000" sy="100000" kx="0" ky="0" algn="bl" rotWithShape="0" blurRad="88900" dist="38100" dir="2700000">
              <a:srgbClr val="000000">
                <a:alpha val="12000"/>
              </a:srgbClr>
            </a:outerShdw>
          </a:effectLst>
        </p:spPr>
      </p:sp>
      <p:sp>
        <p:nvSpPr>
          <p:cNvPr id="16" name="Shape 12"/>
          <p:cNvSpPr/>
          <p:nvPr/>
        </p:nvSpPr>
        <p:spPr>
          <a:xfrm>
            <a:off x="8403336" y="2514600"/>
            <a:ext cx="914400" cy="914400"/>
          </a:xfrm>
          <a:prstGeom prst="ellipse">
            <a:avLst/>
          </a:prstGeom>
          <a:solidFill>
            <a:srgbClr val="1FA971"/>
          </a:solidFill>
          <a:ln/>
        </p:spPr>
      </p:sp>
      <p:pic>
        <p:nvPicPr>
          <p:cNvPr id="17" name="Image 2" descr="icons/chat_w.png">    </p:cNvPr>
          <p:cNvPicPr>
            <a:picLocks noChangeAspect="1"/>
          </p:cNvPicPr>
          <p:nvPr/>
        </p:nvPicPr>
        <p:blipFill>
          <a:blip r:embed="rId3"/>
          <a:stretch>
            <a:fillRect/>
          </a:stretch>
        </p:blipFill>
        <p:spPr>
          <a:xfrm>
            <a:off x="8631936" y="2743200"/>
            <a:ext cx="457200" cy="457200"/>
          </a:xfrm>
          <a:prstGeom prst="rect">
            <a:avLst/>
          </a:prstGeom>
        </p:spPr>
      </p:pic>
      <p:sp>
        <p:nvSpPr>
          <p:cNvPr id="18" name="Text 13"/>
          <p:cNvSpPr/>
          <p:nvPr/>
        </p:nvSpPr>
        <p:spPr>
          <a:xfrm>
            <a:off x="8357616" y="3566160"/>
            <a:ext cx="3017520" cy="50292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3 · Generate</a:t>
            </a:r>
            <a:endParaRPr lang="en-US" sz="1800" dirty="0"/>
          </a:p>
        </p:txBody>
      </p:sp>
      <p:sp>
        <p:nvSpPr>
          <p:cNvPr id="19" name="Text 14"/>
          <p:cNvSpPr/>
          <p:nvPr/>
        </p:nvSpPr>
        <p:spPr>
          <a:xfrm>
            <a:off x="8357616" y="4069080"/>
            <a:ext cx="3063240" cy="82296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Model answers using YOUR text, not its guesses</a:t>
            </a:r>
            <a:endParaRPr lang="en-US" sz="1350" dirty="0"/>
          </a:p>
        </p:txBody>
      </p:sp>
      <p:sp>
        <p:nvSpPr>
          <p:cNvPr id="20" name="Shape 15"/>
          <p:cNvSpPr/>
          <p:nvPr/>
        </p:nvSpPr>
        <p:spPr>
          <a:xfrm>
            <a:off x="640080" y="5166360"/>
            <a:ext cx="10881360" cy="685800"/>
          </a:xfrm>
          <a:prstGeom prst="roundRect">
            <a:avLst>
              <a:gd name="adj" fmla="val 13333"/>
            </a:avLst>
          </a:prstGeom>
          <a:solidFill>
            <a:srgbClr val="0F2A2E"/>
          </a:solidFill>
          <a:ln/>
        </p:spPr>
      </p:sp>
      <p:sp>
        <p:nvSpPr>
          <p:cNvPr id="21" name="Text 16"/>
          <p:cNvSpPr/>
          <p:nvPr/>
        </p:nvSpPr>
        <p:spPr>
          <a:xfrm>
            <a:off x="914400" y="5166360"/>
            <a:ext cx="10332720" cy="685800"/>
          </a:xfrm>
          <a:prstGeom prst="rect">
            <a:avLst/>
          </a:prstGeom>
          <a:noFill/>
          <a:ln/>
        </p:spPr>
        <p:txBody>
          <a:bodyPr wrap="square" rtlCol="0" anchor="ctr"/>
          <a:lstStyle/>
          <a:p>
            <a:pPr indent="0" marL="0">
              <a:buNone/>
            </a:pPr>
            <a:r>
              <a:rPr lang="en-US" sz="1450" b="1" dirty="0">
                <a:solidFill>
                  <a:srgbClr val="F4A338"/>
                </a:solidFill>
                <a:latin typeface="Calibri" pitchFamily="34" charset="0"/>
                <a:ea typeface="Calibri" pitchFamily="34" charset="-122"/>
                <a:cs typeface="Calibri" pitchFamily="34" charset="-120"/>
              </a:rPr>
              <a:t>Why it matters:  </a:t>
            </a:r>
            <a:pPr indent="0" marL="0">
              <a:buNone/>
            </a:pPr>
            <a:r>
              <a:rPr lang="en-US" sz="1450" dirty="0">
                <a:solidFill>
                  <a:srgbClr val="E2F0F0"/>
                </a:solidFill>
                <a:latin typeface="Calibri" pitchFamily="34" charset="0"/>
                <a:ea typeface="Calibri" pitchFamily="34" charset="-122"/>
                <a:cs typeface="Calibri" pitchFamily="34" charset="-120"/>
              </a:rPr>
              <a:t>this is how you make AI answer about your company's docs, your notes, your PDFs — by retrieving, not retraining.</a:t>
            </a:r>
            <a:endParaRPr lang="en-US" sz="1450" dirty="0"/>
          </a:p>
        </p:txBody>
      </p:sp>
      <p:sp>
        <p:nvSpPr>
          <p:cNvPr id="22" name="Text 17"/>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3</a:t>
            </a:r>
            <a:endParaRPr lang="en-US" sz="900" dirty="0"/>
          </a:p>
        </p:txBody>
      </p:sp>
      <p:sp>
        <p:nvSpPr>
          <p:cNvPr id="23" name="Text 18"/>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A2E"/>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HOW RETRIEVAL FINDS “RELEVANT”</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Embeddings, without the math</a:t>
            </a:r>
            <a:endParaRPr lang="en-US" sz="3100" dirty="0"/>
          </a:p>
        </p:txBody>
      </p:sp>
      <p:sp>
        <p:nvSpPr>
          <p:cNvPr id="4" name="Text 2"/>
          <p:cNvSpPr/>
          <p:nvPr/>
        </p:nvSpPr>
        <p:spPr>
          <a:xfrm>
            <a:off x="640080" y="1645920"/>
            <a:ext cx="10972800" cy="365760"/>
          </a:xfrm>
          <a:prstGeom prst="rect">
            <a:avLst/>
          </a:prstGeom>
          <a:noFill/>
          <a:ln/>
        </p:spPr>
        <p:txBody>
          <a:bodyPr wrap="square" rtlCol="0" anchor="ctr"/>
          <a:lstStyle/>
          <a:p>
            <a:pPr indent="0" marL="0">
              <a:buNone/>
            </a:pPr>
            <a:r>
              <a:rPr lang="en-US" sz="1550" dirty="0">
                <a:solidFill>
                  <a:srgbClr val="9FBEC0"/>
                </a:solidFill>
                <a:latin typeface="Calibri" pitchFamily="34" charset="0"/>
                <a:ea typeface="Calibri" pitchFamily="34" charset="-122"/>
                <a:cs typeface="Calibri" pitchFamily="34" charset="-120"/>
              </a:rPr>
              <a:t>Turn text into coordinates so similar meanings sit close together.</a:t>
            </a:r>
            <a:endParaRPr lang="en-US" sz="1550" dirty="0"/>
          </a:p>
        </p:txBody>
      </p:sp>
      <p:sp>
        <p:nvSpPr>
          <p:cNvPr id="5" name="Shape 3"/>
          <p:cNvSpPr/>
          <p:nvPr/>
        </p:nvSpPr>
        <p:spPr>
          <a:xfrm>
            <a:off x="640080" y="2240280"/>
            <a:ext cx="5349240" cy="3566160"/>
          </a:xfrm>
          <a:prstGeom prst="roundRect">
            <a:avLst>
              <a:gd name="adj" fmla="val 2564"/>
            </a:avLst>
          </a:prstGeom>
          <a:solidFill>
            <a:srgbClr val="143A40"/>
          </a:solidFill>
          <a:ln w="12700">
            <a:solidFill>
              <a:srgbClr val="21555B"/>
            </a:solidFill>
            <a:prstDash val="solid"/>
          </a:ln>
        </p:spPr>
      </p:sp>
      <p:sp>
        <p:nvSpPr>
          <p:cNvPr id="6" name="Text 4"/>
          <p:cNvSpPr/>
          <p:nvPr/>
        </p:nvSpPr>
        <p:spPr>
          <a:xfrm>
            <a:off x="914400" y="2423160"/>
            <a:ext cx="4572000" cy="320040"/>
          </a:xfrm>
          <a:prstGeom prst="rect">
            <a:avLst/>
          </a:prstGeom>
          <a:noFill/>
          <a:ln/>
        </p:spPr>
        <p:txBody>
          <a:bodyPr wrap="square" rtlCol="0" anchor="ctr"/>
          <a:lstStyle/>
          <a:p>
            <a:pPr indent="0" marL="0">
              <a:buNone/>
            </a:pPr>
            <a:r>
              <a:rPr lang="en-US" sz="1200" b="1" spc="100" kern="0" dirty="0">
                <a:solidFill>
                  <a:srgbClr val="5EEAD4"/>
                </a:solidFill>
                <a:latin typeface="Calibri" pitchFamily="34" charset="0"/>
                <a:ea typeface="Calibri" pitchFamily="34" charset="-122"/>
                <a:cs typeface="Calibri" pitchFamily="34" charset="-120"/>
              </a:rPr>
              <a:t>THE IDEA IN ONE PICTURE</a:t>
            </a:r>
            <a:endParaRPr lang="en-US" sz="1200" dirty="0"/>
          </a:p>
        </p:txBody>
      </p:sp>
      <p:sp>
        <p:nvSpPr>
          <p:cNvPr id="7" name="Text 5"/>
          <p:cNvSpPr/>
          <p:nvPr/>
        </p:nvSpPr>
        <p:spPr>
          <a:xfrm>
            <a:off x="914400" y="2926080"/>
            <a:ext cx="4937760" cy="1828800"/>
          </a:xfrm>
          <a:prstGeom prst="rect">
            <a:avLst/>
          </a:prstGeom>
          <a:noFill/>
          <a:ln/>
        </p:spPr>
        <p:txBody>
          <a:bodyPr wrap="square" rtlCol="0" anchor="ctr"/>
          <a:lstStyle/>
          <a:p>
            <a:pPr indent="0" marL="0">
              <a:lnSpc>
                <a:spcPct val="125000"/>
              </a:lnSpc>
              <a:buNone/>
            </a:pPr>
            <a:r>
              <a:rPr lang="en-US" sz="1700" dirty="0">
                <a:solidFill>
                  <a:srgbClr val="5EEAD4"/>
                </a:solidFill>
                <a:latin typeface="Courier New" pitchFamily="34" charset="0"/>
                <a:ea typeface="Courier New" pitchFamily="34" charset="-122"/>
                <a:cs typeface="Courier New" pitchFamily="34" charset="-120"/>
              </a:rPr>
              <a:t>"king"   ·   "queen"</a:t>
            </a:r>
            <a:endParaRPr lang="en-US" sz="1700" dirty="0"/>
          </a:p>
          <a:p>
            <a:pPr indent="0" marL="0">
              <a:lnSpc>
                <a:spcPct val="125000"/>
              </a:lnSpc>
              <a:buNone/>
            </a:pPr>
            <a:r>
              <a:rPr lang="en-US" sz="1700" dirty="0">
                <a:solidFill>
                  <a:srgbClr val="8FB6B8"/>
                </a:solidFill>
                <a:latin typeface="Courier New" pitchFamily="34" charset="0"/>
                <a:ea typeface="Courier New" pitchFamily="34" charset="-122"/>
                <a:cs typeface="Courier New" pitchFamily="34" charset="-120"/>
              </a:rPr>
              <a:t>      (sit near each other)</a:t>
            </a:r>
            <a:endParaRPr lang="en-US" sz="1700" dirty="0"/>
          </a:p>
          <a:p>
            <a:pPr indent="0" marL="0">
              <a:lnSpc>
                <a:spcPct val="125000"/>
              </a:lnSpc>
              <a:buNone/>
            </a:pPr>
            <a:endParaRPr lang="en-US" sz="1700" dirty="0"/>
          </a:p>
          <a:p>
            <a:pPr indent="0" marL="0">
              <a:lnSpc>
                <a:spcPct val="125000"/>
              </a:lnSpc>
              <a:buNone/>
            </a:pPr>
            <a:r>
              <a:rPr lang="en-US" sz="1700" dirty="0">
                <a:solidFill>
                  <a:srgbClr val="F4A338"/>
                </a:solidFill>
                <a:latin typeface="Courier New" pitchFamily="34" charset="0"/>
                <a:ea typeface="Courier New" pitchFamily="34" charset="-122"/>
                <a:cs typeface="Courier New" pitchFamily="34" charset="-120"/>
              </a:rPr>
              <a:t>"banana"</a:t>
            </a:r>
            <a:endParaRPr lang="en-US" sz="1700" dirty="0"/>
          </a:p>
          <a:p>
            <a:pPr indent="0" marL="0">
              <a:lnSpc>
                <a:spcPct val="125000"/>
              </a:lnSpc>
              <a:buNone/>
            </a:pPr>
            <a:r>
              <a:rPr lang="en-US" sz="1700" dirty="0">
                <a:solidFill>
                  <a:srgbClr val="8FB6B8"/>
                </a:solidFill>
                <a:latin typeface="Courier New" pitchFamily="34" charset="0"/>
                <a:ea typeface="Courier New" pitchFamily="34" charset="-122"/>
                <a:cs typeface="Courier New" pitchFamily="34" charset="-120"/>
              </a:rPr>
              <a:t>      (sits far away)</a:t>
            </a:r>
            <a:endParaRPr lang="en-US" sz="1700" dirty="0"/>
          </a:p>
        </p:txBody>
      </p:sp>
      <p:sp>
        <p:nvSpPr>
          <p:cNvPr id="8" name="Text 6"/>
          <p:cNvSpPr/>
          <p:nvPr/>
        </p:nvSpPr>
        <p:spPr>
          <a:xfrm>
            <a:off x="914400" y="5029200"/>
            <a:ext cx="5029200" cy="731520"/>
          </a:xfrm>
          <a:prstGeom prst="rect">
            <a:avLst/>
          </a:prstGeom>
          <a:noFill/>
          <a:ln/>
        </p:spPr>
        <p:txBody>
          <a:bodyPr wrap="square" rtlCol="0" anchor="ctr"/>
          <a:lstStyle/>
          <a:p>
            <a:pPr indent="0" marL="0">
              <a:buNone/>
            </a:pPr>
            <a:r>
              <a:rPr lang="en-US" sz="1350" dirty="0">
                <a:solidFill>
                  <a:srgbClr val="B9D4D6"/>
                </a:solidFill>
                <a:latin typeface="Calibri" pitchFamily="34" charset="0"/>
                <a:ea typeface="Calibri" pitchFamily="34" charset="-122"/>
                <a:cs typeface="Calibri" pitchFamily="34" charset="-120"/>
              </a:rPr>
              <a:t>Search becomes “find the nearest points” — fast, and language-agnostic.</a:t>
            </a:r>
            <a:endParaRPr lang="en-US" sz="1350" dirty="0"/>
          </a:p>
        </p:txBody>
      </p:sp>
      <p:sp>
        <p:nvSpPr>
          <p:cNvPr id="9" name="Shape 7"/>
          <p:cNvSpPr/>
          <p:nvPr/>
        </p:nvSpPr>
        <p:spPr>
          <a:xfrm>
            <a:off x="6172200" y="2240280"/>
            <a:ext cx="5349240" cy="3566160"/>
          </a:xfrm>
          <a:prstGeom prst="roundRect">
            <a:avLst>
              <a:gd name="adj" fmla="val 2564"/>
            </a:avLst>
          </a:prstGeom>
          <a:solidFill>
            <a:srgbClr val="0D9488"/>
          </a:solidFill>
          <a:ln/>
          <a:effectLst>
            <a:outerShdw sx="100000" sy="100000" kx="0" ky="0" algn="bl" rotWithShape="0" blurRad="88900" dist="38100" dir="2700000">
              <a:srgbClr val="000000">
                <a:alpha val="20000"/>
              </a:srgbClr>
            </a:outerShdw>
          </a:effectLst>
        </p:spPr>
      </p:sp>
      <p:sp>
        <p:nvSpPr>
          <p:cNvPr id="10" name="Text 8"/>
          <p:cNvSpPr/>
          <p:nvPr/>
        </p:nvSpPr>
        <p:spPr>
          <a:xfrm>
            <a:off x="6446520" y="2423160"/>
            <a:ext cx="4572000" cy="365760"/>
          </a:xfrm>
          <a:prstGeom prst="rect">
            <a:avLst/>
          </a:prstGeom>
          <a:noFill/>
          <a:ln/>
        </p:spPr>
        <p:txBody>
          <a:bodyPr wrap="square" rtlCol="0" anchor="ctr"/>
          <a:lstStyle/>
          <a:p>
            <a:pPr indent="0" marL="0">
              <a:buNone/>
            </a:pPr>
            <a:r>
              <a:rPr lang="en-US" sz="1300" b="1" spc="100" kern="0" dirty="0">
                <a:solidFill>
                  <a:srgbClr val="0F2A2E"/>
                </a:solidFill>
                <a:latin typeface="Calibri" pitchFamily="34" charset="0"/>
                <a:ea typeface="Calibri" pitchFamily="34" charset="-122"/>
                <a:cs typeface="Calibri" pitchFamily="34" charset="-120"/>
              </a:rPr>
              <a:t>WHAT YOU USE THEM FOR</a:t>
            </a:r>
            <a:endParaRPr lang="en-US" sz="1300" dirty="0"/>
          </a:p>
        </p:txBody>
      </p:sp>
      <p:pic>
        <p:nvPicPr>
          <p:cNvPr id="11" name="Image 0" descr="icons/checkcircle.png">    </p:cNvPr>
          <p:cNvPicPr>
            <a:picLocks noChangeAspect="1"/>
          </p:cNvPicPr>
          <p:nvPr/>
        </p:nvPicPr>
        <p:blipFill>
          <a:blip r:embed="rId1"/>
          <a:stretch>
            <a:fillRect/>
          </a:stretch>
        </p:blipFill>
        <p:spPr>
          <a:xfrm>
            <a:off x="6446520" y="2926080"/>
            <a:ext cx="365760" cy="365760"/>
          </a:xfrm>
          <a:prstGeom prst="rect">
            <a:avLst/>
          </a:prstGeom>
        </p:spPr>
      </p:pic>
      <p:sp>
        <p:nvSpPr>
          <p:cNvPr id="12" name="Text 9"/>
          <p:cNvSpPr/>
          <p:nvPr/>
        </p:nvSpPr>
        <p:spPr>
          <a:xfrm>
            <a:off x="6949440" y="2880360"/>
            <a:ext cx="4480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Semantic search  </a:t>
            </a:r>
            <a:pPr indent="0" marL="0">
              <a:buNone/>
            </a:pPr>
            <a:r>
              <a:rPr lang="en-US" sz="1400" dirty="0">
                <a:solidFill>
                  <a:srgbClr val="E6FFFB"/>
                </a:solidFill>
                <a:latin typeface="Calibri" pitchFamily="34" charset="0"/>
                <a:ea typeface="Calibri" pitchFamily="34" charset="-122"/>
                <a:cs typeface="Calibri" pitchFamily="34" charset="-120"/>
              </a:rPr>
              <a:t>— find by meaning, not keywords</a:t>
            </a:r>
            <a:endParaRPr lang="en-US" sz="1400" dirty="0"/>
          </a:p>
        </p:txBody>
      </p:sp>
      <p:pic>
        <p:nvPicPr>
          <p:cNvPr id="13" name="Image 1" descr="icons/checkcircle.png">    </p:cNvPr>
          <p:cNvPicPr>
            <a:picLocks noChangeAspect="1"/>
          </p:cNvPicPr>
          <p:nvPr/>
        </p:nvPicPr>
        <p:blipFill>
          <a:blip r:embed="rId2"/>
          <a:stretch>
            <a:fillRect/>
          </a:stretch>
        </p:blipFill>
        <p:spPr>
          <a:xfrm>
            <a:off x="6446520" y="3584448"/>
            <a:ext cx="365760" cy="365760"/>
          </a:xfrm>
          <a:prstGeom prst="rect">
            <a:avLst/>
          </a:prstGeom>
        </p:spPr>
      </p:pic>
      <p:sp>
        <p:nvSpPr>
          <p:cNvPr id="14" name="Text 10"/>
          <p:cNvSpPr/>
          <p:nvPr/>
        </p:nvSpPr>
        <p:spPr>
          <a:xfrm>
            <a:off x="6949440" y="3538728"/>
            <a:ext cx="4480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Recommendation  </a:t>
            </a:r>
            <a:pPr indent="0" marL="0">
              <a:buNone/>
            </a:pPr>
            <a:r>
              <a:rPr lang="en-US" sz="1400" dirty="0">
                <a:solidFill>
                  <a:srgbClr val="E6FFFB"/>
                </a:solidFill>
                <a:latin typeface="Calibri" pitchFamily="34" charset="0"/>
                <a:ea typeface="Calibri" pitchFamily="34" charset="-122"/>
                <a:cs typeface="Calibri" pitchFamily="34" charset="-120"/>
              </a:rPr>
              <a:t>— “items like this one”</a:t>
            </a:r>
            <a:endParaRPr lang="en-US" sz="1400" dirty="0"/>
          </a:p>
        </p:txBody>
      </p:sp>
      <p:pic>
        <p:nvPicPr>
          <p:cNvPr id="15" name="Image 2" descr="icons/checkcircle.png">    </p:cNvPr>
          <p:cNvPicPr>
            <a:picLocks noChangeAspect="1"/>
          </p:cNvPicPr>
          <p:nvPr/>
        </p:nvPicPr>
        <p:blipFill>
          <a:blip r:embed="rId3"/>
          <a:stretch>
            <a:fillRect/>
          </a:stretch>
        </p:blipFill>
        <p:spPr>
          <a:xfrm>
            <a:off x="6446520" y="4242816"/>
            <a:ext cx="365760" cy="365760"/>
          </a:xfrm>
          <a:prstGeom prst="rect">
            <a:avLst/>
          </a:prstGeom>
        </p:spPr>
      </p:pic>
      <p:sp>
        <p:nvSpPr>
          <p:cNvPr id="16" name="Text 11"/>
          <p:cNvSpPr/>
          <p:nvPr/>
        </p:nvSpPr>
        <p:spPr>
          <a:xfrm>
            <a:off x="6949440" y="4197096"/>
            <a:ext cx="4480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Duplicate detection  </a:t>
            </a:r>
            <a:pPr indent="0" marL="0">
              <a:buNone/>
            </a:pPr>
            <a:r>
              <a:rPr lang="en-US" sz="1400" dirty="0">
                <a:solidFill>
                  <a:srgbClr val="E6FFFB"/>
                </a:solidFill>
                <a:latin typeface="Calibri" pitchFamily="34" charset="0"/>
                <a:ea typeface="Calibri" pitchFamily="34" charset="-122"/>
                <a:cs typeface="Calibri" pitchFamily="34" charset="-120"/>
              </a:rPr>
              <a:t>— spot near-identical text</a:t>
            </a:r>
            <a:endParaRPr lang="en-US" sz="1400" dirty="0"/>
          </a:p>
        </p:txBody>
      </p:sp>
      <p:pic>
        <p:nvPicPr>
          <p:cNvPr id="17" name="Image 3" descr="icons/checkcircle.png">    </p:cNvPr>
          <p:cNvPicPr>
            <a:picLocks noChangeAspect="1"/>
          </p:cNvPicPr>
          <p:nvPr/>
        </p:nvPicPr>
        <p:blipFill>
          <a:blip r:embed="rId4"/>
          <a:stretch>
            <a:fillRect/>
          </a:stretch>
        </p:blipFill>
        <p:spPr>
          <a:xfrm>
            <a:off x="6446520" y="4901184"/>
            <a:ext cx="365760" cy="365760"/>
          </a:xfrm>
          <a:prstGeom prst="rect">
            <a:avLst/>
          </a:prstGeom>
        </p:spPr>
      </p:pic>
      <p:sp>
        <p:nvSpPr>
          <p:cNvPr id="18" name="Text 12"/>
          <p:cNvSpPr/>
          <p:nvPr/>
        </p:nvSpPr>
        <p:spPr>
          <a:xfrm>
            <a:off x="6949440" y="4855464"/>
            <a:ext cx="448056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RAG retrieval  </a:t>
            </a:r>
            <a:pPr indent="0" marL="0">
              <a:buNone/>
            </a:pPr>
            <a:r>
              <a:rPr lang="en-US" sz="1400" dirty="0">
                <a:solidFill>
                  <a:srgbClr val="E6FFFB"/>
                </a:solidFill>
                <a:latin typeface="Calibri" pitchFamily="34" charset="0"/>
                <a:ea typeface="Calibri" pitchFamily="34" charset="-122"/>
                <a:cs typeface="Calibri" pitchFamily="34" charset="-120"/>
              </a:rPr>
              <a:t>— fetch the right context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₹0 TOOLSTACK</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Free tiers you can keep building on</a:t>
            </a:r>
            <a:endParaRPr lang="en-US" sz="3000" dirty="0"/>
          </a:p>
        </p:txBody>
      </p:sp>
      <p:sp>
        <p:nvSpPr>
          <p:cNvPr id="4" name="Shape 2"/>
          <p:cNvSpPr/>
          <p:nvPr/>
        </p:nvSpPr>
        <p:spPr>
          <a:xfrm>
            <a:off x="640080" y="1828800"/>
            <a:ext cx="5349240" cy="1783080"/>
          </a:xfrm>
          <a:prstGeom prst="roundRect">
            <a:avLst>
              <a:gd name="adj" fmla="val 5128"/>
            </a:avLst>
          </a:prstGeom>
          <a:solidFill>
            <a:srgbClr val="F1F5F9"/>
          </a:solidFill>
          <a:ln/>
          <a:effectLst>
            <a:outerShdw sx="100000" sy="100000" kx="0" ky="0" algn="bl" rotWithShape="0" blurRad="88900" dist="38100" dir="2700000">
              <a:srgbClr val="000000">
                <a:alpha val="10000"/>
              </a:srgbClr>
            </a:outerShdw>
          </a:effectLst>
        </p:spPr>
      </p:sp>
      <p:sp>
        <p:nvSpPr>
          <p:cNvPr id="5" name="Shape 3"/>
          <p:cNvSpPr/>
          <p:nvPr/>
        </p:nvSpPr>
        <p:spPr>
          <a:xfrm>
            <a:off x="914400" y="2286000"/>
            <a:ext cx="868680" cy="868680"/>
          </a:xfrm>
          <a:prstGeom prst="ellipse">
            <a:avLst/>
          </a:prstGeom>
          <a:solidFill>
            <a:srgbClr val="0D9488"/>
          </a:solidFill>
          <a:ln/>
        </p:spPr>
      </p:sp>
      <p:pic>
        <p:nvPicPr>
          <p:cNvPr id="6" name="Image 0" descr="icons/cloud_w.png">    </p:cNvPr>
          <p:cNvPicPr>
            <a:picLocks noChangeAspect="1"/>
          </p:cNvPicPr>
          <p:nvPr/>
        </p:nvPicPr>
        <p:blipFill>
          <a:blip r:embed="rId1"/>
          <a:stretch>
            <a:fillRect/>
          </a:stretch>
        </p:blipFill>
        <p:spPr>
          <a:xfrm>
            <a:off x="1124712" y="2496312"/>
            <a:ext cx="438912" cy="438912"/>
          </a:xfrm>
          <a:prstGeom prst="rect">
            <a:avLst/>
          </a:prstGeom>
        </p:spPr>
      </p:pic>
      <p:sp>
        <p:nvSpPr>
          <p:cNvPr id="7" name="Text 4"/>
          <p:cNvSpPr/>
          <p:nvPr/>
        </p:nvSpPr>
        <p:spPr>
          <a:xfrm>
            <a:off x="1965960" y="2148840"/>
            <a:ext cx="3840480" cy="50292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Gemini API</a:t>
            </a:r>
            <a:endParaRPr lang="en-US" sz="1900" dirty="0"/>
          </a:p>
        </p:txBody>
      </p:sp>
      <p:sp>
        <p:nvSpPr>
          <p:cNvPr id="8" name="Text 5"/>
          <p:cNvSpPr/>
          <p:nvPr/>
        </p:nvSpPr>
        <p:spPr>
          <a:xfrm>
            <a:off x="1965960" y="2651760"/>
            <a:ext cx="3886200" cy="86868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Free tier, no card. Generous limits for learning &amp; prototyping.</a:t>
            </a:r>
            <a:endParaRPr lang="en-US" sz="1350" dirty="0"/>
          </a:p>
        </p:txBody>
      </p:sp>
      <p:sp>
        <p:nvSpPr>
          <p:cNvPr id="9" name="Shape 6"/>
          <p:cNvSpPr/>
          <p:nvPr/>
        </p:nvSpPr>
        <p:spPr>
          <a:xfrm>
            <a:off x="6172200" y="1828800"/>
            <a:ext cx="5349240" cy="1783080"/>
          </a:xfrm>
          <a:prstGeom prst="roundRect">
            <a:avLst>
              <a:gd name="adj" fmla="val 5128"/>
            </a:avLst>
          </a:prstGeom>
          <a:solidFill>
            <a:srgbClr val="E8F4F2"/>
          </a:solidFill>
          <a:ln/>
          <a:effectLst>
            <a:outerShdw sx="100000" sy="100000" kx="0" ky="0" algn="bl" rotWithShape="0" blurRad="88900" dist="38100" dir="2700000">
              <a:srgbClr val="000000">
                <a:alpha val="10000"/>
              </a:srgbClr>
            </a:outerShdw>
          </a:effectLst>
        </p:spPr>
      </p:sp>
      <p:sp>
        <p:nvSpPr>
          <p:cNvPr id="10" name="Shape 7"/>
          <p:cNvSpPr/>
          <p:nvPr/>
        </p:nvSpPr>
        <p:spPr>
          <a:xfrm>
            <a:off x="6446520" y="2286000"/>
            <a:ext cx="868680" cy="868680"/>
          </a:xfrm>
          <a:prstGeom prst="ellipse">
            <a:avLst/>
          </a:prstGeom>
          <a:solidFill>
            <a:srgbClr val="F4A338"/>
          </a:solidFill>
          <a:ln/>
        </p:spPr>
      </p:sp>
      <p:pic>
        <p:nvPicPr>
          <p:cNvPr id="11" name="Image 1" descr="icons/gauge_w.png">    </p:cNvPr>
          <p:cNvPicPr>
            <a:picLocks noChangeAspect="1"/>
          </p:cNvPicPr>
          <p:nvPr/>
        </p:nvPicPr>
        <p:blipFill>
          <a:blip r:embed="rId2"/>
          <a:stretch>
            <a:fillRect/>
          </a:stretch>
        </p:blipFill>
        <p:spPr>
          <a:xfrm>
            <a:off x="6656832" y="2496312"/>
            <a:ext cx="438912" cy="438912"/>
          </a:xfrm>
          <a:prstGeom prst="rect">
            <a:avLst/>
          </a:prstGeom>
        </p:spPr>
      </p:pic>
      <p:sp>
        <p:nvSpPr>
          <p:cNvPr id="12" name="Text 8"/>
          <p:cNvSpPr/>
          <p:nvPr/>
        </p:nvSpPr>
        <p:spPr>
          <a:xfrm>
            <a:off x="7498080" y="2148840"/>
            <a:ext cx="3840480" cy="50292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Groq</a:t>
            </a:r>
            <a:endParaRPr lang="en-US" sz="1900" dirty="0"/>
          </a:p>
        </p:txBody>
      </p:sp>
      <p:sp>
        <p:nvSpPr>
          <p:cNvPr id="13" name="Text 9"/>
          <p:cNvSpPr/>
          <p:nvPr/>
        </p:nvSpPr>
        <p:spPr>
          <a:xfrm>
            <a:off x="7498080" y="2651760"/>
            <a:ext cx="3886200" cy="86868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Blazing-fast inference for open models. Free tier to experiment.</a:t>
            </a:r>
            <a:endParaRPr lang="en-US" sz="1350" dirty="0"/>
          </a:p>
        </p:txBody>
      </p:sp>
      <p:sp>
        <p:nvSpPr>
          <p:cNvPr id="14" name="Shape 10"/>
          <p:cNvSpPr/>
          <p:nvPr/>
        </p:nvSpPr>
        <p:spPr>
          <a:xfrm>
            <a:off x="640080" y="3794760"/>
            <a:ext cx="5349240" cy="1783080"/>
          </a:xfrm>
          <a:prstGeom prst="roundRect">
            <a:avLst>
              <a:gd name="adj" fmla="val 5128"/>
            </a:avLst>
          </a:prstGeom>
          <a:solidFill>
            <a:srgbClr val="F1F5F9"/>
          </a:solidFill>
          <a:ln/>
          <a:effectLst>
            <a:outerShdw sx="100000" sy="100000" kx="0" ky="0" algn="bl" rotWithShape="0" blurRad="88900" dist="38100" dir="2700000">
              <a:srgbClr val="000000">
                <a:alpha val="10000"/>
              </a:srgbClr>
            </a:outerShdw>
          </a:effectLst>
        </p:spPr>
      </p:sp>
      <p:sp>
        <p:nvSpPr>
          <p:cNvPr id="15" name="Shape 11"/>
          <p:cNvSpPr/>
          <p:nvPr/>
        </p:nvSpPr>
        <p:spPr>
          <a:xfrm>
            <a:off x="914400" y="4251960"/>
            <a:ext cx="868680" cy="868680"/>
          </a:xfrm>
          <a:prstGeom prst="ellipse">
            <a:avLst/>
          </a:prstGeom>
          <a:solidFill>
            <a:srgbClr val="1FA971"/>
          </a:solidFill>
          <a:ln/>
        </p:spPr>
      </p:sp>
      <p:pic>
        <p:nvPicPr>
          <p:cNvPr id="16" name="Image 2" descr="icons/cubes_w.png">    </p:cNvPr>
          <p:cNvPicPr>
            <a:picLocks noChangeAspect="1"/>
          </p:cNvPicPr>
          <p:nvPr/>
        </p:nvPicPr>
        <p:blipFill>
          <a:blip r:embed="rId3"/>
          <a:stretch>
            <a:fillRect/>
          </a:stretch>
        </p:blipFill>
        <p:spPr>
          <a:xfrm>
            <a:off x="1124712" y="4462272"/>
            <a:ext cx="438912" cy="438912"/>
          </a:xfrm>
          <a:prstGeom prst="rect">
            <a:avLst/>
          </a:prstGeom>
        </p:spPr>
      </p:pic>
      <p:sp>
        <p:nvSpPr>
          <p:cNvPr id="17" name="Text 12"/>
          <p:cNvSpPr/>
          <p:nvPr/>
        </p:nvSpPr>
        <p:spPr>
          <a:xfrm>
            <a:off x="1965960" y="4114800"/>
            <a:ext cx="3840480" cy="50292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HuggingFace</a:t>
            </a:r>
            <a:endParaRPr lang="en-US" sz="1900" dirty="0"/>
          </a:p>
        </p:txBody>
      </p:sp>
      <p:sp>
        <p:nvSpPr>
          <p:cNvPr id="18" name="Text 13"/>
          <p:cNvSpPr/>
          <p:nvPr/>
        </p:nvSpPr>
        <p:spPr>
          <a:xfrm>
            <a:off x="1965960" y="4617720"/>
            <a:ext cx="3886200" cy="86868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Inference API + thousands of open models, free to try.</a:t>
            </a:r>
            <a:endParaRPr lang="en-US" sz="1350" dirty="0"/>
          </a:p>
        </p:txBody>
      </p:sp>
      <p:sp>
        <p:nvSpPr>
          <p:cNvPr id="19" name="Shape 14"/>
          <p:cNvSpPr/>
          <p:nvPr/>
        </p:nvSpPr>
        <p:spPr>
          <a:xfrm>
            <a:off x="6172200" y="3794760"/>
            <a:ext cx="5349240" cy="1783080"/>
          </a:xfrm>
          <a:prstGeom prst="roundRect">
            <a:avLst>
              <a:gd name="adj" fmla="val 5128"/>
            </a:avLst>
          </a:prstGeom>
          <a:solidFill>
            <a:srgbClr val="E8F4F2"/>
          </a:solidFill>
          <a:ln/>
          <a:effectLst>
            <a:outerShdw sx="100000" sy="100000" kx="0" ky="0" algn="bl" rotWithShape="0" blurRad="88900" dist="38100" dir="2700000">
              <a:srgbClr val="000000">
                <a:alpha val="10000"/>
              </a:srgbClr>
            </a:outerShdw>
          </a:effectLst>
        </p:spPr>
      </p:sp>
      <p:sp>
        <p:nvSpPr>
          <p:cNvPr id="20" name="Shape 15"/>
          <p:cNvSpPr/>
          <p:nvPr/>
        </p:nvSpPr>
        <p:spPr>
          <a:xfrm>
            <a:off x="6446520" y="4251960"/>
            <a:ext cx="868680" cy="868680"/>
          </a:xfrm>
          <a:prstGeom prst="ellipse">
            <a:avLst/>
          </a:prstGeom>
          <a:solidFill>
            <a:srgbClr val="0F2A2E"/>
          </a:solidFill>
          <a:ln/>
        </p:spPr>
      </p:sp>
      <p:pic>
        <p:nvPicPr>
          <p:cNvPr id="21" name="Image 3" descr="icons/py_w.png">    </p:cNvPr>
          <p:cNvPicPr>
            <a:picLocks noChangeAspect="1"/>
          </p:cNvPicPr>
          <p:nvPr/>
        </p:nvPicPr>
        <p:blipFill>
          <a:blip r:embed="rId4"/>
          <a:stretch>
            <a:fillRect/>
          </a:stretch>
        </p:blipFill>
        <p:spPr>
          <a:xfrm>
            <a:off x="6656832" y="4462272"/>
            <a:ext cx="438912" cy="438912"/>
          </a:xfrm>
          <a:prstGeom prst="rect">
            <a:avLst/>
          </a:prstGeom>
        </p:spPr>
      </p:pic>
      <p:sp>
        <p:nvSpPr>
          <p:cNvPr id="22" name="Text 16"/>
          <p:cNvSpPr/>
          <p:nvPr/>
        </p:nvSpPr>
        <p:spPr>
          <a:xfrm>
            <a:off x="7498080" y="4114800"/>
            <a:ext cx="3840480" cy="50292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Google Colab</a:t>
            </a:r>
            <a:endParaRPr lang="en-US" sz="1900" dirty="0"/>
          </a:p>
        </p:txBody>
      </p:sp>
      <p:sp>
        <p:nvSpPr>
          <p:cNvPr id="23" name="Text 17"/>
          <p:cNvSpPr/>
          <p:nvPr/>
        </p:nvSpPr>
        <p:spPr>
          <a:xfrm>
            <a:off x="7498080" y="4617720"/>
            <a:ext cx="3886200" cy="86868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Runs all your Python in the browser. No install, no setup.</a:t>
            </a:r>
            <a:endParaRPr lang="en-US" sz="1350" dirty="0"/>
          </a:p>
        </p:txBody>
      </p:sp>
      <p:sp>
        <p:nvSpPr>
          <p:cNvPr id="24" name="Text 18"/>
          <p:cNvSpPr/>
          <p:nvPr/>
        </p:nvSpPr>
        <p:spPr>
          <a:xfrm>
            <a:off x="640080" y="5760720"/>
            <a:ext cx="10881360" cy="411480"/>
          </a:xfrm>
          <a:prstGeom prst="rect">
            <a:avLst/>
          </a:prstGeom>
          <a:noFill/>
          <a:ln/>
        </p:spPr>
        <p:txBody>
          <a:bodyPr wrap="square" rtlCol="0" anchor="ctr"/>
          <a:lstStyle/>
          <a:p>
            <a:pPr algn="ctr" indent="0" marL="0">
              <a:buNone/>
            </a:pPr>
            <a:r>
              <a:rPr lang="en-US" sz="1400" b="1" i="1" dirty="0">
                <a:solidFill>
                  <a:srgbClr val="0D9488"/>
                </a:solidFill>
                <a:latin typeface="Calibri" pitchFamily="34" charset="0"/>
                <a:ea typeface="Calibri" pitchFamily="34" charset="-122"/>
                <a:cs typeface="Calibri" pitchFamily="34" charset="-120"/>
              </a:rPr>
              <a:t>Pick one, get a free key, and you can keep building long after this workshop ends.</a:t>
            </a:r>
            <a:endParaRPr lang="en-US" sz="1400" dirty="0"/>
          </a:p>
        </p:txBody>
      </p:sp>
      <p:sp>
        <p:nvSpPr>
          <p:cNvPr id="25" name="Text 19"/>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3</a:t>
            </a:r>
            <a:endParaRPr lang="en-US" sz="900" dirty="0"/>
          </a:p>
        </p:txBody>
      </p:sp>
      <p:sp>
        <p:nvSpPr>
          <p:cNvPr id="26" name="Text 20"/>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A2E"/>
        </a:solidFill>
      </p:bgPr>
    </p:bg>
    <p:spTree>
      <p:nvGrpSpPr>
        <p:cNvPr id="1" name=""/>
        <p:cNvGrpSpPr/>
        <p:nvPr/>
      </p:nvGrpSpPr>
      <p:grpSpPr>
        <a:xfrm>
          <a:off x="0" y="0"/>
          <a:ext cx="0" cy="0"/>
          <a:chOff x="0" y="0"/>
          <a:chExt cx="0" cy="0"/>
        </a:xfrm>
      </p:grpSpPr>
      <p:sp>
        <p:nvSpPr>
          <p:cNvPr id="2" name="Shape 0"/>
          <p:cNvSpPr/>
          <p:nvPr/>
        </p:nvSpPr>
        <p:spPr>
          <a:xfrm>
            <a:off x="640080" y="502920"/>
            <a:ext cx="4297680" cy="502920"/>
          </a:xfrm>
          <a:prstGeom prst="roundRect">
            <a:avLst>
              <a:gd name="adj" fmla="val 49091"/>
            </a:avLst>
          </a:prstGeom>
          <a:solidFill>
            <a:srgbClr val="E05252"/>
          </a:solidFill>
          <a:ln/>
        </p:spPr>
      </p:sp>
      <p:sp>
        <p:nvSpPr>
          <p:cNvPr id="3" name="Shape 1"/>
          <p:cNvSpPr/>
          <p:nvPr/>
        </p:nvSpPr>
        <p:spPr>
          <a:xfrm>
            <a:off x="841248" y="640080"/>
            <a:ext cx="219456" cy="219456"/>
          </a:xfrm>
          <a:prstGeom prst="ellipse">
            <a:avLst/>
          </a:prstGeom>
          <a:solidFill>
            <a:srgbClr val="FFFFFF"/>
          </a:solidFill>
          <a:ln/>
        </p:spPr>
      </p:sp>
      <p:sp>
        <p:nvSpPr>
          <p:cNvPr id="4" name="Text 2"/>
          <p:cNvSpPr/>
          <p:nvPr/>
        </p:nvSpPr>
        <p:spPr>
          <a:xfrm>
            <a:off x="1188720" y="502920"/>
            <a:ext cx="3657600" cy="502920"/>
          </a:xfrm>
          <a:prstGeom prst="rect">
            <a:avLst/>
          </a:prstGeom>
          <a:noFill/>
          <a:ln/>
        </p:spPr>
        <p:txBody>
          <a:bodyPr wrap="square"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HANDS-ON LAB  ·  COLAB NOTEBOOK</a:t>
            </a:r>
            <a:endParaRPr lang="en-US" sz="1250" dirty="0"/>
          </a:p>
        </p:txBody>
      </p:sp>
      <p:sp>
        <p:nvSpPr>
          <p:cNvPr id="5" name="Text 3"/>
          <p:cNvSpPr/>
          <p:nvPr/>
        </p:nvSpPr>
        <p:spPr>
          <a:xfrm>
            <a:off x="640080" y="1143000"/>
            <a:ext cx="10972800" cy="73152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Build a résumé extractor — live, together</a:t>
            </a:r>
            <a:endParaRPr lang="en-US" sz="3100" dirty="0"/>
          </a:p>
        </p:txBody>
      </p:sp>
      <p:sp>
        <p:nvSpPr>
          <p:cNvPr id="6" name="Shape 4"/>
          <p:cNvSpPr/>
          <p:nvPr/>
        </p:nvSpPr>
        <p:spPr>
          <a:xfrm>
            <a:off x="640080" y="2148840"/>
            <a:ext cx="6583680" cy="3977640"/>
          </a:xfrm>
          <a:prstGeom prst="roundRect">
            <a:avLst>
              <a:gd name="adj" fmla="val 2299"/>
            </a:avLst>
          </a:prstGeom>
          <a:solidFill>
            <a:srgbClr val="143A40"/>
          </a:solidFill>
          <a:ln w="12700">
            <a:solidFill>
              <a:srgbClr val="21555B"/>
            </a:solidFill>
            <a:prstDash val="solid"/>
          </a:ln>
        </p:spPr>
      </p:sp>
      <p:sp>
        <p:nvSpPr>
          <p:cNvPr id="7" name="Text 5"/>
          <p:cNvSpPr/>
          <p:nvPr/>
        </p:nvSpPr>
        <p:spPr>
          <a:xfrm>
            <a:off x="914400" y="2331720"/>
            <a:ext cx="5943600" cy="320040"/>
          </a:xfrm>
          <a:prstGeom prst="rect">
            <a:avLst/>
          </a:prstGeom>
          <a:noFill/>
          <a:ln/>
        </p:spPr>
        <p:txBody>
          <a:bodyPr wrap="square" rtlCol="0" anchor="ctr"/>
          <a:lstStyle/>
          <a:p>
            <a:pPr indent="0" marL="0">
              <a:buNone/>
            </a:pPr>
            <a:r>
              <a:rPr lang="en-US" sz="1300" b="1" spc="100" kern="0" dirty="0">
                <a:solidFill>
                  <a:srgbClr val="F4A338"/>
                </a:solidFill>
                <a:latin typeface="Calibri" pitchFamily="34" charset="0"/>
                <a:ea typeface="Calibri" pitchFamily="34" charset="-122"/>
                <a:cs typeface="Calibri" pitchFamily="34" charset="-120"/>
              </a:rPr>
              <a:t>OPEN THE NOTEBOOK  ·  PART B</a:t>
            </a:r>
            <a:endParaRPr lang="en-US" sz="1300" dirty="0"/>
          </a:p>
        </p:txBody>
      </p:sp>
      <p:sp>
        <p:nvSpPr>
          <p:cNvPr id="8" name="Text 6"/>
          <p:cNvSpPr/>
          <p:nvPr/>
        </p:nvSpPr>
        <p:spPr>
          <a:xfrm>
            <a:off x="914400" y="2788920"/>
            <a:ext cx="6126480" cy="3108960"/>
          </a:xfrm>
          <a:prstGeom prst="rect">
            <a:avLst/>
          </a:prstGeom>
          <a:noFill/>
          <a:ln/>
        </p:spPr>
        <p:txBody>
          <a:bodyPr wrap="square" rtlCol="0" anchor="t"/>
          <a:lstStyle/>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1.  Open the shared Colab link</a:t>
            </a:r>
            <a:endParaRPr lang="en-US" sz="1600" dirty="0"/>
          </a:p>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2.  Run Setup → paste your free Gemini key</a:t>
            </a:r>
            <a:endParaRPr lang="en-US" sz="1600" dirty="0"/>
          </a:p>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3.  Jump to  🅱️ PART B  — the résumé app</a:t>
            </a:r>
            <a:endParaRPr lang="en-US" sz="1600" dirty="0"/>
          </a:p>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4.  Run the schema cell, then the extract cell</a:t>
            </a:r>
            <a:endParaRPr lang="en-US" sz="1600" dirty="0"/>
          </a:p>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5.  Read the live usage meter on screen</a:t>
            </a:r>
            <a:endParaRPr lang="en-US" sz="1600" dirty="0"/>
          </a:p>
        </p:txBody>
      </p:sp>
      <p:sp>
        <p:nvSpPr>
          <p:cNvPr id="9" name="Shape 7"/>
          <p:cNvSpPr/>
          <p:nvPr/>
        </p:nvSpPr>
        <p:spPr>
          <a:xfrm>
            <a:off x="7452360" y="2148840"/>
            <a:ext cx="4069080" cy="3977640"/>
          </a:xfrm>
          <a:prstGeom prst="roundRect">
            <a:avLst>
              <a:gd name="adj" fmla="val 2299"/>
            </a:avLst>
          </a:prstGeom>
          <a:solidFill>
            <a:srgbClr val="0D9488"/>
          </a:solidFill>
          <a:ln/>
          <a:effectLst>
            <a:outerShdw sx="100000" sy="100000" kx="0" ky="0" algn="bl" rotWithShape="0" blurRad="88900" dist="38100" dir="2700000">
              <a:srgbClr val="000000">
                <a:alpha val="25000"/>
              </a:srgbClr>
            </a:outerShdw>
          </a:effectLst>
        </p:spPr>
      </p:sp>
      <p:pic>
        <p:nvPicPr>
          <p:cNvPr id="10" name="Image 0" descr="icons/gift_w.png">    </p:cNvPr>
          <p:cNvPicPr>
            <a:picLocks noChangeAspect="1"/>
          </p:cNvPicPr>
          <p:nvPr/>
        </p:nvPicPr>
        <p:blipFill>
          <a:blip r:embed="rId1"/>
          <a:stretch>
            <a:fillRect/>
          </a:stretch>
        </p:blipFill>
        <p:spPr>
          <a:xfrm>
            <a:off x="7772400" y="2468880"/>
            <a:ext cx="502920" cy="502920"/>
          </a:xfrm>
          <a:prstGeom prst="rect">
            <a:avLst/>
          </a:prstGeom>
        </p:spPr>
      </p:pic>
      <p:sp>
        <p:nvSpPr>
          <p:cNvPr id="11" name="Text 8"/>
          <p:cNvSpPr/>
          <p:nvPr/>
        </p:nvSpPr>
        <p:spPr>
          <a:xfrm>
            <a:off x="8412480" y="2496312"/>
            <a:ext cx="2926080" cy="457200"/>
          </a:xfrm>
          <a:prstGeom prst="rect">
            <a:avLst/>
          </a:prstGeom>
          <a:noFill/>
          <a:ln/>
        </p:spPr>
        <p:txBody>
          <a:bodyPr wrap="square" rtlCol="0" anchor="ctr"/>
          <a:lstStyle/>
          <a:p>
            <a:pPr indent="0" marL="0">
              <a:buNone/>
            </a:pPr>
            <a:r>
              <a:rPr lang="en-US" sz="1600" b="1" dirty="0">
                <a:solidFill>
                  <a:srgbClr val="0F2A2E"/>
                </a:solidFill>
                <a:latin typeface="Calibri" pitchFamily="34" charset="0"/>
                <a:ea typeface="Calibri" pitchFamily="34" charset="-122"/>
                <a:cs typeface="Calibri" pitchFamily="34" charset="-120"/>
              </a:rPr>
              <a:t>What you'll have</a:t>
            </a:r>
            <a:endParaRPr lang="en-US" sz="1600" dirty="0"/>
          </a:p>
        </p:txBody>
      </p:sp>
      <p:sp>
        <p:nvSpPr>
          <p:cNvPr id="12" name="Text 9"/>
          <p:cNvSpPr/>
          <p:nvPr/>
        </p:nvSpPr>
        <p:spPr>
          <a:xfrm>
            <a:off x="7772400" y="3246120"/>
            <a:ext cx="3520440" cy="12801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 running app that turns a résumé into clean JSON — built by you, owned by you.</a:t>
            </a:r>
            <a:endParaRPr lang="en-US" sz="1700" dirty="0"/>
          </a:p>
        </p:txBody>
      </p:sp>
      <p:sp>
        <p:nvSpPr>
          <p:cNvPr id="13" name="Text 10"/>
          <p:cNvSpPr/>
          <p:nvPr/>
        </p:nvSpPr>
        <p:spPr>
          <a:xfrm>
            <a:off x="7772400" y="4709160"/>
            <a:ext cx="3520440" cy="457200"/>
          </a:xfrm>
          <a:prstGeom prst="rect">
            <a:avLst/>
          </a:prstGeom>
          <a:noFill/>
          <a:ln/>
        </p:spPr>
        <p:txBody>
          <a:bodyPr wrap="square" rtlCol="0" anchor="ctr"/>
          <a:lstStyle/>
          <a:p>
            <a:pPr indent="0" marL="0">
              <a:buNone/>
            </a:pPr>
            <a:r>
              <a:rPr lang="en-US" sz="1600" b="1" dirty="0">
                <a:solidFill>
                  <a:srgbClr val="E6FFFB"/>
                </a:solidFill>
                <a:latin typeface="Courier New" pitchFamily="34" charset="0"/>
                <a:ea typeface="Courier New" pitchFamily="34" charset="-122"/>
                <a:cs typeface="Courier New" pitchFamily="34" charset="-120"/>
              </a:rPr>
              <a:t>Cost so far: ₹0.00</a:t>
            </a:r>
            <a:endParaRPr lang="en-US" sz="1600" dirty="0"/>
          </a:p>
        </p:txBody>
      </p:sp>
      <p:sp>
        <p:nvSpPr>
          <p:cNvPr id="14" name="Text 11"/>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E8C90"/>
                </a:solidFill>
                <a:latin typeface="Calibri" pitchFamily="34" charset="0"/>
                <a:ea typeface="Calibri" pitchFamily="34" charset="-122"/>
                <a:cs typeface="Calibri" pitchFamily="34" charset="-120"/>
              </a:rPr>
              <a:t>The ₹0 AI Engineer  ·  Module 3</a:t>
            </a:r>
            <a:endParaRPr lang="en-US" sz="900" dirty="0"/>
          </a:p>
        </p:txBody>
      </p:sp>
      <p:sp>
        <p:nvSpPr>
          <p:cNvPr id="15" name="Text 12"/>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E8C9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LAB · THE TWO CELLS THAT MATTER</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Résumé in  →  schema enforced  →  JSON out</a:t>
            </a:r>
            <a:endParaRPr lang="en-US" sz="2900" dirty="0"/>
          </a:p>
        </p:txBody>
      </p:sp>
      <p:sp>
        <p:nvSpPr>
          <p:cNvPr id="4" name="Shape 2"/>
          <p:cNvSpPr/>
          <p:nvPr/>
        </p:nvSpPr>
        <p:spPr>
          <a:xfrm>
            <a:off x="640080" y="1828800"/>
            <a:ext cx="10881360" cy="1143000"/>
          </a:xfrm>
          <a:prstGeom prst="roundRect">
            <a:avLst>
              <a:gd name="adj" fmla="val 8000"/>
            </a:avLst>
          </a:prstGeom>
          <a:solidFill>
            <a:srgbClr val="F1F5F9"/>
          </a:solidFill>
          <a:ln/>
          <a:effectLst>
            <a:outerShdw sx="100000" sy="100000" kx="0" ky="0" algn="bl" rotWithShape="0" blurRad="88900" dist="38100" dir="2700000">
              <a:srgbClr val="000000">
                <a:alpha val="10000"/>
              </a:srgbClr>
            </a:outerShdw>
          </a:effectLst>
        </p:spPr>
      </p:sp>
      <p:sp>
        <p:nvSpPr>
          <p:cNvPr id="5" name="Shape 3"/>
          <p:cNvSpPr/>
          <p:nvPr/>
        </p:nvSpPr>
        <p:spPr>
          <a:xfrm>
            <a:off x="914400" y="2103120"/>
            <a:ext cx="594360" cy="594360"/>
          </a:xfrm>
          <a:prstGeom prst="ellipse">
            <a:avLst/>
          </a:prstGeom>
          <a:solidFill>
            <a:srgbClr val="0D9488"/>
          </a:solidFill>
          <a:ln/>
        </p:spPr>
      </p:sp>
      <p:sp>
        <p:nvSpPr>
          <p:cNvPr id="6" name="Text 4"/>
          <p:cNvSpPr/>
          <p:nvPr/>
        </p:nvSpPr>
        <p:spPr>
          <a:xfrm>
            <a:off x="914400" y="2103120"/>
            <a:ext cx="594360" cy="59436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783080" y="1993392"/>
            <a:ext cx="3383280" cy="82296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Define the contract</a:t>
            </a:r>
            <a:endParaRPr lang="en-US" sz="1800" dirty="0"/>
          </a:p>
        </p:txBody>
      </p:sp>
      <p:sp>
        <p:nvSpPr>
          <p:cNvPr id="8" name="Text 6"/>
          <p:cNvSpPr/>
          <p:nvPr/>
        </p:nvSpPr>
        <p:spPr>
          <a:xfrm>
            <a:off x="5212080" y="1993392"/>
            <a:ext cx="6126480" cy="822960"/>
          </a:xfrm>
          <a:prstGeom prst="rect">
            <a:avLst/>
          </a:prstGeom>
          <a:noFill/>
          <a:ln/>
        </p:spPr>
        <p:txBody>
          <a:bodyPr wrap="square" rtlCol="0" anchor="ctr"/>
          <a:lstStyle/>
          <a:p>
            <a:pPr indent="0" marL="0">
              <a:buNone/>
            </a:pPr>
            <a:r>
              <a:rPr lang="en-US" sz="1450" dirty="0">
                <a:solidFill>
                  <a:srgbClr val="64748B"/>
                </a:solidFill>
                <a:latin typeface="Courier New" pitchFamily="34" charset="0"/>
                <a:ea typeface="Courier New" pitchFamily="34" charset="-122"/>
                <a:cs typeface="Courier New" pitchFamily="34" charset="-120"/>
              </a:rPr>
              <a:t>The Candidate schema — the exact fields you want back.</a:t>
            </a:r>
            <a:endParaRPr lang="en-US" sz="1450" dirty="0"/>
          </a:p>
        </p:txBody>
      </p:sp>
      <p:sp>
        <p:nvSpPr>
          <p:cNvPr id="9" name="Shape 7"/>
          <p:cNvSpPr/>
          <p:nvPr/>
        </p:nvSpPr>
        <p:spPr>
          <a:xfrm>
            <a:off x="640080" y="3127248"/>
            <a:ext cx="10881360" cy="1143000"/>
          </a:xfrm>
          <a:prstGeom prst="roundRect">
            <a:avLst>
              <a:gd name="adj" fmla="val 8000"/>
            </a:avLst>
          </a:prstGeom>
          <a:solidFill>
            <a:srgbClr val="F1F5F9"/>
          </a:solidFill>
          <a:ln/>
          <a:effectLst>
            <a:outerShdw sx="100000" sy="100000" kx="0" ky="0" algn="bl" rotWithShape="0" blurRad="88900" dist="38100" dir="2700000">
              <a:srgbClr val="000000">
                <a:alpha val="10000"/>
              </a:srgbClr>
            </a:outerShdw>
          </a:effectLst>
        </p:spPr>
      </p:sp>
      <p:sp>
        <p:nvSpPr>
          <p:cNvPr id="10" name="Shape 8"/>
          <p:cNvSpPr/>
          <p:nvPr/>
        </p:nvSpPr>
        <p:spPr>
          <a:xfrm>
            <a:off x="914400" y="3401568"/>
            <a:ext cx="594360" cy="594360"/>
          </a:xfrm>
          <a:prstGeom prst="ellipse">
            <a:avLst/>
          </a:prstGeom>
          <a:solidFill>
            <a:srgbClr val="F4A338"/>
          </a:solidFill>
          <a:ln/>
        </p:spPr>
      </p:sp>
      <p:sp>
        <p:nvSpPr>
          <p:cNvPr id="11" name="Text 9"/>
          <p:cNvSpPr/>
          <p:nvPr/>
        </p:nvSpPr>
        <p:spPr>
          <a:xfrm>
            <a:off x="914400" y="3401568"/>
            <a:ext cx="594360" cy="59436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783080" y="3291840"/>
            <a:ext cx="3383280" cy="82296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Call with the schema</a:t>
            </a:r>
            <a:endParaRPr lang="en-US" sz="1800" dirty="0"/>
          </a:p>
        </p:txBody>
      </p:sp>
      <p:sp>
        <p:nvSpPr>
          <p:cNvPr id="13" name="Text 11"/>
          <p:cNvSpPr/>
          <p:nvPr/>
        </p:nvSpPr>
        <p:spPr>
          <a:xfrm>
            <a:off x="5212080" y="3291840"/>
            <a:ext cx="6126480" cy="822960"/>
          </a:xfrm>
          <a:prstGeom prst="rect">
            <a:avLst/>
          </a:prstGeom>
          <a:noFill/>
          <a:ln/>
        </p:spPr>
        <p:txBody>
          <a:bodyPr wrap="square" rtlCol="0" anchor="ctr"/>
          <a:lstStyle/>
          <a:p>
            <a:pPr indent="0" marL="0">
              <a:buNone/>
            </a:pPr>
            <a:r>
              <a:rPr lang="en-US" sz="1450" dirty="0">
                <a:solidFill>
                  <a:srgbClr val="64748B"/>
                </a:solidFill>
                <a:latin typeface="Courier New" pitchFamily="34" charset="0"/>
                <a:ea typeface="Courier New" pitchFamily="34" charset="-122"/>
                <a:cs typeface="Courier New" pitchFamily="34" charset="-120"/>
              </a:rPr>
              <a:t>run(system=..., user=RESUME, schema=Candidate)</a:t>
            </a:r>
            <a:endParaRPr lang="en-US" sz="1450" dirty="0"/>
          </a:p>
        </p:txBody>
      </p:sp>
      <p:sp>
        <p:nvSpPr>
          <p:cNvPr id="14" name="Shape 12"/>
          <p:cNvSpPr/>
          <p:nvPr/>
        </p:nvSpPr>
        <p:spPr>
          <a:xfrm>
            <a:off x="640080" y="4425696"/>
            <a:ext cx="10881360" cy="1143000"/>
          </a:xfrm>
          <a:prstGeom prst="roundRect">
            <a:avLst>
              <a:gd name="adj" fmla="val 8000"/>
            </a:avLst>
          </a:prstGeom>
          <a:solidFill>
            <a:srgbClr val="F1F5F9"/>
          </a:solidFill>
          <a:ln/>
          <a:effectLst>
            <a:outerShdw sx="100000" sy="100000" kx="0" ky="0" algn="bl" rotWithShape="0" blurRad="88900" dist="38100" dir="2700000">
              <a:srgbClr val="000000">
                <a:alpha val="10000"/>
              </a:srgbClr>
            </a:outerShdw>
          </a:effectLst>
        </p:spPr>
      </p:sp>
      <p:sp>
        <p:nvSpPr>
          <p:cNvPr id="15" name="Shape 13"/>
          <p:cNvSpPr/>
          <p:nvPr/>
        </p:nvSpPr>
        <p:spPr>
          <a:xfrm>
            <a:off x="914400" y="4700016"/>
            <a:ext cx="594360" cy="594360"/>
          </a:xfrm>
          <a:prstGeom prst="ellipse">
            <a:avLst/>
          </a:prstGeom>
          <a:solidFill>
            <a:srgbClr val="1FA971"/>
          </a:solidFill>
          <a:ln/>
        </p:spPr>
      </p:sp>
      <p:sp>
        <p:nvSpPr>
          <p:cNvPr id="16" name="Text 14"/>
          <p:cNvSpPr/>
          <p:nvPr/>
        </p:nvSpPr>
        <p:spPr>
          <a:xfrm>
            <a:off x="914400" y="4700016"/>
            <a:ext cx="594360" cy="59436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1783080" y="4590288"/>
            <a:ext cx="3383280" cy="82296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Parse and use it</a:t>
            </a:r>
            <a:endParaRPr lang="en-US" sz="1800" dirty="0"/>
          </a:p>
        </p:txBody>
      </p:sp>
      <p:sp>
        <p:nvSpPr>
          <p:cNvPr id="18" name="Text 16"/>
          <p:cNvSpPr/>
          <p:nvPr/>
        </p:nvSpPr>
        <p:spPr>
          <a:xfrm>
            <a:off x="5212080" y="4590288"/>
            <a:ext cx="6126480" cy="822960"/>
          </a:xfrm>
          <a:prstGeom prst="rect">
            <a:avLst/>
          </a:prstGeom>
          <a:noFill/>
          <a:ln/>
        </p:spPr>
        <p:txBody>
          <a:bodyPr wrap="square" rtlCol="0" anchor="ctr"/>
          <a:lstStyle/>
          <a:p>
            <a:pPr indent="0" marL="0">
              <a:buNone/>
            </a:pPr>
            <a:r>
              <a:rPr lang="en-US" sz="1450" dirty="0">
                <a:solidFill>
                  <a:srgbClr val="64748B"/>
                </a:solidFill>
                <a:latin typeface="Courier New" pitchFamily="34" charset="0"/>
                <a:ea typeface="Courier New" pitchFamily="34" charset="-122"/>
                <a:cs typeface="Courier New" pitchFamily="34" charset="-120"/>
              </a:rPr>
              <a:t>json.loads(response.text) → a real Python dict.</a:t>
            </a:r>
            <a:endParaRPr lang="en-US" sz="1450" dirty="0"/>
          </a:p>
        </p:txBody>
      </p:sp>
      <p:sp>
        <p:nvSpPr>
          <p:cNvPr id="19" name="Text 17"/>
          <p:cNvSpPr/>
          <p:nvPr/>
        </p:nvSpPr>
        <p:spPr>
          <a:xfrm>
            <a:off x="640080" y="5852160"/>
            <a:ext cx="10881360" cy="411480"/>
          </a:xfrm>
          <a:prstGeom prst="rect">
            <a:avLst/>
          </a:prstGeom>
          <a:noFill/>
          <a:ln/>
        </p:spPr>
        <p:txBody>
          <a:bodyPr wrap="square" rtlCol="0" anchor="ctr"/>
          <a:lstStyle/>
          <a:p>
            <a:pPr algn="ctr" indent="0" marL="0">
              <a:buNone/>
            </a:pPr>
            <a:r>
              <a:rPr lang="en-US" sz="1400" b="1" i="1" dirty="0">
                <a:solidFill>
                  <a:srgbClr val="0D9488"/>
                </a:solidFill>
                <a:latin typeface="Calibri" pitchFamily="34" charset="0"/>
                <a:ea typeface="Calibri" pitchFamily="34" charset="-122"/>
                <a:cs typeface="Calibri" pitchFamily="34" charset="-120"/>
              </a:rPr>
              <a:t>Same 3 moves work for invoices, support tickets, contracts — any “messy text → clean data” job.</a:t>
            </a:r>
            <a:endParaRPr lang="en-US" sz="1400" dirty="0"/>
          </a:p>
        </p:txBody>
      </p:sp>
      <p:sp>
        <p:nvSpPr>
          <p:cNvPr id="20" name="Text 18"/>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3</a:t>
            </a:r>
            <a:endParaRPr lang="en-US" sz="900" dirty="0"/>
          </a:p>
        </p:txBody>
      </p:sp>
      <p:sp>
        <p:nvSpPr>
          <p:cNvPr id="21" name="Text 19"/>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2E"/>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THE MOMENT IT CLICKS</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Read the live meter — that's a real bill, in real time</a:t>
            </a:r>
            <a:endParaRPr lang="en-US" sz="2800" dirty="0"/>
          </a:p>
        </p:txBody>
      </p:sp>
      <p:sp>
        <p:nvSpPr>
          <p:cNvPr id="4" name="Shape 2"/>
          <p:cNvSpPr/>
          <p:nvPr/>
        </p:nvSpPr>
        <p:spPr>
          <a:xfrm>
            <a:off x="640080" y="1828800"/>
            <a:ext cx="6675120" cy="3931920"/>
          </a:xfrm>
          <a:prstGeom prst="roundRect">
            <a:avLst>
              <a:gd name="adj" fmla="val 2326"/>
            </a:avLst>
          </a:prstGeom>
          <a:solidFill>
            <a:srgbClr val="0A1F22"/>
          </a:solidFill>
          <a:ln w="12700">
            <a:solidFill>
              <a:srgbClr val="21555B"/>
            </a:solidFill>
            <a:prstDash val="solid"/>
          </a:ln>
        </p:spPr>
      </p:sp>
      <p:sp>
        <p:nvSpPr>
          <p:cNvPr id="5" name="Text 3"/>
          <p:cNvSpPr/>
          <p:nvPr/>
        </p:nvSpPr>
        <p:spPr>
          <a:xfrm>
            <a:off x="914400" y="2011680"/>
            <a:ext cx="4572000" cy="320040"/>
          </a:xfrm>
          <a:prstGeom prst="rect">
            <a:avLst/>
          </a:prstGeom>
          <a:noFill/>
          <a:ln/>
        </p:spPr>
        <p:txBody>
          <a:bodyPr wrap="square" rtlCol="0" anchor="ctr"/>
          <a:lstStyle/>
          <a:p>
            <a:pPr indent="0" marL="0">
              <a:buNone/>
            </a:pPr>
            <a:r>
              <a:rPr lang="en-US" sz="1200" dirty="0">
                <a:solidFill>
                  <a:srgbClr val="6E8C90"/>
                </a:solidFill>
                <a:latin typeface="Courier New" pitchFamily="34" charset="0"/>
                <a:ea typeface="Courier New" pitchFamily="34" charset="-122"/>
                <a:cs typeface="Courier New" pitchFamily="34" charset="-120"/>
              </a:rPr>
              <a:t>notebook output</a:t>
            </a:r>
            <a:endParaRPr lang="en-US" sz="1200" dirty="0"/>
          </a:p>
        </p:txBody>
      </p:sp>
      <p:sp>
        <p:nvSpPr>
          <p:cNvPr id="6" name="Text 4"/>
          <p:cNvSpPr/>
          <p:nvPr/>
        </p:nvSpPr>
        <p:spPr>
          <a:xfrm>
            <a:off x="914400" y="2377440"/>
            <a:ext cx="6400800" cy="3108960"/>
          </a:xfrm>
          <a:prstGeom prst="rect">
            <a:avLst/>
          </a:prstGeom>
          <a:noFill/>
          <a:ln/>
        </p:spPr>
        <p:txBody>
          <a:bodyPr wrap="square" rtlCol="0" anchor="ctr"/>
          <a:lstStyle/>
          <a:p>
            <a:pPr indent="0" marL="0">
              <a:lnSpc>
                <a:spcPct val="130000"/>
              </a:lnSpc>
              <a:buNone/>
            </a:pPr>
            <a:r>
              <a:rPr lang="en-US" sz="1550" dirty="0">
                <a:solidFill>
                  <a:srgbClr val="3D6468"/>
                </a:solidFill>
                <a:latin typeface="Courier New" pitchFamily="34" charset="0"/>
                <a:ea typeface="Courier New" pitchFamily="34" charset="-122"/>
                <a:cs typeface="Courier New" pitchFamily="34" charset="-120"/>
              </a:rPr>
              <a:t>────────────────────────────────</a:t>
            </a:r>
            <a:endParaRPr lang="en-US" sz="1550" dirty="0"/>
          </a:p>
          <a:p>
            <a:pPr indent="0" marL="0">
              <a:lnSpc>
                <a:spcPct val="130000"/>
              </a:lnSpc>
              <a:buNone/>
            </a:pPr>
            <a:r>
              <a:rPr lang="en-US" sz="1550" dirty="0">
                <a:solidFill>
                  <a:srgbClr val="F4A338"/>
                </a:solidFill>
                <a:latin typeface="Courier New" pitchFamily="34" charset="0"/>
                <a:ea typeface="Courier New" pitchFamily="34" charset="-122"/>
                <a:cs typeface="Courier New" pitchFamily="34" charset="-120"/>
              </a:rPr>
              <a:t>🏷  RÉSUMÉ → STRUCTURED JSON</a:t>
            </a:r>
            <a:endParaRPr lang="en-US" sz="1550" dirty="0"/>
          </a:p>
          <a:p>
            <a:pPr indent="0" marL="0">
              <a:lnSpc>
                <a:spcPct val="130000"/>
              </a:lnSpc>
              <a:buNone/>
            </a:pPr>
            <a:r>
              <a:rPr lang="en-US" sz="1550" dirty="0">
                <a:solidFill>
                  <a:srgbClr val="5EEAD4"/>
                </a:solidFill>
                <a:latin typeface="Courier New" pitchFamily="34" charset="0"/>
                <a:ea typeface="Courier New" pitchFamily="34" charset="-122"/>
                <a:cs typeface="Courier New" pitchFamily="34" charset="-120"/>
              </a:rPr>
              <a:t>🪙  input tokens : 142</a:t>
            </a:r>
            <a:endParaRPr lang="en-US" sz="1550" dirty="0"/>
          </a:p>
          <a:p>
            <a:pPr indent="0" marL="0">
              <a:lnSpc>
                <a:spcPct val="130000"/>
              </a:lnSpc>
              <a:buNone/>
            </a:pPr>
            <a:r>
              <a:rPr lang="en-US" sz="1550" dirty="0">
                <a:solidFill>
                  <a:srgbClr val="5EEAD4"/>
                </a:solidFill>
                <a:latin typeface="Courier New" pitchFamily="34" charset="0"/>
                <a:ea typeface="Courier New" pitchFamily="34" charset="-122"/>
                <a:cs typeface="Courier New" pitchFamily="34" charset="-120"/>
              </a:rPr>
              <a:t>🪙  output tokens: 63</a:t>
            </a:r>
            <a:endParaRPr lang="en-US" sz="1550" dirty="0"/>
          </a:p>
          <a:p>
            <a:pPr indent="0" marL="0">
              <a:lnSpc>
                <a:spcPct val="130000"/>
              </a:lnSpc>
              <a:buNone/>
            </a:pPr>
            <a:r>
              <a:rPr lang="en-US" sz="1550" b="1" dirty="0">
                <a:solidFill>
                  <a:srgbClr val="FFFFFF"/>
                </a:solidFill>
                <a:latin typeface="Courier New" pitchFamily="34" charset="0"/>
                <a:ea typeface="Courier New" pitchFamily="34" charset="-122"/>
                <a:cs typeface="Courier New" pitchFamily="34" charset="-120"/>
              </a:rPr>
              <a:t>🪙  TOTAL tokens : 205</a:t>
            </a:r>
            <a:endParaRPr lang="en-US" sz="1550" dirty="0"/>
          </a:p>
          <a:p>
            <a:pPr indent="0" marL="0">
              <a:lnSpc>
                <a:spcPct val="130000"/>
              </a:lnSpc>
              <a:buNone/>
            </a:pPr>
            <a:r>
              <a:rPr lang="en-US" sz="1550" dirty="0">
                <a:solidFill>
                  <a:srgbClr val="3D6468"/>
                </a:solidFill>
                <a:latin typeface="Courier New" pitchFamily="34" charset="0"/>
                <a:ea typeface="Courier New" pitchFamily="34" charset="-122"/>
                <a:cs typeface="Courier New" pitchFamily="34" charset="-120"/>
              </a:rPr>
              <a:t>────────────────────────────────</a:t>
            </a:r>
            <a:endParaRPr lang="en-US" sz="1550" dirty="0"/>
          </a:p>
          <a:p>
            <a:pPr indent="0" marL="0">
              <a:lnSpc>
                <a:spcPct val="130000"/>
              </a:lnSpc>
              <a:buNone/>
            </a:pPr>
            <a:r>
              <a:rPr lang="en-US" sz="1550" dirty="0">
                <a:solidFill>
                  <a:srgbClr val="C9DDDF"/>
                </a:solidFill>
                <a:latin typeface="Courier New" pitchFamily="34" charset="0"/>
                <a:ea typeface="Courier New" pitchFamily="34" charset="-122"/>
                <a:cs typeface="Courier New" pitchFamily="34" charset="-120"/>
              </a:rPr>
              <a:t>{ "name": "Aarti Sharma", ... }</a:t>
            </a:r>
            <a:endParaRPr lang="en-US" sz="1550" dirty="0"/>
          </a:p>
        </p:txBody>
      </p:sp>
      <p:sp>
        <p:nvSpPr>
          <p:cNvPr id="7" name="Shape 5"/>
          <p:cNvSpPr/>
          <p:nvPr/>
        </p:nvSpPr>
        <p:spPr>
          <a:xfrm>
            <a:off x="7498080" y="1828800"/>
            <a:ext cx="4023360" cy="3931920"/>
          </a:xfrm>
          <a:prstGeom prst="roundRect">
            <a:avLst>
              <a:gd name="adj" fmla="val 2326"/>
            </a:avLst>
          </a:prstGeom>
          <a:solidFill>
            <a:srgbClr val="0D9488"/>
          </a:solidFill>
          <a:ln/>
          <a:effectLst>
            <a:outerShdw sx="100000" sy="100000" kx="0" ky="0" algn="bl" rotWithShape="0" blurRad="88900" dist="38100" dir="2700000">
              <a:srgbClr val="000000">
                <a:alpha val="22000"/>
              </a:srgbClr>
            </a:outerShdw>
          </a:effectLst>
        </p:spPr>
      </p:sp>
      <p:pic>
        <p:nvPicPr>
          <p:cNvPr id="8" name="Image 0" descr="icons/gauge_w.png">    </p:cNvPr>
          <p:cNvPicPr>
            <a:picLocks noChangeAspect="1"/>
          </p:cNvPicPr>
          <p:nvPr/>
        </p:nvPicPr>
        <p:blipFill>
          <a:blip r:embed="rId1"/>
          <a:stretch>
            <a:fillRect/>
          </a:stretch>
        </p:blipFill>
        <p:spPr>
          <a:xfrm>
            <a:off x="7818120" y="2148840"/>
            <a:ext cx="502920" cy="502920"/>
          </a:xfrm>
          <a:prstGeom prst="rect">
            <a:avLst/>
          </a:prstGeom>
        </p:spPr>
      </p:pic>
      <p:sp>
        <p:nvSpPr>
          <p:cNvPr id="9" name="Text 6"/>
          <p:cNvSpPr/>
          <p:nvPr/>
        </p:nvSpPr>
        <p:spPr>
          <a:xfrm>
            <a:off x="8458200" y="2176272"/>
            <a:ext cx="2926080" cy="457200"/>
          </a:xfrm>
          <a:prstGeom prst="rect">
            <a:avLst/>
          </a:prstGeom>
          <a:noFill/>
          <a:ln/>
        </p:spPr>
        <p:txBody>
          <a:bodyPr wrap="square" rtlCol="0" anchor="ctr"/>
          <a:lstStyle/>
          <a:p>
            <a:pPr indent="0" marL="0">
              <a:buNone/>
            </a:pPr>
            <a:r>
              <a:rPr lang="en-US" sz="1500" b="1" dirty="0">
                <a:solidFill>
                  <a:srgbClr val="0F2A2E"/>
                </a:solidFill>
                <a:latin typeface="Calibri" pitchFamily="34" charset="0"/>
                <a:ea typeface="Calibri" pitchFamily="34" charset="-122"/>
                <a:cs typeface="Calibri" pitchFamily="34" charset="-120"/>
              </a:rPr>
              <a:t>This is the whole workshop</a:t>
            </a:r>
            <a:endParaRPr lang="en-US" sz="1500" dirty="0"/>
          </a:p>
        </p:txBody>
      </p:sp>
      <p:sp>
        <p:nvSpPr>
          <p:cNvPr id="10" name="Text 7"/>
          <p:cNvSpPr/>
          <p:nvPr/>
        </p:nvSpPr>
        <p:spPr>
          <a:xfrm>
            <a:off x="7818120" y="2926080"/>
            <a:ext cx="3520440" cy="2377440"/>
          </a:xfrm>
          <a:prstGeom prst="rect">
            <a:avLst/>
          </a:prstGeom>
          <a:noFill/>
          <a:ln/>
        </p:spPr>
        <p:txBody>
          <a:bodyPr wrap="square" rtlCol="0" anchor="ctr"/>
          <a:lstStyle/>
          <a:p>
            <a:pPr indent="0" marL="0">
              <a:lnSpc>
                <a:spcPct val="110000"/>
              </a:lnSpc>
              <a:buNone/>
            </a:pPr>
            <a:r>
              <a:rPr lang="en-US" sz="1600" b="1" dirty="0">
                <a:solidFill>
                  <a:srgbClr val="FFFFFF"/>
                </a:solidFill>
                <a:latin typeface="Cambria" pitchFamily="34" charset="0"/>
                <a:ea typeface="Cambria" pitchFamily="34" charset="-122"/>
                <a:cs typeface="Cambria" pitchFamily="34" charset="-120"/>
              </a:rPr>
              <a:t>You sent text. You got data.
</a:t>
            </a:r>
            <a:endParaRPr lang="en-US" sz="1600" dirty="0"/>
          </a:p>
          <a:p>
            <a:pPr indent="0" marL="0">
              <a:lnSpc>
                <a:spcPct val="110000"/>
              </a:lnSpc>
              <a:buNone/>
            </a:pPr>
            <a:r>
              <a:rPr lang="en-US" sz="1600" dirty="0">
                <a:solidFill>
                  <a:srgbClr val="FFFFFF"/>
                </a:solidFill>
                <a:latin typeface="Cambria" pitchFamily="34" charset="0"/>
                <a:ea typeface="Cambria" pitchFamily="34" charset="-122"/>
                <a:cs typeface="Cambria" pitchFamily="34" charset="-120"/>
              </a:rPr>
              <a:t>You can see exactly what it cost.</a:t>
            </a:r>
            <a:endParaRPr lang="en-US" sz="1600" dirty="0"/>
          </a:p>
          <a:p>
            <a:pPr indent="0" marL="0">
              <a:lnSpc>
                <a:spcPct val="110000"/>
              </a:lnSpc>
              <a:buNone/>
            </a:pPr>
            <a:endParaRPr lang="en-US" sz="1600" dirty="0"/>
          </a:p>
          <a:p>
            <a:pPr indent="0" marL="0">
              <a:lnSpc>
                <a:spcPct val="110000"/>
              </a:lnSpc>
              <a:buNone/>
            </a:pPr>
            <a:r>
              <a:rPr lang="en-US" sz="1600" b="1" dirty="0">
                <a:solidFill>
                  <a:srgbClr val="0F2A2E"/>
                </a:solidFill>
                <a:latin typeface="Cambria" pitchFamily="34" charset="0"/>
                <a:ea typeface="Cambria" pitchFamily="34" charset="-122"/>
                <a:cs typeface="Cambria" pitchFamily="34" charset="-120"/>
              </a:rPr>
              <a:t>No GPU. No bill. Full control.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E05252"/>
                </a:solidFill>
                <a:latin typeface="Calibri" pitchFamily="34" charset="0"/>
                <a:ea typeface="Calibri" pitchFamily="34" charset="-122"/>
                <a:cs typeface="Calibri" pitchFamily="34" charset="-120"/>
              </a:rPr>
              <a:t>MAKE IT PRODUCTION-GRADE</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Real apps handle the API misbehaving</a:t>
            </a:r>
            <a:endParaRPr lang="en-US" sz="3000" dirty="0"/>
          </a:p>
        </p:txBody>
      </p:sp>
      <p:sp>
        <p:nvSpPr>
          <p:cNvPr id="4" name="Shape 2"/>
          <p:cNvSpPr/>
          <p:nvPr/>
        </p:nvSpPr>
        <p:spPr>
          <a:xfrm>
            <a:off x="640080" y="1828800"/>
            <a:ext cx="10881360" cy="896112"/>
          </a:xfrm>
          <a:prstGeom prst="roundRect">
            <a:avLst>
              <a:gd name="adj" fmla="val 8163"/>
            </a:avLst>
          </a:prstGeom>
          <a:solidFill>
            <a:srgbClr val="E8F4F2"/>
          </a:solidFill>
          <a:ln/>
        </p:spPr>
      </p:sp>
      <p:sp>
        <p:nvSpPr>
          <p:cNvPr id="5" name="Shape 3"/>
          <p:cNvSpPr/>
          <p:nvPr/>
        </p:nvSpPr>
        <p:spPr>
          <a:xfrm>
            <a:off x="868680" y="2048256"/>
            <a:ext cx="457200" cy="457200"/>
          </a:xfrm>
          <a:prstGeom prst="ellipse">
            <a:avLst/>
          </a:prstGeom>
          <a:solidFill>
            <a:srgbClr val="E05252"/>
          </a:solidFill>
          <a:ln/>
        </p:spPr>
      </p:sp>
      <p:pic>
        <p:nvPicPr>
          <p:cNvPr id="6" name="Image 0" descr="icons/warn.png">    </p:cNvPr>
          <p:cNvPicPr>
            <a:picLocks noChangeAspect="1"/>
          </p:cNvPicPr>
          <p:nvPr/>
        </p:nvPicPr>
        <p:blipFill>
          <a:blip r:embed="rId1"/>
          <a:stretch>
            <a:fillRect/>
          </a:stretch>
        </p:blipFill>
        <p:spPr>
          <a:xfrm>
            <a:off x="960120" y="2139696"/>
            <a:ext cx="274320" cy="274320"/>
          </a:xfrm>
          <a:prstGeom prst="rect">
            <a:avLst/>
          </a:prstGeom>
        </p:spPr>
      </p:pic>
      <p:sp>
        <p:nvSpPr>
          <p:cNvPr id="7" name="Text 4"/>
          <p:cNvSpPr/>
          <p:nvPr/>
        </p:nvSpPr>
        <p:spPr>
          <a:xfrm>
            <a:off x="1508760" y="1828800"/>
            <a:ext cx="3657600" cy="896112"/>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Rate limits (429)</a:t>
            </a:r>
            <a:endParaRPr lang="en-US" sz="1600" dirty="0"/>
          </a:p>
        </p:txBody>
      </p:sp>
      <p:sp>
        <p:nvSpPr>
          <p:cNvPr id="8" name="Text 5"/>
          <p:cNvSpPr/>
          <p:nvPr/>
        </p:nvSpPr>
        <p:spPr>
          <a:xfrm>
            <a:off x="5212080" y="1828800"/>
            <a:ext cx="6126480" cy="896112"/>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Free tiers cap requests/min. Add a short retry + delay in loops.</a:t>
            </a:r>
            <a:endParaRPr lang="en-US" sz="1350" dirty="0"/>
          </a:p>
        </p:txBody>
      </p:sp>
      <p:sp>
        <p:nvSpPr>
          <p:cNvPr id="9" name="Shape 6"/>
          <p:cNvSpPr/>
          <p:nvPr/>
        </p:nvSpPr>
        <p:spPr>
          <a:xfrm>
            <a:off x="640080" y="2834640"/>
            <a:ext cx="10881360" cy="896112"/>
          </a:xfrm>
          <a:prstGeom prst="roundRect">
            <a:avLst>
              <a:gd name="adj" fmla="val 8163"/>
            </a:avLst>
          </a:prstGeom>
          <a:solidFill>
            <a:srgbClr val="F1F5F9"/>
          </a:solidFill>
          <a:ln/>
        </p:spPr>
      </p:sp>
      <p:sp>
        <p:nvSpPr>
          <p:cNvPr id="10" name="Shape 7"/>
          <p:cNvSpPr/>
          <p:nvPr/>
        </p:nvSpPr>
        <p:spPr>
          <a:xfrm>
            <a:off x="868680" y="3054096"/>
            <a:ext cx="457200" cy="457200"/>
          </a:xfrm>
          <a:prstGeom prst="ellipse">
            <a:avLst/>
          </a:prstGeom>
          <a:solidFill>
            <a:srgbClr val="E05252"/>
          </a:solidFill>
          <a:ln/>
        </p:spPr>
      </p:sp>
      <p:pic>
        <p:nvPicPr>
          <p:cNvPr id="11" name="Image 1" descr="icons/warn.png">    </p:cNvPr>
          <p:cNvPicPr>
            <a:picLocks noChangeAspect="1"/>
          </p:cNvPicPr>
          <p:nvPr/>
        </p:nvPicPr>
        <p:blipFill>
          <a:blip r:embed="rId2"/>
          <a:stretch>
            <a:fillRect/>
          </a:stretch>
        </p:blipFill>
        <p:spPr>
          <a:xfrm>
            <a:off x="960120" y="3145536"/>
            <a:ext cx="274320" cy="274320"/>
          </a:xfrm>
          <a:prstGeom prst="rect">
            <a:avLst/>
          </a:prstGeom>
        </p:spPr>
      </p:pic>
      <p:sp>
        <p:nvSpPr>
          <p:cNvPr id="12" name="Text 8"/>
          <p:cNvSpPr/>
          <p:nvPr/>
        </p:nvSpPr>
        <p:spPr>
          <a:xfrm>
            <a:off x="1508760" y="2834640"/>
            <a:ext cx="3657600" cy="896112"/>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Malformed output</a:t>
            </a:r>
            <a:endParaRPr lang="en-US" sz="1600" dirty="0"/>
          </a:p>
        </p:txBody>
      </p:sp>
      <p:sp>
        <p:nvSpPr>
          <p:cNvPr id="13" name="Text 9"/>
          <p:cNvSpPr/>
          <p:nvPr/>
        </p:nvSpPr>
        <p:spPr>
          <a:xfrm>
            <a:off x="5212080" y="2834640"/>
            <a:ext cx="6126480" cy="896112"/>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Even with a schema, validate before you trust. Wrap in try/except.</a:t>
            </a:r>
            <a:endParaRPr lang="en-US" sz="1350" dirty="0"/>
          </a:p>
        </p:txBody>
      </p:sp>
      <p:sp>
        <p:nvSpPr>
          <p:cNvPr id="14" name="Shape 10"/>
          <p:cNvSpPr/>
          <p:nvPr/>
        </p:nvSpPr>
        <p:spPr>
          <a:xfrm>
            <a:off x="640080" y="3840480"/>
            <a:ext cx="10881360" cy="896112"/>
          </a:xfrm>
          <a:prstGeom prst="roundRect">
            <a:avLst>
              <a:gd name="adj" fmla="val 8163"/>
            </a:avLst>
          </a:prstGeom>
          <a:solidFill>
            <a:srgbClr val="E8F4F2"/>
          </a:solidFill>
          <a:ln/>
        </p:spPr>
      </p:sp>
      <p:sp>
        <p:nvSpPr>
          <p:cNvPr id="15" name="Shape 11"/>
          <p:cNvSpPr/>
          <p:nvPr/>
        </p:nvSpPr>
        <p:spPr>
          <a:xfrm>
            <a:off x="868680" y="4059936"/>
            <a:ext cx="457200" cy="457200"/>
          </a:xfrm>
          <a:prstGeom prst="ellipse">
            <a:avLst/>
          </a:prstGeom>
          <a:solidFill>
            <a:srgbClr val="E05252"/>
          </a:solidFill>
          <a:ln/>
        </p:spPr>
      </p:sp>
      <p:pic>
        <p:nvPicPr>
          <p:cNvPr id="16" name="Image 2" descr="icons/warn.png">    </p:cNvPr>
          <p:cNvPicPr>
            <a:picLocks noChangeAspect="1"/>
          </p:cNvPicPr>
          <p:nvPr/>
        </p:nvPicPr>
        <p:blipFill>
          <a:blip r:embed="rId3"/>
          <a:stretch>
            <a:fillRect/>
          </a:stretch>
        </p:blipFill>
        <p:spPr>
          <a:xfrm>
            <a:off x="960120" y="4151376"/>
            <a:ext cx="274320" cy="274320"/>
          </a:xfrm>
          <a:prstGeom prst="rect">
            <a:avLst/>
          </a:prstGeom>
        </p:spPr>
      </p:pic>
      <p:sp>
        <p:nvSpPr>
          <p:cNvPr id="17" name="Text 12"/>
          <p:cNvSpPr/>
          <p:nvPr/>
        </p:nvSpPr>
        <p:spPr>
          <a:xfrm>
            <a:off x="1508760" y="3840480"/>
            <a:ext cx="3657600" cy="896112"/>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Latency spikes</a:t>
            </a:r>
            <a:endParaRPr lang="en-US" sz="1600" dirty="0"/>
          </a:p>
        </p:txBody>
      </p:sp>
      <p:sp>
        <p:nvSpPr>
          <p:cNvPr id="18" name="Text 13"/>
          <p:cNvSpPr/>
          <p:nvPr/>
        </p:nvSpPr>
        <p:spPr>
          <a:xfrm>
            <a:off x="5212080" y="3840480"/>
            <a:ext cx="6126480" cy="896112"/>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A call can be slow. Set timeouts; don't block your whole app on one.</a:t>
            </a:r>
            <a:endParaRPr lang="en-US" sz="1350" dirty="0"/>
          </a:p>
        </p:txBody>
      </p:sp>
      <p:sp>
        <p:nvSpPr>
          <p:cNvPr id="19" name="Shape 14"/>
          <p:cNvSpPr/>
          <p:nvPr/>
        </p:nvSpPr>
        <p:spPr>
          <a:xfrm>
            <a:off x="640080" y="4846320"/>
            <a:ext cx="10881360" cy="896112"/>
          </a:xfrm>
          <a:prstGeom prst="roundRect">
            <a:avLst>
              <a:gd name="adj" fmla="val 8163"/>
            </a:avLst>
          </a:prstGeom>
          <a:solidFill>
            <a:srgbClr val="F1F5F9"/>
          </a:solidFill>
          <a:ln/>
        </p:spPr>
      </p:sp>
      <p:sp>
        <p:nvSpPr>
          <p:cNvPr id="20" name="Shape 15"/>
          <p:cNvSpPr/>
          <p:nvPr/>
        </p:nvSpPr>
        <p:spPr>
          <a:xfrm>
            <a:off x="868680" y="5065776"/>
            <a:ext cx="457200" cy="457200"/>
          </a:xfrm>
          <a:prstGeom prst="ellipse">
            <a:avLst/>
          </a:prstGeom>
          <a:solidFill>
            <a:srgbClr val="E05252"/>
          </a:solidFill>
          <a:ln/>
        </p:spPr>
      </p:sp>
      <p:pic>
        <p:nvPicPr>
          <p:cNvPr id="21" name="Image 3" descr="icons/warn.png">    </p:cNvPr>
          <p:cNvPicPr>
            <a:picLocks noChangeAspect="1"/>
          </p:cNvPicPr>
          <p:nvPr/>
        </p:nvPicPr>
        <p:blipFill>
          <a:blip r:embed="rId4"/>
          <a:stretch>
            <a:fillRect/>
          </a:stretch>
        </p:blipFill>
        <p:spPr>
          <a:xfrm>
            <a:off x="960120" y="5157216"/>
            <a:ext cx="274320" cy="274320"/>
          </a:xfrm>
          <a:prstGeom prst="rect">
            <a:avLst/>
          </a:prstGeom>
        </p:spPr>
      </p:pic>
      <p:sp>
        <p:nvSpPr>
          <p:cNvPr id="22" name="Text 16"/>
          <p:cNvSpPr/>
          <p:nvPr/>
        </p:nvSpPr>
        <p:spPr>
          <a:xfrm>
            <a:off x="1508760" y="4846320"/>
            <a:ext cx="3657600" cy="896112"/>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Cost runaway</a:t>
            </a:r>
            <a:endParaRPr lang="en-US" sz="1600" dirty="0"/>
          </a:p>
        </p:txBody>
      </p:sp>
      <p:sp>
        <p:nvSpPr>
          <p:cNvPr id="23" name="Text 17"/>
          <p:cNvSpPr/>
          <p:nvPr/>
        </p:nvSpPr>
        <p:spPr>
          <a:xfrm>
            <a:off x="5212080" y="4846320"/>
            <a:ext cx="6126480" cy="896112"/>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A loop over 10k rows is 10k calls. Estimate tokens before you run it.</a:t>
            </a:r>
            <a:endParaRPr lang="en-US" sz="1350" dirty="0"/>
          </a:p>
        </p:txBody>
      </p:sp>
      <p:sp>
        <p:nvSpPr>
          <p:cNvPr id="24" name="Text 18"/>
          <p:cNvSpPr/>
          <p:nvPr/>
        </p:nvSpPr>
        <p:spPr>
          <a:xfrm>
            <a:off x="640080" y="5943600"/>
            <a:ext cx="10881360" cy="365760"/>
          </a:xfrm>
          <a:prstGeom prst="rect">
            <a:avLst/>
          </a:prstGeom>
          <a:noFill/>
          <a:ln/>
        </p:spPr>
        <p:txBody>
          <a:bodyPr wrap="square" rtlCol="0" anchor="ctr"/>
          <a:lstStyle/>
          <a:p>
            <a:pPr algn="ctr" indent="0" marL="0">
              <a:buNone/>
            </a:pPr>
            <a:r>
              <a:rPr lang="en-US" sz="1400" b="1" i="1" dirty="0">
                <a:solidFill>
                  <a:srgbClr val="0D9488"/>
                </a:solidFill>
                <a:latin typeface="Calibri" pitchFamily="34" charset="0"/>
                <a:ea typeface="Calibri" pitchFamily="34" charset="-122"/>
                <a:cs typeface="Calibri" pitchFamily="34" charset="-120"/>
              </a:rPr>
              <a:t>The core skill isn't calling the API — it's calling it reliably when things go wrong.</a:t>
            </a:r>
            <a:endParaRPr lang="en-US" sz="1400" dirty="0"/>
          </a:p>
        </p:txBody>
      </p:sp>
      <p:sp>
        <p:nvSpPr>
          <p:cNvPr id="25" name="Text 19"/>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3</a:t>
            </a:r>
            <a:endParaRPr lang="en-US" sz="900" dirty="0"/>
          </a:p>
        </p:txBody>
      </p:sp>
      <p:sp>
        <p:nvSpPr>
          <p:cNvPr id="26" name="Text 20"/>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2E"/>
        </a:solidFill>
      </p:bgPr>
    </p:bg>
    <p:spTree>
      <p:nvGrpSpPr>
        <p:cNvPr id="1" name=""/>
        <p:cNvGrpSpPr/>
        <p:nvPr/>
      </p:nvGrpSpPr>
      <p:grpSpPr>
        <a:xfrm>
          <a:off x="0" y="0"/>
          <a:ext cx="0" cy="0"/>
          <a:chOff x="0" y="0"/>
          <a:chExt cx="0" cy="0"/>
        </a:xfrm>
      </p:grpSpPr>
      <p:sp>
        <p:nvSpPr>
          <p:cNvPr id="2" name="Shape 0"/>
          <p:cNvSpPr/>
          <p:nvPr/>
        </p:nvSpPr>
        <p:spPr>
          <a:xfrm>
            <a:off x="9509760" y="-1463040"/>
            <a:ext cx="5486400" cy="5486400"/>
          </a:xfrm>
          <a:prstGeom prst="ellipse">
            <a:avLst/>
          </a:prstGeom>
          <a:solidFill>
            <a:srgbClr val="0D9488">
              <a:alpha val="12000"/>
            </a:srgbClr>
          </a:solidFill>
          <a:ln/>
        </p:spPr>
      </p:sp>
      <p:sp>
        <p:nvSpPr>
          <p:cNvPr id="3" name="Text 1"/>
          <p:cNvSpPr/>
          <p:nvPr/>
        </p:nvSpPr>
        <p:spPr>
          <a:xfrm>
            <a:off x="640080" y="502920"/>
            <a:ext cx="82296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MODULE 3 — LOCKED IN</a:t>
            </a:r>
            <a:endParaRPr lang="en-US" sz="1250" dirty="0"/>
          </a:p>
        </p:txBody>
      </p:sp>
      <p:sp>
        <p:nvSpPr>
          <p:cNvPr id="4" name="Text 2"/>
          <p:cNvSpPr/>
          <p:nvPr/>
        </p:nvSpPr>
        <p:spPr>
          <a:xfrm>
            <a:off x="640080" y="868680"/>
            <a:ext cx="105156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 just shipped an AI app — for ₹0</a:t>
            </a:r>
            <a:endParaRPr lang="en-US" sz="3200" dirty="0"/>
          </a:p>
        </p:txBody>
      </p:sp>
      <p:pic>
        <p:nvPicPr>
          <p:cNvPr id="5" name="Image 0" descr="icons/check.png">    </p:cNvPr>
          <p:cNvPicPr>
            <a:picLocks noChangeAspect="1"/>
          </p:cNvPicPr>
          <p:nvPr/>
        </p:nvPicPr>
        <p:blipFill>
          <a:blip r:embed="rId1"/>
          <a:stretch>
            <a:fillRect/>
          </a:stretch>
        </p:blipFill>
        <p:spPr>
          <a:xfrm>
            <a:off x="731520" y="1828800"/>
            <a:ext cx="384048" cy="384048"/>
          </a:xfrm>
          <a:prstGeom prst="rect">
            <a:avLst/>
          </a:prstGeom>
        </p:spPr>
      </p:pic>
      <p:sp>
        <p:nvSpPr>
          <p:cNvPr id="6" name="Text 3"/>
          <p:cNvSpPr/>
          <p:nvPr/>
        </p:nvSpPr>
        <p:spPr>
          <a:xfrm>
            <a:off x="1325880" y="1783080"/>
            <a:ext cx="786384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AI is API-first: you consume hosted models, you don't train them</a:t>
            </a:r>
            <a:endParaRPr lang="en-US" sz="1650" dirty="0"/>
          </a:p>
        </p:txBody>
      </p:sp>
      <p:pic>
        <p:nvPicPr>
          <p:cNvPr id="7" name="Image 1" descr="icons/check.png">    </p:cNvPr>
          <p:cNvPicPr>
            <a:picLocks noChangeAspect="1"/>
          </p:cNvPicPr>
          <p:nvPr/>
        </p:nvPicPr>
        <p:blipFill>
          <a:blip r:embed="rId2"/>
          <a:stretch>
            <a:fillRect/>
          </a:stretch>
        </p:blipFill>
        <p:spPr>
          <a:xfrm>
            <a:off x="731520" y="2395728"/>
            <a:ext cx="384048" cy="384048"/>
          </a:xfrm>
          <a:prstGeom prst="rect">
            <a:avLst/>
          </a:prstGeom>
        </p:spPr>
      </p:pic>
      <p:sp>
        <p:nvSpPr>
          <p:cNvPr id="8" name="Text 4"/>
          <p:cNvSpPr/>
          <p:nvPr/>
        </p:nvSpPr>
        <p:spPr>
          <a:xfrm>
            <a:off x="1325880" y="2350008"/>
            <a:ext cx="786384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A 10-line script + a free key = a real, running application</a:t>
            </a:r>
            <a:endParaRPr lang="en-US" sz="1650" dirty="0"/>
          </a:p>
        </p:txBody>
      </p:sp>
      <p:pic>
        <p:nvPicPr>
          <p:cNvPr id="9" name="Image 2" descr="icons/check.png">    </p:cNvPr>
          <p:cNvPicPr>
            <a:picLocks noChangeAspect="1"/>
          </p:cNvPicPr>
          <p:nvPr/>
        </p:nvPicPr>
        <p:blipFill>
          <a:blip r:embed="rId3"/>
          <a:stretch>
            <a:fillRect/>
          </a:stretch>
        </p:blipFill>
        <p:spPr>
          <a:xfrm>
            <a:off x="731520" y="2962656"/>
            <a:ext cx="384048" cy="384048"/>
          </a:xfrm>
          <a:prstGeom prst="rect">
            <a:avLst/>
          </a:prstGeom>
        </p:spPr>
      </p:pic>
      <p:sp>
        <p:nvSpPr>
          <p:cNvPr id="10" name="Text 5"/>
          <p:cNvSpPr/>
          <p:nvPr/>
        </p:nvSpPr>
        <p:spPr>
          <a:xfrm>
            <a:off x="1325880" y="2916936"/>
            <a:ext cx="786384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A response schema turns a demo into a dependable feature</a:t>
            </a:r>
            <a:endParaRPr lang="en-US" sz="1650" dirty="0"/>
          </a:p>
        </p:txBody>
      </p:sp>
      <p:pic>
        <p:nvPicPr>
          <p:cNvPr id="11" name="Image 3" descr="icons/check.png">    </p:cNvPr>
          <p:cNvPicPr>
            <a:picLocks noChangeAspect="1"/>
          </p:cNvPicPr>
          <p:nvPr/>
        </p:nvPicPr>
        <p:blipFill>
          <a:blip r:embed="rId4"/>
          <a:stretch>
            <a:fillRect/>
          </a:stretch>
        </p:blipFill>
        <p:spPr>
          <a:xfrm>
            <a:off x="731520" y="3529584"/>
            <a:ext cx="384048" cy="384048"/>
          </a:xfrm>
          <a:prstGeom prst="rect">
            <a:avLst/>
          </a:prstGeom>
        </p:spPr>
      </p:pic>
      <p:sp>
        <p:nvSpPr>
          <p:cNvPr id="12" name="Text 6"/>
          <p:cNvSpPr/>
          <p:nvPr/>
        </p:nvSpPr>
        <p:spPr>
          <a:xfrm>
            <a:off x="1325880" y="3483864"/>
            <a:ext cx="786384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RAG grounds answers in your data — no fine-tuning, no GPU</a:t>
            </a:r>
            <a:endParaRPr lang="en-US" sz="1650" dirty="0"/>
          </a:p>
        </p:txBody>
      </p:sp>
      <p:pic>
        <p:nvPicPr>
          <p:cNvPr id="13" name="Image 4" descr="icons/check.png">    </p:cNvPr>
          <p:cNvPicPr>
            <a:picLocks noChangeAspect="1"/>
          </p:cNvPicPr>
          <p:nvPr/>
        </p:nvPicPr>
        <p:blipFill>
          <a:blip r:embed="rId5"/>
          <a:stretch>
            <a:fillRect/>
          </a:stretch>
        </p:blipFill>
        <p:spPr>
          <a:xfrm>
            <a:off x="731520" y="4096512"/>
            <a:ext cx="384048" cy="384048"/>
          </a:xfrm>
          <a:prstGeom prst="rect">
            <a:avLst/>
          </a:prstGeom>
        </p:spPr>
      </p:pic>
      <p:sp>
        <p:nvSpPr>
          <p:cNvPr id="14" name="Text 7"/>
          <p:cNvSpPr/>
          <p:nvPr/>
        </p:nvSpPr>
        <p:spPr>
          <a:xfrm>
            <a:off x="1325880" y="4050792"/>
            <a:ext cx="786384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Production = handling rate limits, bad output, latency, cost</a:t>
            </a:r>
            <a:endParaRPr lang="en-US" sz="1650" dirty="0"/>
          </a:p>
        </p:txBody>
      </p:sp>
      <p:sp>
        <p:nvSpPr>
          <p:cNvPr id="15" name="Shape 8"/>
          <p:cNvSpPr/>
          <p:nvPr/>
        </p:nvSpPr>
        <p:spPr>
          <a:xfrm>
            <a:off x="640080" y="4846320"/>
            <a:ext cx="10881360" cy="1417320"/>
          </a:xfrm>
          <a:prstGeom prst="roundRect">
            <a:avLst>
              <a:gd name="adj" fmla="val 6452"/>
            </a:avLst>
          </a:prstGeom>
          <a:solidFill>
            <a:srgbClr val="F4A338"/>
          </a:solidFill>
          <a:ln/>
          <a:effectLst>
            <a:outerShdw sx="100000" sy="100000" kx="0" ky="0" algn="bl" rotWithShape="0" blurRad="88900" dist="38100" dir="2700000">
              <a:srgbClr val="000000">
                <a:alpha val="25000"/>
              </a:srgbClr>
            </a:outerShdw>
          </a:effectLst>
        </p:spPr>
      </p:sp>
      <p:pic>
        <p:nvPicPr>
          <p:cNvPr id="16" name="Image 5" descr="icons/point.png">    </p:cNvPr>
          <p:cNvPicPr>
            <a:picLocks noChangeAspect="1"/>
          </p:cNvPicPr>
          <p:nvPr/>
        </p:nvPicPr>
        <p:blipFill>
          <a:blip r:embed="rId6"/>
          <a:stretch>
            <a:fillRect/>
          </a:stretch>
        </p:blipFill>
        <p:spPr>
          <a:xfrm>
            <a:off x="960120" y="5212080"/>
            <a:ext cx="640080" cy="640080"/>
          </a:xfrm>
          <a:prstGeom prst="rect">
            <a:avLst/>
          </a:prstGeom>
        </p:spPr>
      </p:pic>
      <p:sp>
        <p:nvSpPr>
          <p:cNvPr id="17" name="Text 9"/>
          <p:cNvSpPr/>
          <p:nvPr/>
        </p:nvSpPr>
        <p:spPr>
          <a:xfrm>
            <a:off x="1828800" y="4937760"/>
            <a:ext cx="9509760" cy="1234440"/>
          </a:xfrm>
          <a:prstGeom prst="rect">
            <a:avLst/>
          </a:prstGeom>
          <a:noFill/>
          <a:ln/>
        </p:spPr>
        <p:txBody>
          <a:bodyPr wrap="square" rtlCol="0" anchor="ctr"/>
          <a:lstStyle/>
          <a:p>
            <a:pPr indent="0" marL="0">
              <a:buNone/>
            </a:pPr>
            <a:r>
              <a:rPr lang="en-US" sz="1550" b="1" dirty="0">
                <a:solidFill>
                  <a:srgbClr val="0F2A2E"/>
                </a:solidFill>
                <a:latin typeface="Calibri" pitchFamily="34" charset="0"/>
                <a:ea typeface="Calibri" pitchFamily="34" charset="-122"/>
                <a:cs typeface="Calibri" pitchFamily="34" charset="-120"/>
              </a:rPr>
              <a:t>DO TONIGHT:  </a:t>
            </a:r>
            <a:pPr indent="0" marL="0">
              <a:buNone/>
            </a:pPr>
            <a:r>
              <a:rPr lang="en-US" sz="1550" dirty="0">
                <a:solidFill>
                  <a:srgbClr val="0F2A2E"/>
                </a:solidFill>
                <a:latin typeface="Calibri" pitchFamily="34" charset="0"/>
                <a:ea typeface="Calibri" pitchFamily="34" charset="-122"/>
                <a:cs typeface="Calibri" pitchFamily="34" charset="-120"/>
              </a:rPr>
              <a:t>Paste your OWN CV into the notebook and extract it. Then add one field to the schema (e.g. languages) and re-run. Next module: let the model TAKE ACTIONS, not just return data.</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Building Real Applications Without a GPU</dc:title>
  <dc:subject>PptxGenJS Presentation</dc:subject>
  <dc:creator>Pramit Mitra</dc:creator>
  <cp:lastModifiedBy>Pramit Mitra</cp:lastModifiedBy>
  <cp:revision>1</cp:revision>
  <dcterms:created xsi:type="dcterms:W3CDTF">2026-06-17T19:04:39Z</dcterms:created>
  <dcterms:modified xsi:type="dcterms:W3CDTF">2026-06-17T19:04:39Z</dcterms:modified>
</cp:coreProperties>
</file>