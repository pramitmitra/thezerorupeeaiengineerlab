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4748B"/>
                </a:solidFill>
                <a:latin typeface="Calibri"/>
              </a:defRPr>
            </a:pPr>
            <a:r>
              <a:rPr sz="1300" b="0" i="0" u="none" strike="noStrike">
                <a:solidFill>
                  <a:srgbClr val="64748B"/>
                </a:solidFill>
                <a:latin typeface="Calibri"/>
              </a:rPr>
              <a:t>Tokens per call  (lower = cheaper)</a:t>
            </a:r>
          </a:p>
        </c:rich>
      </c:tx>
      <c:layout/>
      <c:overlay val="0"/>
    </c:title>
    <c:autoTitleDeleted val="0"/>
    <c:plotArea>
      <c:layout/>
      <c:barChart>
        <c:barDir val="col"/>
        <c:grouping val="clustered"/>
        <c:varyColors val="0"/>
        <c:ser>
          <c:idx val="0"/>
          <c:order val="0"/>
          <c:tx>
            <c:strRef>
              <c:f>Sheet1!$B$1</c:f>
              <c:strCache>
                <c:ptCount val="1"/>
                <c:pt idx="0">
                  <c:v>Tokens per call</c:v>
                </c:pt>
              </c:strCache>
            </c:strRef>
          </c:tx>
          <c:spPr>
            <a:solidFill>
              <a:srgbClr val="E05252"/>
            </a:solidFill>
            <a:effectLst/>
          </c:spPr>
          <c:invertIfNegative val="0"/>
          <c:dLbls>
            <c:numFmt formatCode="#,##0"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05252"/>
              </a:solidFill>
              <a:effectLst/>
            </c:spPr>
          </c:dPt>
          <c:dPt>
            <c:idx val="1"/>
            <c:invertIfNegative val="0"/>
            <c:bubble3D val="0"/>
            <c:spPr>
              <a:solidFill>
                <a:srgbClr val="1FA971"/>
              </a:solidFill>
              <a:effectLst/>
            </c:spPr>
          </c:dPt>
          <c:cat>
            <c:multiLvlStrRef>
              <c:f>Sheet1!$A$2:$A$3</c:f>
              <c:multiLvlStrCache>
                <c:ptCount val="2"/>
                <c:lvl>
                  <c:pt idx="0">
                    <c:v>Naive prompt</c:v>
                  </c:pt>
                  <c:pt idx="1">
                    <c:v>Engineered prompt</c:v>
                  </c:pt>
                </c:lvl>
              </c:multiLvlStrCache>
            </c:multiLvlStrRef>
          </c:cat>
          <c:val>
            <c:numRef>
              <c:f>Sheet1!$B$2:$B$3</c:f>
              <c:numCache>
                <c:formatCode>General</c:formatCode>
                <c:ptCount val="2"/>
                <c:pt idx="0">
                  <c:v>210</c:v>
                </c:pt>
                <c:pt idx="1">
                  <c:v>90</c:v>
                </c:pt>
              </c:numCache>
            </c:numRef>
          </c:val>
        </c:ser>
        <c:dLbls>
          <c:numFmt formatCode="#,##0"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 Callback to Module 1: 'last hour you learned to READ the meter. This hour you learn to TURN THE DIAL.' Prompt engineering gets dismissed as just typing questions — reframe it immediately as a design discipline with measurable outputs: same task, two prompts, and we'll MEASURE the difference in quality AND tokens, not just describe it. The whole module ends with a hands-on lab in Google AI Studio where they prove it themselves. Keep the cost thread from M1 alive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(0:45-2:30). Make the amateur/professional split vivid — most students are firmly in the left column today, and that's fine, that's why they're here. The professional treats a prompt like code: structured, deliberate, versioned, measured. Key line: 'the difference isn't talent, it's method — and method is teachable.' This sets up the four techniques and the lab where they cross over to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(2:30-4:30). The single most useful mental model: a prompt is a function with named parts. Walk top to bottom. ROLE sets behaviour cheaply. TASK must be ONE clear instruction — vagueness is the #1 failure. CONTEXT is where examples live (leads into few-shot). OUTPUT FORMAT is what makes the response consumable by real code — emphasise this, it's the bridge from 'chatbot toy' to 'application component.' Tell them: every technique we cover next is just a smarter way to fill one of these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vs user (4:30-6:00). The architecture move that separates apps from chat. System = stable instructions written by you; user = variable input from the world. Two payoffs: (1) reliability — your rules don't get diluted by whatever the user types; (2) security — keeping user text in the user slot is the first guardrail against prompt injection (someone pasting 'ignore previous instructions'). Students rarely see this in class; it's pure industry practice. Mention it'll appear in the lab's system-prompt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(6:00-9:00). Don't lecture definitions — frame each as a tool with a WHEN. Zero-shot: default, cheapest, simple tasks. Few-shot: add examples when format/quality matters — often the single biggest quality jump for the least effort. Chain-of-thought: 'think step by step' boosts reasoning but COSTS tokens (callback to M1 — accuracy you pay for); don't use it for trivial tasks. Structured output: the professional's signature move — JSON out means real code can use it. The lab uses zero-shot (naive) then adds structure + format. Demo CoT live in AI Studio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 (9:00-10:30). This is THE slide that turns 'AI demo' into 'AI feature.' Prose is for humans; JSON is for programs. Show how a vague prose answer forces brittle string-parsing, while a JSON contract lets you json.loads() and move on. Practical tips to say aloud: name your keys explicitly in the prompt, give an example of the exact shape, and say 'return ONLY JSON, no markdown, no preamble.' This exact instruction is what they'll add in the lab redesign — and it's also what cuts the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economy (10:30-12:00). Direct callback to Module 1's cost thread — this is where prompt design BECOMES cost engineering. Three levers: cut filler words (they're billed, add nothing), spend tokens on examples ONLY where they prevent failures (a re-run costs more than the example), and cap output length because output tokens are the pricey ones. The rule to memorise: every token earns its place. Tee up the lab: 'now you'll measure exactly this — same task, fewer tokens, better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(12:00-13:00). AI Studio needs only a Google account, no credit card — say this clearly, it removes the cost anxiety. Have a job-description snippet ready on a slide or clipboard so everyone uses the SAME input (fair comparison). Point out the live token counter in the AI Studio UI — that's the instrument for the whole experiment. State the hypothesis out loud so the result lands: designed prompt = more reliable AND cheaper. Have a screenshot backup of both runs in case wifi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round 1 (13:00-14:30). Run the naive prompt live. It WILL produce something that looks fine in isolation — that's the trap. Note the token count out loud and write it on the board. Run it 2-3 times to show the format drifts each time. Point out the politeness tokens and the 'Sure! Here's what...' preamble that code would have to strip. The lesson lands hardest when they see the SAME prompt give differently-shaped answers. Now redesign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round 2 (14:30-16:00). Rebuild the prompt live using the anatomy from slide 3: move instructions into a SYSTEM prompt, demand explicit JSON keys, strip every filler word, leave only the job description in the user slot. Run it 2-3 times — same shape every time. Read the new token count aloud and write it next to round 1's. The visible, measured contrast is the payoff of the whole module. Then quantify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result (16:00-17:30). Use whatever real numbers your live run produced; the slide's 210→90 is a stand-in. The point: this isn't a style opinion, it's measured. Fewer tokens (cheaper at scale, callback to M1's 50k-calls math), and 100% format reliability (cheaper in engineering time — no defensive parsing). Say the line that ties M1 and M2 together: 'a prompt that saves ~120 tokens per call saves thousands of rupees a month — prompt design IS cost engineering.' Flag figures as illustrative for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(17:30-19:00). Quick-fire — these are the mistakes that pass a casual eyeball but break at scale. Each maps to something we fixed in the lab: vague task → explicit instruction; prose → JSON; over-stuffing → one task per prompt; politeness padding → token economy; no versioning → treat prompts like code, save them. Tell them: when a prompt misbehaves in production, it's almost always one of these five. Knowing the list IS the debugging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 homework (19:00-21:00). Read the five checks. The 'do tonight' forces them to repeat the before/after experiment solo on their own prompt — that's what cements the skill. Bridge to Module 3: 'you can now write a professional prompt; next we put it inside a real Python program that calls the API — no GPU, still ₹0.' Close on the unified thesis: judgement about which API to call (M1) AND how to design the call (M2).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8778240" y="-1280160"/>
            <a:ext cx="5669280" cy="5669280"/>
          </a:xfrm>
          <a:prstGeom prst="ellipse">
            <a:avLst/>
          </a:prstGeom>
          <a:solidFill>
            <a:srgbClr val="0D9488">
              <a:alpha val="12000"/>
            </a:srgbClr>
          </a:solidFill>
          <a:ln/>
        </p:spPr>
      </p:sp>
      <p:sp>
        <p:nvSpPr>
          <p:cNvPr id="3" name="Shape 1"/>
          <p:cNvSpPr/>
          <p:nvPr/>
        </p:nvSpPr>
        <p:spPr>
          <a:xfrm>
            <a:off x="10058400" y="3291840"/>
            <a:ext cx="4206240" cy="4206240"/>
          </a:xfrm>
          <a:prstGeom prst="ellipse">
            <a:avLst/>
          </a:prstGeom>
          <a:solidFill>
            <a:srgbClr val="F4A338">
              <a:alpha val="10000"/>
            </a:srgbClr>
          </a:solidFill>
          <a:ln/>
        </p:spPr>
      </p:sp>
      <p:pic>
        <p:nvPicPr>
          <p:cNvPr id="4" name="Image 0" descr="icons/sliders.png">    </p:cNvPr>
          <p:cNvPicPr>
            <a:picLocks noChangeAspect="1"/>
          </p:cNvPicPr>
          <p:nvPr/>
        </p:nvPicPr>
        <p:blipFill>
          <a:blip r:embed="rId1"/>
          <a:stretch>
            <a:fillRect/>
          </a:stretch>
        </p:blipFill>
        <p:spPr>
          <a:xfrm>
            <a:off x="685800" y="960120"/>
            <a:ext cx="868680" cy="868680"/>
          </a:xfrm>
          <a:prstGeom prst="rect">
            <a:avLst/>
          </a:prstGeom>
        </p:spPr>
      </p:pic>
      <p:sp>
        <p:nvSpPr>
          <p:cNvPr id="5" name="Text 2"/>
          <p:cNvSpPr/>
          <p:nvPr/>
        </p:nvSpPr>
        <p:spPr>
          <a:xfrm>
            <a:off x="1737360" y="969264"/>
            <a:ext cx="4572000" cy="365760"/>
          </a:xfrm>
          <a:prstGeom prst="rect">
            <a:avLst/>
          </a:prstGeom>
          <a:noFill/>
          <a:ln/>
        </p:spPr>
        <p:txBody>
          <a:bodyPr wrap="square" rtlCol="0" anchor="ctr"/>
          <a:lstStyle/>
          <a:p>
            <a:pPr indent="0" marL="0">
              <a:buNone/>
            </a:pPr>
            <a:r>
              <a:rPr lang="en-US" sz="1500" b="1" spc="400" kern="0" dirty="0">
                <a:solidFill>
                  <a:srgbClr val="5EEAD4"/>
                </a:solidFill>
                <a:latin typeface="Calibri" pitchFamily="34" charset="0"/>
                <a:ea typeface="Calibri" pitchFamily="34" charset="-122"/>
                <a:cs typeface="Calibri" pitchFamily="34" charset="-120"/>
              </a:rPr>
              <a:t>MODULE 2</a:t>
            </a:r>
            <a:endParaRPr lang="en-US" sz="1500" dirty="0"/>
          </a:p>
        </p:txBody>
      </p:sp>
      <p:sp>
        <p:nvSpPr>
          <p:cNvPr id="6" name="Text 3"/>
          <p:cNvSpPr/>
          <p:nvPr/>
        </p:nvSpPr>
        <p:spPr>
          <a:xfrm>
            <a:off x="658368" y="1828800"/>
            <a:ext cx="11155680" cy="9601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Prompt Engineering</a:t>
            </a:r>
            <a:endParaRPr lang="en-US" sz="5400" dirty="0"/>
          </a:p>
        </p:txBody>
      </p:sp>
      <p:sp>
        <p:nvSpPr>
          <p:cNvPr id="7" name="Text 4"/>
          <p:cNvSpPr/>
          <p:nvPr/>
        </p:nvSpPr>
        <p:spPr>
          <a:xfrm>
            <a:off x="676656" y="2788920"/>
            <a:ext cx="10972800" cy="640080"/>
          </a:xfrm>
          <a:prstGeom prst="rect">
            <a:avLst/>
          </a:prstGeom>
          <a:noFill/>
          <a:ln/>
        </p:spPr>
        <p:txBody>
          <a:bodyPr wrap="square" rtlCol="0" anchor="ctr"/>
          <a:lstStyle/>
          <a:p>
            <a:pPr indent="0" marL="0">
              <a:buNone/>
            </a:pPr>
            <a:r>
              <a:rPr lang="en-US" sz="3000" dirty="0">
                <a:solidFill>
                  <a:srgbClr val="5EEAD4"/>
                </a:solidFill>
                <a:latin typeface="Calibri" pitchFamily="34" charset="0"/>
                <a:ea typeface="Calibri" pitchFamily="34" charset="-122"/>
                <a:cs typeface="Calibri" pitchFamily="34" charset="-120"/>
              </a:rPr>
              <a:t>as a Professional Discipline</a:t>
            </a:r>
            <a:endParaRPr lang="en-US" sz="3000" dirty="0"/>
          </a:p>
        </p:txBody>
      </p:sp>
      <p:sp>
        <p:nvSpPr>
          <p:cNvPr id="8" name="Text 5"/>
          <p:cNvSpPr/>
          <p:nvPr/>
        </p:nvSpPr>
        <p:spPr>
          <a:xfrm>
            <a:off x="685800" y="3794760"/>
            <a:ext cx="10515600" cy="548640"/>
          </a:xfrm>
          <a:prstGeom prst="rect">
            <a:avLst/>
          </a:prstGeom>
          <a:noFill/>
          <a:ln/>
        </p:spPr>
        <p:txBody>
          <a:bodyPr wrap="square" rtlCol="0" anchor="ctr"/>
          <a:lstStyle/>
          <a:p>
            <a:pPr indent="0" marL="0">
              <a:buNone/>
            </a:pPr>
            <a:r>
              <a:rPr lang="en-US" sz="1700" dirty="0">
                <a:solidFill>
                  <a:srgbClr val="9FBEC0"/>
                </a:solidFill>
                <a:latin typeface="Calibri" pitchFamily="34" charset="0"/>
                <a:ea typeface="Calibri" pitchFamily="34" charset="-122"/>
                <a:cs typeface="Calibri" pitchFamily="34" charset="-120"/>
              </a:rPr>
              <a:t>Not “just asking questions” — </a:t>
            </a:r>
            <a:pPr indent="0" marL="0">
              <a:buNone/>
            </a:pPr>
            <a:r>
              <a:rPr lang="en-US" sz="1700" b="1" dirty="0">
                <a:solidFill>
                  <a:srgbClr val="FFFFFF"/>
                </a:solidFill>
                <a:latin typeface="Calibri" pitchFamily="34" charset="0"/>
                <a:ea typeface="Calibri" pitchFamily="34" charset="-122"/>
                <a:cs typeface="Calibri" pitchFamily="34" charset="-120"/>
              </a:rPr>
              <a:t>a measurable design skill that decides quality, reliability, and cost</a:t>
            </a:r>
            <a:endParaRPr lang="en-US" sz="1700" dirty="0"/>
          </a:p>
        </p:txBody>
      </p:sp>
      <p:sp>
        <p:nvSpPr>
          <p:cNvPr id="9" name="Shape 6"/>
          <p:cNvSpPr/>
          <p:nvPr/>
        </p:nvSpPr>
        <p:spPr>
          <a:xfrm>
            <a:off x="713232" y="4572000"/>
            <a:ext cx="2194560" cy="0"/>
          </a:xfrm>
          <a:prstGeom prst="line">
            <a:avLst/>
          </a:prstGeom>
          <a:noFill/>
          <a:ln w="31750">
            <a:solidFill>
              <a:srgbClr val="F4A338"/>
            </a:solidFill>
            <a:prstDash val="solid"/>
          </a:ln>
        </p:spPr>
      </p:sp>
      <p:sp>
        <p:nvSpPr>
          <p:cNvPr id="10" name="Text 7"/>
          <p:cNvSpPr/>
          <p:nvPr/>
        </p:nvSpPr>
        <p:spPr>
          <a:xfrm>
            <a:off x="685800" y="4800600"/>
            <a:ext cx="10058400" cy="365760"/>
          </a:xfrm>
          <a:prstGeom prst="rect">
            <a:avLst/>
          </a:prstGeom>
          <a:noFill/>
          <a:ln/>
        </p:spPr>
        <p:txBody>
          <a:bodyPr wrap="square" rtlCol="0" anchor="ctr"/>
          <a:lstStyle/>
          <a:p>
            <a:pPr indent="0" marL="0">
              <a:buNone/>
            </a:pPr>
            <a:r>
              <a:rPr lang="en-US" sz="1400" dirty="0">
                <a:solidFill>
                  <a:srgbClr val="9FBEC0"/>
                </a:solidFill>
                <a:latin typeface="Calibri" pitchFamily="34" charset="0"/>
                <a:ea typeface="Calibri" pitchFamily="34" charset="-122"/>
                <a:cs typeface="Calibri" pitchFamily="34" charset="-120"/>
              </a:rPr>
              <a:t>Pramit Mitra  ·  Principal Engineer, Data Science Platform — Dell Technologies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REFRAME</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“Just asking questions” vs. engineering an input</a:t>
            </a:r>
            <a:endParaRPr lang="en-US" sz="3000" dirty="0"/>
          </a:p>
        </p:txBody>
      </p:sp>
      <p:sp>
        <p:nvSpPr>
          <p:cNvPr id="4" name="Shape 2"/>
          <p:cNvSpPr/>
          <p:nvPr/>
        </p:nvSpPr>
        <p:spPr>
          <a:xfrm>
            <a:off x="640080" y="1828800"/>
            <a:ext cx="5349240" cy="3931920"/>
          </a:xfrm>
          <a:prstGeom prst="roundRect">
            <a:avLst>
              <a:gd name="adj" fmla="val 2791"/>
            </a:avLst>
          </a:prstGeom>
          <a:solidFill>
            <a:srgbClr val="F1F5F9"/>
          </a:solidFill>
          <a:ln/>
          <a:effectLst>
            <a:outerShdw sx="100000" sy="100000" kx="0" ky="0" algn="bl" rotWithShape="0" blurRad="88900" dist="38100" dir="2700000">
              <a:srgbClr val="000000">
                <a:alpha val="10000"/>
              </a:srgbClr>
            </a:outerShdw>
          </a:effectLst>
        </p:spPr>
      </p:sp>
      <p:sp>
        <p:nvSpPr>
          <p:cNvPr id="5" name="Shape 3"/>
          <p:cNvSpPr/>
          <p:nvPr/>
        </p:nvSpPr>
        <p:spPr>
          <a:xfrm>
            <a:off x="960120" y="2194560"/>
            <a:ext cx="868680" cy="868680"/>
          </a:xfrm>
          <a:prstGeom prst="ellipse">
            <a:avLst/>
          </a:prstGeom>
          <a:solidFill>
            <a:srgbClr val="64748B"/>
          </a:solidFill>
          <a:ln/>
        </p:spPr>
      </p:sp>
      <p:pic>
        <p:nvPicPr>
          <p:cNvPr id="6" name="Image 0" descr="icons/chat_w.png">    </p:cNvPr>
          <p:cNvPicPr>
            <a:picLocks noChangeAspect="1"/>
          </p:cNvPicPr>
          <p:nvPr/>
        </p:nvPicPr>
        <p:blipFill>
          <a:blip r:embed="rId1"/>
          <a:stretch>
            <a:fillRect/>
          </a:stretch>
        </p:blipFill>
        <p:spPr>
          <a:xfrm>
            <a:off x="1170432" y="2395728"/>
            <a:ext cx="457200" cy="457200"/>
          </a:xfrm>
          <a:prstGeom prst="rect">
            <a:avLst/>
          </a:prstGeom>
        </p:spPr>
      </p:pic>
      <p:sp>
        <p:nvSpPr>
          <p:cNvPr id="7" name="Text 4"/>
          <p:cNvSpPr/>
          <p:nvPr/>
        </p:nvSpPr>
        <p:spPr>
          <a:xfrm>
            <a:off x="2011680" y="2286000"/>
            <a:ext cx="3657600" cy="640080"/>
          </a:xfrm>
          <a:prstGeom prst="rect">
            <a:avLst/>
          </a:prstGeom>
          <a:noFill/>
          <a:ln/>
        </p:spPr>
        <p:txBody>
          <a:bodyPr wrap="square" rtlCol="0" anchor="ctr"/>
          <a:lstStyle/>
          <a:p>
            <a:pPr indent="0" marL="0">
              <a:buNone/>
            </a:pPr>
            <a:r>
              <a:rPr lang="en-US" sz="1800" b="1" dirty="0">
                <a:solidFill>
                  <a:srgbClr val="64748B"/>
                </a:solidFill>
                <a:latin typeface="Calibri" pitchFamily="34" charset="0"/>
                <a:ea typeface="Calibri" pitchFamily="34" charset="-122"/>
                <a:cs typeface="Calibri" pitchFamily="34" charset="-120"/>
              </a:rPr>
              <a:t>THE AMATEUR</a:t>
            </a:r>
            <a:endParaRPr lang="en-US" sz="1800" dirty="0"/>
          </a:p>
        </p:txBody>
      </p:sp>
      <p:sp>
        <p:nvSpPr>
          <p:cNvPr id="8" name="Text 5"/>
          <p:cNvSpPr/>
          <p:nvPr/>
        </p:nvSpPr>
        <p:spPr>
          <a:xfrm>
            <a:off x="1005840" y="3200400"/>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Types whatever comes to mind</a:t>
            </a:r>
            <a:endParaRPr lang="en-US" sz="1500" dirty="0"/>
          </a:p>
        </p:txBody>
      </p:sp>
      <p:sp>
        <p:nvSpPr>
          <p:cNvPr id="9" name="Text 6"/>
          <p:cNvSpPr/>
          <p:nvPr/>
        </p:nvSpPr>
        <p:spPr>
          <a:xfrm>
            <a:off x="1005840" y="3767328"/>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Tries again when it fails — randomly</a:t>
            </a:r>
            <a:endParaRPr lang="en-US" sz="1500" dirty="0"/>
          </a:p>
        </p:txBody>
      </p:sp>
      <p:sp>
        <p:nvSpPr>
          <p:cNvPr id="10" name="Text 7"/>
          <p:cNvSpPr/>
          <p:nvPr/>
        </p:nvSpPr>
        <p:spPr>
          <a:xfrm>
            <a:off x="1005840" y="4334256"/>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Can't say why it worked</a:t>
            </a:r>
            <a:endParaRPr lang="en-US" sz="1500" dirty="0"/>
          </a:p>
        </p:txBody>
      </p:sp>
      <p:sp>
        <p:nvSpPr>
          <p:cNvPr id="11" name="Text 8"/>
          <p:cNvSpPr/>
          <p:nvPr/>
        </p:nvSpPr>
        <p:spPr>
          <a:xfrm>
            <a:off x="1005840" y="4901184"/>
            <a:ext cx="4663440" cy="502920"/>
          </a:xfrm>
          <a:prstGeom prst="rect">
            <a:avLst/>
          </a:prstGeom>
          <a:noFill/>
          <a:ln/>
        </p:spPr>
        <p:txBody>
          <a:bodyPr wrap="square" rtlCol="0" anchor="ctr"/>
          <a:lstStyle/>
          <a:p>
            <a:pPr marL="177800" indent="-177800">
              <a:buSzPct val="100000"/>
              <a:buChar char="•"/>
            </a:pPr>
            <a:r>
              <a:rPr lang="en-US" sz="1500" dirty="0">
                <a:solidFill>
                  <a:srgbClr val="1E293B"/>
                </a:solidFill>
                <a:latin typeface="Calibri" pitchFamily="34" charset="0"/>
                <a:ea typeface="Calibri" pitchFamily="34" charset="-122"/>
                <a:cs typeface="Calibri" pitchFamily="34" charset="-120"/>
              </a:rPr>
              <a:t>No reuse, no measurement</a:t>
            </a:r>
            <a:endParaRPr lang="en-US" sz="1500" dirty="0"/>
          </a:p>
        </p:txBody>
      </p:sp>
      <p:sp>
        <p:nvSpPr>
          <p:cNvPr id="12" name="Shape 9"/>
          <p:cNvSpPr/>
          <p:nvPr/>
        </p:nvSpPr>
        <p:spPr>
          <a:xfrm>
            <a:off x="6172200" y="1828800"/>
            <a:ext cx="5349240" cy="3931920"/>
          </a:xfrm>
          <a:prstGeom prst="roundRect">
            <a:avLst>
              <a:gd name="adj" fmla="val 2791"/>
            </a:avLst>
          </a:prstGeom>
          <a:solidFill>
            <a:srgbClr val="E8F4F2"/>
          </a:solidFill>
          <a:ln/>
          <a:effectLst>
            <a:outerShdw sx="100000" sy="100000" kx="0" ky="0" algn="bl" rotWithShape="0" blurRad="88900" dist="38100" dir="2700000">
              <a:srgbClr val="000000">
                <a:alpha val="12000"/>
              </a:srgbClr>
            </a:outerShdw>
          </a:effectLst>
        </p:spPr>
      </p:sp>
      <p:sp>
        <p:nvSpPr>
          <p:cNvPr id="13" name="Shape 10"/>
          <p:cNvSpPr/>
          <p:nvPr/>
        </p:nvSpPr>
        <p:spPr>
          <a:xfrm>
            <a:off x="6492240" y="2194560"/>
            <a:ext cx="868680" cy="868680"/>
          </a:xfrm>
          <a:prstGeom prst="ellipse">
            <a:avLst/>
          </a:prstGeom>
          <a:solidFill>
            <a:srgbClr val="0D9488"/>
          </a:solidFill>
          <a:ln/>
        </p:spPr>
      </p:sp>
      <p:pic>
        <p:nvPicPr>
          <p:cNvPr id="14" name="Image 1" descr="icons/ruler_w.png">    </p:cNvPr>
          <p:cNvPicPr>
            <a:picLocks noChangeAspect="1"/>
          </p:cNvPicPr>
          <p:nvPr/>
        </p:nvPicPr>
        <p:blipFill>
          <a:blip r:embed="rId2"/>
          <a:stretch>
            <a:fillRect/>
          </a:stretch>
        </p:blipFill>
        <p:spPr>
          <a:xfrm>
            <a:off x="6702552" y="2395728"/>
            <a:ext cx="457200" cy="457200"/>
          </a:xfrm>
          <a:prstGeom prst="rect">
            <a:avLst/>
          </a:prstGeom>
        </p:spPr>
      </p:pic>
      <p:sp>
        <p:nvSpPr>
          <p:cNvPr id="15" name="Text 11"/>
          <p:cNvSpPr/>
          <p:nvPr/>
        </p:nvSpPr>
        <p:spPr>
          <a:xfrm>
            <a:off x="7543800" y="2286000"/>
            <a:ext cx="3840480" cy="640080"/>
          </a:xfrm>
          <a:prstGeom prst="rect">
            <a:avLst/>
          </a:prstGeom>
          <a:noFill/>
          <a:ln/>
        </p:spPr>
        <p:txBody>
          <a:bodyPr wrap="square" rtlCol="0" anchor="ctr"/>
          <a:lstStyle/>
          <a:p>
            <a:pPr indent="0" marL="0">
              <a:buNone/>
            </a:pPr>
            <a:r>
              <a:rPr lang="en-US" sz="1800" b="1" dirty="0">
                <a:solidFill>
                  <a:srgbClr val="0D9488"/>
                </a:solidFill>
                <a:latin typeface="Calibri" pitchFamily="34" charset="0"/>
                <a:ea typeface="Calibri" pitchFamily="34" charset="-122"/>
                <a:cs typeface="Calibri" pitchFamily="34" charset="-120"/>
              </a:rPr>
              <a:t>THE PROFESSIONAL</a:t>
            </a:r>
            <a:endParaRPr lang="en-US" sz="1800" dirty="0"/>
          </a:p>
        </p:txBody>
      </p:sp>
      <p:sp>
        <p:nvSpPr>
          <p:cNvPr id="16" name="Text 12"/>
          <p:cNvSpPr/>
          <p:nvPr/>
        </p:nvSpPr>
        <p:spPr>
          <a:xfrm>
            <a:off x="6537960" y="3200400"/>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Designs structure: role, task, format</a:t>
            </a:r>
            <a:endParaRPr lang="en-US" sz="1500" dirty="0"/>
          </a:p>
        </p:txBody>
      </p:sp>
      <p:sp>
        <p:nvSpPr>
          <p:cNvPr id="17" name="Text 13"/>
          <p:cNvSpPr/>
          <p:nvPr/>
        </p:nvSpPr>
        <p:spPr>
          <a:xfrm>
            <a:off x="6537960" y="3767328"/>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Iterates deliberately on what failed</a:t>
            </a:r>
            <a:endParaRPr lang="en-US" sz="1500" dirty="0"/>
          </a:p>
        </p:txBody>
      </p:sp>
      <p:sp>
        <p:nvSpPr>
          <p:cNvPr id="18" name="Text 14"/>
          <p:cNvSpPr/>
          <p:nvPr/>
        </p:nvSpPr>
        <p:spPr>
          <a:xfrm>
            <a:off x="6537960" y="4334256"/>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Knows which technique to reach for</a:t>
            </a:r>
            <a:endParaRPr lang="en-US" sz="1500" dirty="0"/>
          </a:p>
        </p:txBody>
      </p:sp>
      <p:sp>
        <p:nvSpPr>
          <p:cNvPr id="19" name="Text 15"/>
          <p:cNvSpPr/>
          <p:nvPr/>
        </p:nvSpPr>
        <p:spPr>
          <a:xfrm>
            <a:off x="6537960" y="4901184"/>
            <a:ext cx="4663440" cy="502920"/>
          </a:xfrm>
          <a:prstGeom prst="rect">
            <a:avLst/>
          </a:prstGeom>
          <a:noFill/>
          <a:ln/>
        </p:spPr>
        <p:txBody>
          <a:bodyPr wrap="square" rtlCol="0" anchor="ctr"/>
          <a:lstStyle/>
          <a:p>
            <a:pPr marL="177800" indent="-177800">
              <a:buSzPct val="100000"/>
              <a:buChar char="•"/>
            </a:pPr>
            <a:r>
              <a:rPr lang="en-US" sz="1500" b="1" dirty="0">
                <a:solidFill>
                  <a:srgbClr val="0F2A2E"/>
                </a:solidFill>
                <a:latin typeface="Calibri" pitchFamily="34" charset="0"/>
                <a:ea typeface="Calibri" pitchFamily="34" charset="-122"/>
                <a:cs typeface="Calibri" pitchFamily="34" charset="-120"/>
              </a:rPr>
              <a:t>Reuses, versions, and measures tokens</a:t>
            </a:r>
            <a:endParaRPr lang="en-US" sz="1500" dirty="0"/>
          </a:p>
        </p:txBody>
      </p:sp>
      <p:sp>
        <p:nvSpPr>
          <p:cNvPr id="20" name="Text 16"/>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21" name="Text 17"/>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ANATOMY</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A production prompt has parts — like a function</a:t>
            </a:r>
            <a:endParaRPr lang="en-US" sz="2900" dirty="0"/>
          </a:p>
        </p:txBody>
      </p:sp>
      <p:sp>
        <p:nvSpPr>
          <p:cNvPr id="4" name="Shape 2"/>
          <p:cNvSpPr/>
          <p:nvPr/>
        </p:nvSpPr>
        <p:spPr>
          <a:xfrm>
            <a:off x="640080" y="1874520"/>
            <a:ext cx="10881360" cy="960120"/>
          </a:xfrm>
          <a:prstGeom prst="roundRect">
            <a:avLst>
              <a:gd name="adj" fmla="val 9524"/>
            </a:avLst>
          </a:prstGeom>
          <a:solidFill>
            <a:srgbClr val="143A40"/>
          </a:solidFill>
          <a:ln w="12700">
            <a:solidFill>
              <a:srgbClr val="21555B"/>
            </a:solidFill>
            <a:prstDash val="solid"/>
          </a:ln>
        </p:spPr>
      </p:sp>
      <p:sp>
        <p:nvSpPr>
          <p:cNvPr id="5" name="Shape 3"/>
          <p:cNvSpPr/>
          <p:nvPr/>
        </p:nvSpPr>
        <p:spPr>
          <a:xfrm>
            <a:off x="914400" y="2057400"/>
            <a:ext cx="594360" cy="594360"/>
          </a:xfrm>
          <a:prstGeom prst="ellipse">
            <a:avLst/>
          </a:prstGeom>
          <a:solidFill>
            <a:srgbClr val="0D9488"/>
          </a:solidFill>
          <a:ln/>
        </p:spPr>
      </p:sp>
      <p:pic>
        <p:nvPicPr>
          <p:cNvPr id="6" name="Image 0" descr="icons/usercog.png">    </p:cNvPr>
          <p:cNvPicPr>
            <a:picLocks noChangeAspect="1"/>
          </p:cNvPicPr>
          <p:nvPr/>
        </p:nvPicPr>
        <p:blipFill>
          <a:blip r:embed="rId1"/>
          <a:stretch>
            <a:fillRect/>
          </a:stretch>
        </p:blipFill>
        <p:spPr>
          <a:xfrm>
            <a:off x="1042416" y="2176272"/>
            <a:ext cx="356616" cy="356616"/>
          </a:xfrm>
          <a:prstGeom prst="rect">
            <a:avLst/>
          </a:prstGeom>
        </p:spPr>
      </p:pic>
      <p:sp>
        <p:nvSpPr>
          <p:cNvPr id="7" name="Text 4"/>
          <p:cNvSpPr/>
          <p:nvPr/>
        </p:nvSpPr>
        <p:spPr>
          <a:xfrm>
            <a:off x="1783080" y="1993392"/>
            <a:ext cx="2743200" cy="7315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ROLE / SYSTEM</a:t>
            </a:r>
            <a:endParaRPr lang="en-US" sz="1600" dirty="0"/>
          </a:p>
        </p:txBody>
      </p:sp>
      <p:sp>
        <p:nvSpPr>
          <p:cNvPr id="8" name="Text 5"/>
          <p:cNvSpPr/>
          <p:nvPr/>
        </p:nvSpPr>
        <p:spPr>
          <a:xfrm>
            <a:off x="4572000" y="1993392"/>
            <a:ext cx="3200400" cy="731520"/>
          </a:xfrm>
          <a:prstGeom prst="rect">
            <a:avLst/>
          </a:prstGeom>
          <a:noFill/>
          <a:ln/>
        </p:spPr>
        <p:txBody>
          <a:bodyPr wrap="square" rtlCol="0" anchor="ctr"/>
          <a:lstStyle/>
          <a:p>
            <a:pPr indent="0" marL="0">
              <a:buNone/>
            </a:pPr>
            <a:r>
              <a:rPr lang="en-US" sz="1350" dirty="0">
                <a:solidFill>
                  <a:srgbClr val="B9D4D6"/>
                </a:solidFill>
                <a:latin typeface="Calibri" pitchFamily="34" charset="0"/>
                <a:ea typeface="Calibri" pitchFamily="34" charset="-122"/>
                <a:cs typeface="Calibri" pitchFamily="34" charset="-120"/>
              </a:rPr>
              <a:t>Who the model should be</a:t>
            </a:r>
            <a:endParaRPr lang="en-US" sz="1350" dirty="0"/>
          </a:p>
        </p:txBody>
      </p:sp>
      <p:sp>
        <p:nvSpPr>
          <p:cNvPr id="9" name="Text 6"/>
          <p:cNvSpPr/>
          <p:nvPr/>
        </p:nvSpPr>
        <p:spPr>
          <a:xfrm>
            <a:off x="7818120" y="1993392"/>
            <a:ext cx="3566160" cy="731520"/>
          </a:xfrm>
          <a:prstGeom prst="rect">
            <a:avLst/>
          </a:prstGeom>
          <a:noFill/>
          <a:ln/>
        </p:spPr>
        <p:txBody>
          <a:bodyPr wrap="square" rtlCol="0" anchor="ctr"/>
          <a:lstStyle/>
          <a:p>
            <a:pPr indent="0" marL="0">
              <a:buNone/>
            </a:pPr>
            <a:r>
              <a:rPr lang="en-US" sz="1300" i="1" dirty="0">
                <a:solidFill>
                  <a:srgbClr val="5EEAD4"/>
                </a:solidFill>
                <a:latin typeface="Courier New" pitchFamily="34" charset="0"/>
                <a:ea typeface="Courier New" pitchFamily="34" charset="-122"/>
                <a:cs typeface="Courier New" pitchFamily="34" charset="-120"/>
              </a:rPr>
              <a:t>“You are a precise resume parser.”</a:t>
            </a:r>
            <a:endParaRPr lang="en-US" sz="1300" dirty="0"/>
          </a:p>
        </p:txBody>
      </p:sp>
      <p:sp>
        <p:nvSpPr>
          <p:cNvPr id="10" name="Shape 7"/>
          <p:cNvSpPr/>
          <p:nvPr/>
        </p:nvSpPr>
        <p:spPr>
          <a:xfrm>
            <a:off x="640080" y="2935224"/>
            <a:ext cx="10881360" cy="960120"/>
          </a:xfrm>
          <a:prstGeom prst="roundRect">
            <a:avLst>
              <a:gd name="adj" fmla="val 9524"/>
            </a:avLst>
          </a:prstGeom>
          <a:solidFill>
            <a:srgbClr val="143A40"/>
          </a:solidFill>
          <a:ln w="12700">
            <a:solidFill>
              <a:srgbClr val="21555B"/>
            </a:solidFill>
            <a:prstDash val="solid"/>
          </a:ln>
        </p:spPr>
      </p:sp>
      <p:sp>
        <p:nvSpPr>
          <p:cNvPr id="11" name="Shape 8"/>
          <p:cNvSpPr/>
          <p:nvPr/>
        </p:nvSpPr>
        <p:spPr>
          <a:xfrm>
            <a:off x="914400" y="3118104"/>
            <a:ext cx="594360" cy="594360"/>
          </a:xfrm>
          <a:prstGeom prst="ellipse">
            <a:avLst/>
          </a:prstGeom>
          <a:solidFill>
            <a:srgbClr val="14B8A6"/>
          </a:solidFill>
          <a:ln/>
        </p:spPr>
      </p:sp>
      <p:pic>
        <p:nvPicPr>
          <p:cNvPr id="12" name="Image 1" descr="icons/listol_w.png">    </p:cNvPr>
          <p:cNvPicPr>
            <a:picLocks noChangeAspect="1"/>
          </p:cNvPicPr>
          <p:nvPr/>
        </p:nvPicPr>
        <p:blipFill>
          <a:blip r:embed="rId2"/>
          <a:stretch>
            <a:fillRect/>
          </a:stretch>
        </p:blipFill>
        <p:spPr>
          <a:xfrm>
            <a:off x="1042416" y="3236976"/>
            <a:ext cx="356616" cy="356616"/>
          </a:xfrm>
          <a:prstGeom prst="rect">
            <a:avLst/>
          </a:prstGeom>
        </p:spPr>
      </p:pic>
      <p:sp>
        <p:nvSpPr>
          <p:cNvPr id="13" name="Text 9"/>
          <p:cNvSpPr/>
          <p:nvPr/>
        </p:nvSpPr>
        <p:spPr>
          <a:xfrm>
            <a:off x="1783080" y="3054096"/>
            <a:ext cx="2743200" cy="7315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p>
        </p:txBody>
      </p:sp>
      <p:sp>
        <p:nvSpPr>
          <p:cNvPr id="14" name="Text 10"/>
          <p:cNvSpPr/>
          <p:nvPr/>
        </p:nvSpPr>
        <p:spPr>
          <a:xfrm>
            <a:off x="4572000" y="3054096"/>
            <a:ext cx="3200400" cy="731520"/>
          </a:xfrm>
          <a:prstGeom prst="rect">
            <a:avLst/>
          </a:prstGeom>
          <a:noFill/>
          <a:ln/>
        </p:spPr>
        <p:txBody>
          <a:bodyPr wrap="square" rtlCol="0" anchor="ctr"/>
          <a:lstStyle/>
          <a:p>
            <a:pPr indent="0" marL="0">
              <a:buNone/>
            </a:pPr>
            <a:r>
              <a:rPr lang="en-US" sz="1350" dirty="0">
                <a:solidFill>
                  <a:srgbClr val="B9D4D6"/>
                </a:solidFill>
                <a:latin typeface="Calibri" pitchFamily="34" charset="0"/>
                <a:ea typeface="Calibri" pitchFamily="34" charset="-122"/>
                <a:cs typeface="Calibri" pitchFamily="34" charset="-120"/>
              </a:rPr>
              <a:t>The single, explicit instruction</a:t>
            </a:r>
            <a:endParaRPr lang="en-US" sz="1350" dirty="0"/>
          </a:p>
        </p:txBody>
      </p:sp>
      <p:sp>
        <p:nvSpPr>
          <p:cNvPr id="15" name="Text 11"/>
          <p:cNvSpPr/>
          <p:nvPr/>
        </p:nvSpPr>
        <p:spPr>
          <a:xfrm>
            <a:off x="7818120" y="3054096"/>
            <a:ext cx="3566160" cy="731520"/>
          </a:xfrm>
          <a:prstGeom prst="rect">
            <a:avLst/>
          </a:prstGeom>
          <a:noFill/>
          <a:ln/>
        </p:spPr>
        <p:txBody>
          <a:bodyPr wrap="square" rtlCol="0" anchor="ctr"/>
          <a:lstStyle/>
          <a:p>
            <a:pPr indent="0" marL="0">
              <a:buNone/>
            </a:pPr>
            <a:r>
              <a:rPr lang="en-US" sz="1300" i="1" dirty="0">
                <a:solidFill>
                  <a:srgbClr val="5EEAD4"/>
                </a:solidFill>
                <a:latin typeface="Courier New" pitchFamily="34" charset="0"/>
                <a:ea typeface="Courier New" pitchFamily="34" charset="-122"/>
                <a:cs typeface="Courier New" pitchFamily="34" charset="-120"/>
              </a:rPr>
              <a:t>“Extract skills, years, and a summary.”</a:t>
            </a:r>
            <a:endParaRPr lang="en-US" sz="1300" dirty="0"/>
          </a:p>
        </p:txBody>
      </p:sp>
      <p:sp>
        <p:nvSpPr>
          <p:cNvPr id="16" name="Shape 12"/>
          <p:cNvSpPr/>
          <p:nvPr/>
        </p:nvSpPr>
        <p:spPr>
          <a:xfrm>
            <a:off x="640080" y="3995928"/>
            <a:ext cx="10881360" cy="960120"/>
          </a:xfrm>
          <a:prstGeom prst="roundRect">
            <a:avLst>
              <a:gd name="adj" fmla="val 9524"/>
            </a:avLst>
          </a:prstGeom>
          <a:solidFill>
            <a:srgbClr val="143A40"/>
          </a:solidFill>
          <a:ln w="12700">
            <a:solidFill>
              <a:srgbClr val="21555B"/>
            </a:solidFill>
            <a:prstDash val="solid"/>
          </a:ln>
        </p:spPr>
      </p:sp>
      <p:sp>
        <p:nvSpPr>
          <p:cNvPr id="17" name="Shape 13"/>
          <p:cNvSpPr/>
          <p:nvPr/>
        </p:nvSpPr>
        <p:spPr>
          <a:xfrm>
            <a:off x="914400" y="4178808"/>
            <a:ext cx="594360" cy="594360"/>
          </a:xfrm>
          <a:prstGeom prst="ellipse">
            <a:avLst/>
          </a:prstGeom>
          <a:solidFill>
            <a:srgbClr val="F4A338"/>
          </a:solidFill>
          <a:ln/>
        </p:spPr>
      </p:sp>
      <p:pic>
        <p:nvPicPr>
          <p:cNvPr id="18" name="Image 2" descr="icons/clone_w.png">    </p:cNvPr>
          <p:cNvPicPr>
            <a:picLocks noChangeAspect="1"/>
          </p:cNvPicPr>
          <p:nvPr/>
        </p:nvPicPr>
        <p:blipFill>
          <a:blip r:embed="rId3"/>
          <a:stretch>
            <a:fillRect/>
          </a:stretch>
        </p:blipFill>
        <p:spPr>
          <a:xfrm>
            <a:off x="1042416" y="4297680"/>
            <a:ext cx="356616" cy="356616"/>
          </a:xfrm>
          <a:prstGeom prst="rect">
            <a:avLst/>
          </a:prstGeom>
        </p:spPr>
      </p:pic>
      <p:sp>
        <p:nvSpPr>
          <p:cNvPr id="19" name="Text 14"/>
          <p:cNvSpPr/>
          <p:nvPr/>
        </p:nvSpPr>
        <p:spPr>
          <a:xfrm>
            <a:off x="1783080" y="4114800"/>
            <a:ext cx="2743200" cy="7315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CONTEXT / EXAMPLES</a:t>
            </a:r>
            <a:endParaRPr lang="en-US" sz="1600" dirty="0"/>
          </a:p>
        </p:txBody>
      </p:sp>
      <p:sp>
        <p:nvSpPr>
          <p:cNvPr id="20" name="Text 15"/>
          <p:cNvSpPr/>
          <p:nvPr/>
        </p:nvSpPr>
        <p:spPr>
          <a:xfrm>
            <a:off x="4572000" y="4114800"/>
            <a:ext cx="3200400" cy="731520"/>
          </a:xfrm>
          <a:prstGeom prst="rect">
            <a:avLst/>
          </a:prstGeom>
          <a:noFill/>
          <a:ln/>
        </p:spPr>
        <p:txBody>
          <a:bodyPr wrap="square" rtlCol="0" anchor="ctr"/>
          <a:lstStyle/>
          <a:p>
            <a:pPr indent="0" marL="0">
              <a:buNone/>
            </a:pPr>
            <a:r>
              <a:rPr lang="en-US" sz="1350" dirty="0">
                <a:solidFill>
                  <a:srgbClr val="B9D4D6"/>
                </a:solidFill>
                <a:latin typeface="Calibri" pitchFamily="34" charset="0"/>
                <a:ea typeface="Calibri" pitchFamily="34" charset="-122"/>
                <a:cs typeface="Calibri" pitchFamily="34" charset="-120"/>
              </a:rPr>
              <a:t>Input data + samples to imitate</a:t>
            </a:r>
            <a:endParaRPr lang="en-US" sz="1350" dirty="0"/>
          </a:p>
        </p:txBody>
      </p:sp>
      <p:sp>
        <p:nvSpPr>
          <p:cNvPr id="21" name="Text 16"/>
          <p:cNvSpPr/>
          <p:nvPr/>
        </p:nvSpPr>
        <p:spPr>
          <a:xfrm>
            <a:off x="7818120" y="4114800"/>
            <a:ext cx="3566160" cy="731520"/>
          </a:xfrm>
          <a:prstGeom prst="rect">
            <a:avLst/>
          </a:prstGeom>
          <a:noFill/>
          <a:ln/>
        </p:spPr>
        <p:txBody>
          <a:bodyPr wrap="square" rtlCol="0" anchor="ctr"/>
          <a:lstStyle/>
          <a:p>
            <a:pPr indent="0" marL="0">
              <a:buNone/>
            </a:pPr>
            <a:r>
              <a:rPr lang="en-US" sz="1300" i="1" dirty="0">
                <a:solidFill>
                  <a:srgbClr val="5EEAD4"/>
                </a:solidFill>
                <a:latin typeface="Courier New" pitchFamily="34" charset="0"/>
                <a:ea typeface="Courier New" pitchFamily="34" charset="-122"/>
                <a:cs typeface="Courier New" pitchFamily="34" charset="-120"/>
              </a:rPr>
              <a:t>résumé text  +  1 worked example</a:t>
            </a:r>
            <a:endParaRPr lang="en-US" sz="1300" dirty="0"/>
          </a:p>
        </p:txBody>
      </p:sp>
      <p:sp>
        <p:nvSpPr>
          <p:cNvPr id="22" name="Shape 17"/>
          <p:cNvSpPr/>
          <p:nvPr/>
        </p:nvSpPr>
        <p:spPr>
          <a:xfrm>
            <a:off x="640080" y="5056632"/>
            <a:ext cx="10881360" cy="960120"/>
          </a:xfrm>
          <a:prstGeom prst="roundRect">
            <a:avLst>
              <a:gd name="adj" fmla="val 9524"/>
            </a:avLst>
          </a:prstGeom>
          <a:solidFill>
            <a:srgbClr val="143A40"/>
          </a:solidFill>
          <a:ln w="12700">
            <a:solidFill>
              <a:srgbClr val="21555B"/>
            </a:solidFill>
            <a:prstDash val="solid"/>
          </a:ln>
        </p:spPr>
      </p:sp>
      <p:sp>
        <p:nvSpPr>
          <p:cNvPr id="23" name="Shape 18"/>
          <p:cNvSpPr/>
          <p:nvPr/>
        </p:nvSpPr>
        <p:spPr>
          <a:xfrm>
            <a:off x="914400" y="5239512"/>
            <a:ext cx="594360" cy="594360"/>
          </a:xfrm>
          <a:prstGeom prst="ellipse">
            <a:avLst/>
          </a:prstGeom>
          <a:solidFill>
            <a:srgbClr val="1FA971"/>
          </a:solidFill>
          <a:ln/>
        </p:spPr>
      </p:sp>
      <p:pic>
        <p:nvPicPr>
          <p:cNvPr id="24" name="Image 3" descr="icons/filecode_w.png">    </p:cNvPr>
          <p:cNvPicPr>
            <a:picLocks noChangeAspect="1"/>
          </p:cNvPicPr>
          <p:nvPr/>
        </p:nvPicPr>
        <p:blipFill>
          <a:blip r:embed="rId4"/>
          <a:stretch>
            <a:fillRect/>
          </a:stretch>
        </p:blipFill>
        <p:spPr>
          <a:xfrm>
            <a:off x="1042416" y="5358384"/>
            <a:ext cx="356616" cy="356616"/>
          </a:xfrm>
          <a:prstGeom prst="rect">
            <a:avLst/>
          </a:prstGeom>
        </p:spPr>
      </p:pic>
      <p:sp>
        <p:nvSpPr>
          <p:cNvPr id="25" name="Text 19"/>
          <p:cNvSpPr/>
          <p:nvPr/>
        </p:nvSpPr>
        <p:spPr>
          <a:xfrm>
            <a:off x="1783080" y="5175504"/>
            <a:ext cx="2743200" cy="7315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OUTPUT FORMAT</a:t>
            </a:r>
            <a:endParaRPr lang="en-US" sz="1600" dirty="0"/>
          </a:p>
        </p:txBody>
      </p:sp>
      <p:sp>
        <p:nvSpPr>
          <p:cNvPr id="26" name="Text 20"/>
          <p:cNvSpPr/>
          <p:nvPr/>
        </p:nvSpPr>
        <p:spPr>
          <a:xfrm>
            <a:off x="4572000" y="5175504"/>
            <a:ext cx="3200400" cy="731520"/>
          </a:xfrm>
          <a:prstGeom prst="rect">
            <a:avLst/>
          </a:prstGeom>
          <a:noFill/>
          <a:ln/>
        </p:spPr>
        <p:txBody>
          <a:bodyPr wrap="square" rtlCol="0" anchor="ctr"/>
          <a:lstStyle/>
          <a:p>
            <a:pPr indent="0" marL="0">
              <a:buNone/>
            </a:pPr>
            <a:r>
              <a:rPr lang="en-US" sz="1350" dirty="0">
                <a:solidFill>
                  <a:srgbClr val="B9D4D6"/>
                </a:solidFill>
                <a:latin typeface="Calibri" pitchFamily="34" charset="0"/>
                <a:ea typeface="Calibri" pitchFamily="34" charset="-122"/>
                <a:cs typeface="Calibri" pitchFamily="34" charset="-120"/>
              </a:rPr>
              <a:t>The exact shape code can parse</a:t>
            </a:r>
            <a:endParaRPr lang="en-US" sz="1350" dirty="0"/>
          </a:p>
        </p:txBody>
      </p:sp>
      <p:sp>
        <p:nvSpPr>
          <p:cNvPr id="27" name="Text 21"/>
          <p:cNvSpPr/>
          <p:nvPr/>
        </p:nvSpPr>
        <p:spPr>
          <a:xfrm>
            <a:off x="7818120" y="5175504"/>
            <a:ext cx="3566160" cy="731520"/>
          </a:xfrm>
          <a:prstGeom prst="rect">
            <a:avLst/>
          </a:prstGeom>
          <a:noFill/>
          <a:ln/>
        </p:spPr>
        <p:txBody>
          <a:bodyPr wrap="square" rtlCol="0" anchor="ctr"/>
          <a:lstStyle/>
          <a:p>
            <a:pPr indent="0" marL="0">
              <a:buNone/>
            </a:pPr>
            <a:r>
              <a:rPr lang="en-US" sz="1300" i="1" dirty="0">
                <a:solidFill>
                  <a:srgbClr val="5EEAD4"/>
                </a:solidFill>
                <a:latin typeface="Courier New" pitchFamily="34" charset="0"/>
                <a:ea typeface="Courier New" pitchFamily="34" charset="-122"/>
                <a:cs typeface="Courier New" pitchFamily="34" charset="-120"/>
              </a:rPr>
              <a:t>“Return JSON. Keys: skills, years, summary.”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SEPARATION OF CONCERNS</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System prompt vs. user prompt — why split them?</a:t>
            </a:r>
            <a:endParaRPr lang="en-US" sz="2900" dirty="0"/>
          </a:p>
        </p:txBody>
      </p:sp>
      <p:sp>
        <p:nvSpPr>
          <p:cNvPr id="4" name="Shape 2"/>
          <p:cNvSpPr/>
          <p:nvPr/>
        </p:nvSpPr>
        <p:spPr>
          <a:xfrm>
            <a:off x="640080" y="1828800"/>
            <a:ext cx="5349240" cy="2743200"/>
          </a:xfrm>
          <a:prstGeom prst="roundRect">
            <a:avLst>
              <a:gd name="adj" fmla="val 4000"/>
            </a:avLst>
          </a:prstGeom>
          <a:solidFill>
            <a:srgbClr val="0F2A2E"/>
          </a:solidFill>
          <a:ln/>
          <a:effectLst>
            <a:outerShdw sx="100000" sy="100000" kx="0" ky="0" algn="bl" rotWithShape="0" blurRad="88900" dist="38100" dir="2700000">
              <a:srgbClr val="000000">
                <a:alpha val="15000"/>
              </a:srgbClr>
            </a:outerShdw>
          </a:effectLst>
        </p:spPr>
      </p:sp>
      <p:sp>
        <p:nvSpPr>
          <p:cNvPr id="5" name="Shape 3"/>
          <p:cNvSpPr/>
          <p:nvPr/>
        </p:nvSpPr>
        <p:spPr>
          <a:xfrm>
            <a:off x="960120" y="2148840"/>
            <a:ext cx="731520" cy="731520"/>
          </a:xfrm>
          <a:prstGeom prst="ellipse">
            <a:avLst/>
          </a:prstGeom>
          <a:solidFill>
            <a:srgbClr val="0D9488"/>
          </a:solidFill>
          <a:ln/>
        </p:spPr>
      </p:sp>
      <p:pic>
        <p:nvPicPr>
          <p:cNvPr id="6" name="Image 0" descr="icons/usercog_w.png">    </p:cNvPr>
          <p:cNvPicPr>
            <a:picLocks noChangeAspect="1"/>
          </p:cNvPicPr>
          <p:nvPr/>
        </p:nvPicPr>
        <p:blipFill>
          <a:blip r:embed="rId1"/>
          <a:stretch>
            <a:fillRect/>
          </a:stretch>
        </p:blipFill>
        <p:spPr>
          <a:xfrm>
            <a:off x="1133856" y="2322576"/>
            <a:ext cx="384048" cy="384048"/>
          </a:xfrm>
          <a:prstGeom prst="rect">
            <a:avLst/>
          </a:prstGeom>
        </p:spPr>
      </p:pic>
      <p:sp>
        <p:nvSpPr>
          <p:cNvPr id="7" name="Text 4"/>
          <p:cNvSpPr/>
          <p:nvPr/>
        </p:nvSpPr>
        <p:spPr>
          <a:xfrm>
            <a:off x="1828800" y="2194560"/>
            <a:ext cx="3657600" cy="640080"/>
          </a:xfrm>
          <a:prstGeom prst="rect">
            <a:avLst/>
          </a:prstGeom>
          <a:noFill/>
          <a:ln/>
        </p:spPr>
        <p:txBody>
          <a:bodyPr wrap="square" rtlCol="0" anchor="ctr"/>
          <a:lstStyle/>
          <a:p>
            <a:pPr indent="0" marL="0">
              <a:buNone/>
            </a:pPr>
            <a:r>
              <a:rPr lang="en-US" sz="1700" b="1" dirty="0">
                <a:solidFill>
                  <a:srgbClr val="5EEAD4"/>
                </a:solidFill>
                <a:latin typeface="Calibri" pitchFamily="34" charset="0"/>
                <a:ea typeface="Calibri" pitchFamily="34" charset="-122"/>
                <a:cs typeface="Calibri" pitchFamily="34" charset="-120"/>
              </a:rPr>
              <a:t>SYSTEM PROMPT</a:t>
            </a:r>
            <a:endParaRPr lang="en-US" sz="1700" dirty="0"/>
          </a:p>
        </p:txBody>
      </p:sp>
      <p:sp>
        <p:nvSpPr>
          <p:cNvPr id="8" name="Text 5"/>
          <p:cNvSpPr/>
          <p:nvPr/>
        </p:nvSpPr>
        <p:spPr>
          <a:xfrm>
            <a:off x="960120" y="2971800"/>
            <a:ext cx="4754880" cy="914400"/>
          </a:xfrm>
          <a:prstGeom prst="rect">
            <a:avLst/>
          </a:prstGeom>
          <a:noFill/>
          <a:ln/>
        </p:spPr>
        <p:txBody>
          <a:bodyPr wrap="square" rtlCol="0" anchor="ctr"/>
          <a:lstStyle/>
          <a:p>
            <a:pPr indent="0" marL="0">
              <a:buNone/>
            </a:pPr>
            <a:r>
              <a:rPr lang="en-US" sz="1450" dirty="0">
                <a:solidFill>
                  <a:srgbClr val="D6E8E9"/>
                </a:solidFill>
                <a:latin typeface="Calibri" pitchFamily="34" charset="0"/>
                <a:ea typeface="Calibri" pitchFamily="34" charset="-122"/>
                <a:cs typeface="Calibri" pitchFamily="34" charset="-120"/>
              </a:rPr>
              <a:t>Set once by the developer. Persona, rules, output format, tone. The user never sees or edits it.</a:t>
            </a:r>
            <a:endParaRPr lang="en-US" sz="1450" dirty="0"/>
          </a:p>
        </p:txBody>
      </p:sp>
      <p:sp>
        <p:nvSpPr>
          <p:cNvPr id="9" name="Text 6"/>
          <p:cNvSpPr/>
          <p:nvPr/>
        </p:nvSpPr>
        <p:spPr>
          <a:xfrm>
            <a:off x="960120" y="3840480"/>
            <a:ext cx="4754880" cy="640080"/>
          </a:xfrm>
          <a:prstGeom prst="rect">
            <a:avLst/>
          </a:prstGeom>
          <a:noFill/>
          <a:ln/>
        </p:spPr>
        <p:txBody>
          <a:bodyPr wrap="square" rtlCol="0" anchor="ctr"/>
          <a:lstStyle/>
          <a:p>
            <a:pPr indent="0" marL="0">
              <a:buNone/>
            </a:pPr>
            <a:r>
              <a:rPr lang="en-US" sz="1300" i="1" dirty="0">
                <a:solidFill>
                  <a:srgbClr val="5EEAD4"/>
                </a:solidFill>
                <a:latin typeface="Courier New" pitchFamily="34" charset="0"/>
                <a:ea typeface="Courier New" pitchFamily="34" charset="-122"/>
                <a:cs typeface="Courier New" pitchFamily="34" charset="-120"/>
              </a:rPr>
              <a:t>“You are a parser. Always return JSON. Never add commentary.”</a:t>
            </a:r>
            <a:endParaRPr lang="en-US" sz="1300" dirty="0"/>
          </a:p>
        </p:txBody>
      </p:sp>
      <p:sp>
        <p:nvSpPr>
          <p:cNvPr id="10" name="Shape 7"/>
          <p:cNvSpPr/>
          <p:nvPr/>
        </p:nvSpPr>
        <p:spPr>
          <a:xfrm>
            <a:off x="6172200" y="1828800"/>
            <a:ext cx="5349240" cy="2743200"/>
          </a:xfrm>
          <a:prstGeom prst="roundRect">
            <a:avLst>
              <a:gd name="adj" fmla="val 4000"/>
            </a:avLst>
          </a:prstGeom>
          <a:solidFill>
            <a:srgbClr val="F1F5F9"/>
          </a:solidFill>
          <a:ln/>
          <a:effectLst>
            <a:outerShdw sx="100000" sy="100000" kx="0" ky="0" algn="bl" rotWithShape="0" blurRad="88900" dist="38100" dir="2700000">
              <a:srgbClr val="000000">
                <a:alpha val="12000"/>
              </a:srgbClr>
            </a:outerShdw>
          </a:effectLst>
        </p:spPr>
      </p:sp>
      <p:sp>
        <p:nvSpPr>
          <p:cNvPr id="11" name="Shape 8"/>
          <p:cNvSpPr/>
          <p:nvPr/>
        </p:nvSpPr>
        <p:spPr>
          <a:xfrm>
            <a:off x="6492240" y="2148840"/>
            <a:ext cx="731520" cy="731520"/>
          </a:xfrm>
          <a:prstGeom prst="ellipse">
            <a:avLst/>
          </a:prstGeom>
          <a:solidFill>
            <a:srgbClr val="F4A338"/>
          </a:solidFill>
          <a:ln/>
        </p:spPr>
      </p:sp>
      <p:pic>
        <p:nvPicPr>
          <p:cNvPr id="12" name="Image 1" descr="icons/user_w.png">    </p:cNvPr>
          <p:cNvPicPr>
            <a:picLocks noChangeAspect="1"/>
          </p:cNvPicPr>
          <p:nvPr/>
        </p:nvPicPr>
        <p:blipFill>
          <a:blip r:embed="rId2"/>
          <a:stretch>
            <a:fillRect/>
          </a:stretch>
        </p:blipFill>
        <p:spPr>
          <a:xfrm>
            <a:off x="6693408" y="2322576"/>
            <a:ext cx="347472" cy="384048"/>
          </a:xfrm>
          <a:prstGeom prst="rect">
            <a:avLst/>
          </a:prstGeom>
        </p:spPr>
      </p:pic>
      <p:sp>
        <p:nvSpPr>
          <p:cNvPr id="13" name="Text 9"/>
          <p:cNvSpPr/>
          <p:nvPr/>
        </p:nvSpPr>
        <p:spPr>
          <a:xfrm>
            <a:off x="7360920" y="2194560"/>
            <a:ext cx="3657600" cy="640080"/>
          </a:xfrm>
          <a:prstGeom prst="rect">
            <a:avLst/>
          </a:prstGeom>
          <a:noFill/>
          <a:ln/>
        </p:spPr>
        <p:txBody>
          <a:bodyPr wrap="square" rtlCol="0" anchor="ctr"/>
          <a:lstStyle/>
          <a:p>
            <a:pPr indent="0" marL="0">
              <a:buNone/>
            </a:pPr>
            <a:r>
              <a:rPr lang="en-US" sz="1700" b="1" dirty="0">
                <a:solidFill>
                  <a:srgbClr val="9A5B12"/>
                </a:solidFill>
                <a:latin typeface="Calibri" pitchFamily="34" charset="0"/>
                <a:ea typeface="Calibri" pitchFamily="34" charset="-122"/>
                <a:cs typeface="Calibri" pitchFamily="34" charset="-120"/>
              </a:rPr>
              <a:t>USER PROMPT</a:t>
            </a:r>
            <a:endParaRPr lang="en-US" sz="1700" dirty="0"/>
          </a:p>
        </p:txBody>
      </p:sp>
      <p:sp>
        <p:nvSpPr>
          <p:cNvPr id="14" name="Text 10"/>
          <p:cNvSpPr/>
          <p:nvPr/>
        </p:nvSpPr>
        <p:spPr>
          <a:xfrm>
            <a:off x="6492240" y="2971800"/>
            <a:ext cx="4754880" cy="91440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Changes every call. The actual input — the résumé text, the question, the document to process.</a:t>
            </a:r>
            <a:endParaRPr lang="en-US" sz="1450" dirty="0"/>
          </a:p>
        </p:txBody>
      </p:sp>
      <p:sp>
        <p:nvSpPr>
          <p:cNvPr id="15" name="Text 11"/>
          <p:cNvSpPr/>
          <p:nvPr/>
        </p:nvSpPr>
        <p:spPr>
          <a:xfrm>
            <a:off x="6492240" y="3840480"/>
            <a:ext cx="4754880" cy="640080"/>
          </a:xfrm>
          <a:prstGeom prst="rect">
            <a:avLst/>
          </a:prstGeom>
          <a:noFill/>
          <a:ln/>
        </p:spPr>
        <p:txBody>
          <a:bodyPr wrap="square" rtlCol="0" anchor="ctr"/>
          <a:lstStyle/>
          <a:p>
            <a:pPr indent="0" marL="0">
              <a:buNone/>
            </a:pPr>
            <a:r>
              <a:rPr lang="en-US" sz="1300" i="1" dirty="0">
                <a:solidFill>
                  <a:srgbClr val="9A5B12"/>
                </a:solidFill>
                <a:latin typeface="Courier New" pitchFamily="34" charset="0"/>
                <a:ea typeface="Courier New" pitchFamily="34" charset="-122"/>
                <a:cs typeface="Courier New" pitchFamily="34" charset="-120"/>
              </a:rPr>
              <a:t>“&lt;paste résumé here&gt;”</a:t>
            </a:r>
            <a:endParaRPr lang="en-US" sz="1300" dirty="0"/>
          </a:p>
        </p:txBody>
      </p:sp>
      <p:sp>
        <p:nvSpPr>
          <p:cNvPr id="16" name="Shape 12"/>
          <p:cNvSpPr/>
          <p:nvPr/>
        </p:nvSpPr>
        <p:spPr>
          <a:xfrm>
            <a:off x="640080" y="4800600"/>
            <a:ext cx="10881360" cy="1143000"/>
          </a:xfrm>
          <a:prstGeom prst="roundRect">
            <a:avLst>
              <a:gd name="adj" fmla="val 8000"/>
            </a:avLst>
          </a:prstGeom>
          <a:solidFill>
            <a:srgbClr val="0D9488"/>
          </a:solidFill>
          <a:ln/>
          <a:effectLst>
            <a:outerShdw sx="100000" sy="100000" kx="0" ky="0" algn="bl" rotWithShape="0" blurRad="88900" dist="38100" dir="2700000">
              <a:srgbClr val="000000">
                <a:alpha val="20000"/>
              </a:srgbClr>
            </a:outerShdw>
          </a:effectLst>
        </p:spPr>
      </p:sp>
      <p:pic>
        <p:nvPicPr>
          <p:cNvPr id="17" name="Image 2" descr="icons/bulb_w.png">    </p:cNvPr>
          <p:cNvPicPr>
            <a:picLocks noChangeAspect="1"/>
          </p:cNvPicPr>
          <p:nvPr/>
        </p:nvPicPr>
        <p:blipFill>
          <a:blip r:embed="rId3"/>
          <a:stretch>
            <a:fillRect/>
          </a:stretch>
        </p:blipFill>
        <p:spPr>
          <a:xfrm>
            <a:off x="960120" y="5120640"/>
            <a:ext cx="502920" cy="502920"/>
          </a:xfrm>
          <a:prstGeom prst="rect">
            <a:avLst/>
          </a:prstGeom>
        </p:spPr>
      </p:pic>
      <p:sp>
        <p:nvSpPr>
          <p:cNvPr id="18" name="Text 13"/>
          <p:cNvSpPr/>
          <p:nvPr/>
        </p:nvSpPr>
        <p:spPr>
          <a:xfrm>
            <a:off x="1691640" y="4892040"/>
            <a:ext cx="9601200" cy="960120"/>
          </a:xfrm>
          <a:prstGeom prst="rect">
            <a:avLst/>
          </a:prstGeom>
          <a:noFill/>
          <a:ln/>
        </p:spPr>
        <p:txBody>
          <a:bodyPr wrap="square" rtlCol="0" anchor="ctr"/>
          <a:lstStyle/>
          <a:p>
            <a:pPr indent="0" marL="0">
              <a:buNone/>
            </a:pPr>
            <a:r>
              <a:rPr lang="en-US" sz="1500" b="1" dirty="0">
                <a:solidFill>
                  <a:srgbClr val="0F2A2E"/>
                </a:solidFill>
                <a:latin typeface="Calibri" pitchFamily="34" charset="0"/>
                <a:ea typeface="Calibri" pitchFamily="34" charset="-122"/>
                <a:cs typeface="Calibri" pitchFamily="34" charset="-120"/>
              </a:rPr>
              <a:t>Why it matters:  </a:t>
            </a:r>
            <a:pPr indent="0" marL="0">
              <a:buNone/>
            </a:pPr>
            <a:r>
              <a:rPr lang="en-US" sz="1500" dirty="0">
                <a:solidFill>
                  <a:srgbClr val="FFFFFF"/>
                </a:solidFill>
                <a:latin typeface="Calibri" pitchFamily="34" charset="0"/>
                <a:ea typeface="Calibri" pitchFamily="34" charset="-122"/>
                <a:cs typeface="Calibri" pitchFamily="34" charset="-120"/>
              </a:rPr>
              <a:t>instructions live in the system prompt, untrusted user input stays in the user prompt. This is also your first defence against prompt injection.</a:t>
            </a:r>
            <a:endParaRPr lang="en-US" sz="1500" dirty="0"/>
          </a:p>
        </p:txBody>
      </p:sp>
      <p:sp>
        <p:nvSpPr>
          <p:cNvPr id="19" name="Text 14"/>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20" name="Text 15"/>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CORE TOOLKIT</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Four techniques — experienced, not memorised</a:t>
            </a:r>
            <a:endParaRPr lang="en-US" sz="2900" dirty="0"/>
          </a:p>
        </p:txBody>
      </p:sp>
      <p:sp>
        <p:nvSpPr>
          <p:cNvPr id="4" name="Shape 2"/>
          <p:cNvSpPr/>
          <p:nvPr/>
        </p:nvSpPr>
        <p:spPr>
          <a:xfrm>
            <a:off x="640080" y="1828800"/>
            <a:ext cx="5349240" cy="1783080"/>
          </a:xfrm>
          <a:prstGeom prst="roundRect">
            <a:avLst>
              <a:gd name="adj" fmla="val 5128"/>
            </a:avLst>
          </a:prstGeom>
          <a:solidFill>
            <a:srgbClr val="F1F5F9"/>
          </a:solidFill>
          <a:ln/>
          <a:effectLst>
            <a:outerShdw sx="100000" sy="100000" kx="0" ky="0" algn="bl" rotWithShape="0" blurRad="88900" dist="38100" dir="2700000">
              <a:srgbClr val="000000">
                <a:alpha val="10000"/>
              </a:srgbClr>
            </a:outerShdw>
          </a:effectLst>
        </p:spPr>
      </p:sp>
      <p:sp>
        <p:nvSpPr>
          <p:cNvPr id="5" name="Shape 3"/>
          <p:cNvSpPr/>
          <p:nvPr/>
        </p:nvSpPr>
        <p:spPr>
          <a:xfrm>
            <a:off x="914400" y="2148840"/>
            <a:ext cx="868680" cy="868680"/>
          </a:xfrm>
          <a:prstGeom prst="ellipse">
            <a:avLst/>
          </a:prstGeom>
          <a:solidFill>
            <a:srgbClr val="0D9488"/>
          </a:solidFill>
          <a:ln/>
        </p:spPr>
      </p:sp>
      <p:pic>
        <p:nvPicPr>
          <p:cNvPr id="6" name="Image 0" descr="icons/chat_w.png">    </p:cNvPr>
          <p:cNvPicPr>
            <a:picLocks noChangeAspect="1"/>
          </p:cNvPicPr>
          <p:nvPr/>
        </p:nvPicPr>
        <p:blipFill>
          <a:blip r:embed="rId1"/>
          <a:stretch>
            <a:fillRect/>
          </a:stretch>
        </p:blipFill>
        <p:spPr>
          <a:xfrm>
            <a:off x="1124712" y="2359152"/>
            <a:ext cx="438912" cy="438912"/>
          </a:xfrm>
          <a:prstGeom prst="rect">
            <a:avLst/>
          </a:prstGeom>
        </p:spPr>
      </p:pic>
      <p:sp>
        <p:nvSpPr>
          <p:cNvPr id="7" name="Text 4"/>
          <p:cNvSpPr/>
          <p:nvPr/>
        </p:nvSpPr>
        <p:spPr>
          <a:xfrm>
            <a:off x="1965960" y="2121408"/>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Zero-shot</a:t>
            </a:r>
            <a:endParaRPr lang="en-US" sz="1900" dirty="0"/>
          </a:p>
        </p:txBody>
      </p:sp>
      <p:sp>
        <p:nvSpPr>
          <p:cNvPr id="8" name="Text 5"/>
          <p:cNvSpPr/>
          <p:nvPr/>
        </p:nvSpPr>
        <p:spPr>
          <a:xfrm>
            <a:off x="1965960" y="2606040"/>
            <a:ext cx="3886200" cy="91440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Just ask. No examples. Fast and cheap — fine for simple, common tasks.</a:t>
            </a:r>
            <a:endParaRPr lang="en-US" sz="1350" dirty="0"/>
          </a:p>
        </p:txBody>
      </p:sp>
      <p:sp>
        <p:nvSpPr>
          <p:cNvPr id="9" name="Shape 6"/>
          <p:cNvSpPr/>
          <p:nvPr/>
        </p:nvSpPr>
        <p:spPr>
          <a:xfrm>
            <a:off x="6172200" y="1828800"/>
            <a:ext cx="5349240" cy="1783080"/>
          </a:xfrm>
          <a:prstGeom prst="roundRect">
            <a:avLst>
              <a:gd name="adj" fmla="val 5128"/>
            </a:avLst>
          </a:prstGeom>
          <a:solidFill>
            <a:srgbClr val="E8F4F2"/>
          </a:solidFill>
          <a:ln/>
          <a:effectLst>
            <a:outerShdw sx="100000" sy="100000" kx="0" ky="0" algn="bl" rotWithShape="0" blurRad="88900" dist="38100" dir="2700000">
              <a:srgbClr val="000000">
                <a:alpha val="10000"/>
              </a:srgbClr>
            </a:outerShdw>
          </a:effectLst>
        </p:spPr>
      </p:sp>
      <p:sp>
        <p:nvSpPr>
          <p:cNvPr id="10" name="Shape 7"/>
          <p:cNvSpPr/>
          <p:nvPr/>
        </p:nvSpPr>
        <p:spPr>
          <a:xfrm>
            <a:off x="6446520" y="2148840"/>
            <a:ext cx="868680" cy="868680"/>
          </a:xfrm>
          <a:prstGeom prst="ellipse">
            <a:avLst/>
          </a:prstGeom>
          <a:solidFill>
            <a:srgbClr val="F4A338"/>
          </a:solidFill>
          <a:ln/>
        </p:spPr>
      </p:sp>
      <p:pic>
        <p:nvPicPr>
          <p:cNvPr id="11" name="Image 1" descr="icons/clone_w.png">    </p:cNvPr>
          <p:cNvPicPr>
            <a:picLocks noChangeAspect="1"/>
          </p:cNvPicPr>
          <p:nvPr/>
        </p:nvPicPr>
        <p:blipFill>
          <a:blip r:embed="rId2"/>
          <a:stretch>
            <a:fillRect/>
          </a:stretch>
        </p:blipFill>
        <p:spPr>
          <a:xfrm>
            <a:off x="6656832" y="2359152"/>
            <a:ext cx="438912" cy="438912"/>
          </a:xfrm>
          <a:prstGeom prst="rect">
            <a:avLst/>
          </a:prstGeom>
        </p:spPr>
      </p:pic>
      <p:sp>
        <p:nvSpPr>
          <p:cNvPr id="12" name="Text 8"/>
          <p:cNvSpPr/>
          <p:nvPr/>
        </p:nvSpPr>
        <p:spPr>
          <a:xfrm>
            <a:off x="7498080" y="2121408"/>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Few-shot</a:t>
            </a:r>
            <a:endParaRPr lang="en-US" sz="1900" dirty="0"/>
          </a:p>
        </p:txBody>
      </p:sp>
      <p:sp>
        <p:nvSpPr>
          <p:cNvPr id="13" name="Text 9"/>
          <p:cNvSpPr/>
          <p:nvPr/>
        </p:nvSpPr>
        <p:spPr>
          <a:xfrm>
            <a:off x="7498080" y="2606040"/>
            <a:ext cx="3886200" cy="91440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Show 1–3 worked examples. The model imitates the pattern. Huge reliability gain.</a:t>
            </a:r>
            <a:endParaRPr lang="en-US" sz="1350" dirty="0"/>
          </a:p>
        </p:txBody>
      </p:sp>
      <p:sp>
        <p:nvSpPr>
          <p:cNvPr id="14" name="Shape 10"/>
          <p:cNvSpPr/>
          <p:nvPr/>
        </p:nvSpPr>
        <p:spPr>
          <a:xfrm>
            <a:off x="640080" y="3794760"/>
            <a:ext cx="5349240" cy="1783080"/>
          </a:xfrm>
          <a:prstGeom prst="roundRect">
            <a:avLst>
              <a:gd name="adj" fmla="val 5128"/>
            </a:avLst>
          </a:prstGeom>
          <a:solidFill>
            <a:srgbClr val="F1F5F9"/>
          </a:solidFill>
          <a:ln/>
          <a:effectLst>
            <a:outerShdw sx="100000" sy="100000" kx="0" ky="0" algn="bl" rotWithShape="0" blurRad="88900" dist="38100" dir="2700000">
              <a:srgbClr val="000000">
                <a:alpha val="10000"/>
              </a:srgbClr>
            </a:outerShdw>
          </a:effectLst>
        </p:spPr>
      </p:sp>
      <p:sp>
        <p:nvSpPr>
          <p:cNvPr id="15" name="Shape 11"/>
          <p:cNvSpPr/>
          <p:nvPr/>
        </p:nvSpPr>
        <p:spPr>
          <a:xfrm>
            <a:off x="914400" y="4114800"/>
            <a:ext cx="868680" cy="868680"/>
          </a:xfrm>
          <a:prstGeom prst="ellipse">
            <a:avLst/>
          </a:prstGeom>
          <a:solidFill>
            <a:srgbClr val="1FA971"/>
          </a:solidFill>
          <a:ln/>
        </p:spPr>
      </p:sp>
      <p:pic>
        <p:nvPicPr>
          <p:cNvPr id="16" name="Image 2" descr="icons/flow_w.png">    </p:cNvPr>
          <p:cNvPicPr>
            <a:picLocks noChangeAspect="1"/>
          </p:cNvPicPr>
          <p:nvPr/>
        </p:nvPicPr>
        <p:blipFill>
          <a:blip r:embed="rId3"/>
          <a:stretch>
            <a:fillRect/>
          </a:stretch>
        </p:blipFill>
        <p:spPr>
          <a:xfrm>
            <a:off x="1124712" y="4325112"/>
            <a:ext cx="438912" cy="438912"/>
          </a:xfrm>
          <a:prstGeom prst="rect">
            <a:avLst/>
          </a:prstGeom>
        </p:spPr>
      </p:pic>
      <p:sp>
        <p:nvSpPr>
          <p:cNvPr id="17" name="Text 12"/>
          <p:cNvSpPr/>
          <p:nvPr/>
        </p:nvSpPr>
        <p:spPr>
          <a:xfrm>
            <a:off x="1965960" y="4087368"/>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Chain-of-thought</a:t>
            </a:r>
            <a:endParaRPr lang="en-US" sz="1900" dirty="0"/>
          </a:p>
        </p:txBody>
      </p:sp>
      <p:sp>
        <p:nvSpPr>
          <p:cNvPr id="18" name="Text 13"/>
          <p:cNvSpPr/>
          <p:nvPr/>
        </p:nvSpPr>
        <p:spPr>
          <a:xfrm>
            <a:off x="1965960" y="4572000"/>
            <a:ext cx="3886200" cy="91440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“Think step by step.” Trades tokens for accuracy on reasoning &amp; math.</a:t>
            </a:r>
            <a:endParaRPr lang="en-US" sz="1350" dirty="0"/>
          </a:p>
        </p:txBody>
      </p:sp>
      <p:sp>
        <p:nvSpPr>
          <p:cNvPr id="19" name="Shape 14"/>
          <p:cNvSpPr/>
          <p:nvPr/>
        </p:nvSpPr>
        <p:spPr>
          <a:xfrm>
            <a:off x="6172200" y="3794760"/>
            <a:ext cx="5349240" cy="1783080"/>
          </a:xfrm>
          <a:prstGeom prst="roundRect">
            <a:avLst>
              <a:gd name="adj" fmla="val 5128"/>
            </a:avLst>
          </a:prstGeom>
          <a:solidFill>
            <a:srgbClr val="E8F4F2"/>
          </a:solidFill>
          <a:ln/>
          <a:effectLst>
            <a:outerShdw sx="100000" sy="100000" kx="0" ky="0" algn="bl" rotWithShape="0" blurRad="88900" dist="38100" dir="2700000">
              <a:srgbClr val="000000">
                <a:alpha val="10000"/>
              </a:srgbClr>
            </a:outerShdw>
          </a:effectLst>
        </p:spPr>
      </p:sp>
      <p:sp>
        <p:nvSpPr>
          <p:cNvPr id="20" name="Shape 15"/>
          <p:cNvSpPr/>
          <p:nvPr/>
        </p:nvSpPr>
        <p:spPr>
          <a:xfrm>
            <a:off x="6446520" y="4114800"/>
            <a:ext cx="868680" cy="868680"/>
          </a:xfrm>
          <a:prstGeom prst="ellipse">
            <a:avLst/>
          </a:prstGeom>
          <a:solidFill>
            <a:srgbClr val="0F2A2E"/>
          </a:solidFill>
          <a:ln/>
        </p:spPr>
      </p:sp>
      <p:pic>
        <p:nvPicPr>
          <p:cNvPr id="21" name="Image 3" descr="icons/filecode_w.png">    </p:cNvPr>
          <p:cNvPicPr>
            <a:picLocks noChangeAspect="1"/>
          </p:cNvPicPr>
          <p:nvPr/>
        </p:nvPicPr>
        <p:blipFill>
          <a:blip r:embed="rId4"/>
          <a:stretch>
            <a:fillRect/>
          </a:stretch>
        </p:blipFill>
        <p:spPr>
          <a:xfrm>
            <a:off x="6656832" y="4325112"/>
            <a:ext cx="438912" cy="438912"/>
          </a:xfrm>
          <a:prstGeom prst="rect">
            <a:avLst/>
          </a:prstGeom>
        </p:spPr>
      </p:pic>
      <p:sp>
        <p:nvSpPr>
          <p:cNvPr id="22" name="Text 16"/>
          <p:cNvSpPr/>
          <p:nvPr/>
        </p:nvSpPr>
        <p:spPr>
          <a:xfrm>
            <a:off x="7498080" y="4087368"/>
            <a:ext cx="3840480" cy="50292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Structured output</a:t>
            </a:r>
            <a:endParaRPr lang="en-US" sz="1900" dirty="0"/>
          </a:p>
        </p:txBody>
      </p:sp>
      <p:sp>
        <p:nvSpPr>
          <p:cNvPr id="23" name="Text 17"/>
          <p:cNvSpPr/>
          <p:nvPr/>
        </p:nvSpPr>
        <p:spPr>
          <a:xfrm>
            <a:off x="7498080" y="4572000"/>
            <a:ext cx="3886200" cy="91440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Demand JSON / fixed schema so downstream code can consume it safely.</a:t>
            </a:r>
            <a:endParaRPr lang="en-US" sz="1350" dirty="0"/>
          </a:p>
        </p:txBody>
      </p:sp>
      <p:sp>
        <p:nvSpPr>
          <p:cNvPr id="24" name="Text 18"/>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25" name="Text 19"/>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THE PROFESSIONAL'S SIGNATURE MOVE</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Make the model speak JSON, not prose</a:t>
            </a:r>
            <a:endParaRPr lang="en-US" sz="3000" dirty="0"/>
          </a:p>
        </p:txBody>
      </p:sp>
      <p:sp>
        <p:nvSpPr>
          <p:cNvPr id="4" name="Shape 2"/>
          <p:cNvSpPr/>
          <p:nvPr/>
        </p:nvSpPr>
        <p:spPr>
          <a:xfrm>
            <a:off x="640080" y="1828800"/>
            <a:ext cx="5349240" cy="3931920"/>
          </a:xfrm>
          <a:prstGeom prst="roundRect">
            <a:avLst>
              <a:gd name="adj" fmla="val 2326"/>
            </a:avLst>
          </a:prstGeom>
          <a:solidFill>
            <a:srgbClr val="143A40"/>
          </a:solidFill>
          <a:ln w="16510">
            <a:solidFill>
              <a:srgbClr val="E05252"/>
            </a:solidFill>
            <a:prstDash val="solid"/>
          </a:ln>
        </p:spPr>
      </p:sp>
      <p:sp>
        <p:nvSpPr>
          <p:cNvPr id="5" name="Text 3"/>
          <p:cNvSpPr/>
          <p:nvPr/>
        </p:nvSpPr>
        <p:spPr>
          <a:xfrm>
            <a:off x="914400" y="2057400"/>
            <a:ext cx="4572000" cy="365760"/>
          </a:xfrm>
          <a:prstGeom prst="rect">
            <a:avLst/>
          </a:prstGeom>
          <a:noFill/>
          <a:ln/>
        </p:spPr>
        <p:txBody>
          <a:bodyPr wrap="square" rtlCol="0" anchor="ctr"/>
          <a:lstStyle/>
          <a:p>
            <a:pPr indent="0" marL="0">
              <a:buNone/>
            </a:pPr>
            <a:r>
              <a:rPr lang="en-US" sz="1400" b="1" dirty="0">
                <a:solidFill>
                  <a:srgbClr val="E05252"/>
                </a:solidFill>
                <a:latin typeface="Calibri" pitchFamily="34" charset="0"/>
                <a:ea typeface="Calibri" pitchFamily="34" charset="-122"/>
                <a:cs typeface="Calibri" pitchFamily="34" charset="-120"/>
              </a:rPr>
              <a:t>PROSE  →  unusable by code</a:t>
            </a:r>
            <a:endParaRPr lang="en-US" sz="1400" dirty="0"/>
          </a:p>
        </p:txBody>
      </p:sp>
      <p:sp>
        <p:nvSpPr>
          <p:cNvPr id="6" name="Text 4"/>
          <p:cNvSpPr/>
          <p:nvPr/>
        </p:nvSpPr>
        <p:spPr>
          <a:xfrm>
            <a:off x="914400" y="2560320"/>
            <a:ext cx="4846320" cy="1463040"/>
          </a:xfrm>
          <a:prstGeom prst="rect">
            <a:avLst/>
          </a:prstGeom>
          <a:noFill/>
          <a:ln/>
        </p:spPr>
        <p:txBody>
          <a:bodyPr wrap="square" rtlCol="0" anchor="ctr"/>
          <a:lstStyle/>
          <a:p>
            <a:pPr indent="0" marL="0">
              <a:buNone/>
            </a:pPr>
            <a:r>
              <a:rPr lang="en-US" sz="1400" i="1" dirty="0">
                <a:solidFill>
                  <a:srgbClr val="C9DDDF"/>
                </a:solidFill>
                <a:latin typeface="Calibri" pitchFamily="34" charset="0"/>
                <a:ea typeface="Calibri" pitchFamily="34" charset="-122"/>
                <a:cs typeface="Calibri" pitchFamily="34" charset="-120"/>
              </a:rPr>
              <a:t>"Sure! This candidate has about 5 years of experience and seems skilled in Python, SQL, and some cloud tools..."</a:t>
            </a:r>
            <a:endParaRPr lang="en-US" sz="1400" dirty="0"/>
          </a:p>
        </p:txBody>
      </p:sp>
      <p:sp>
        <p:nvSpPr>
          <p:cNvPr id="7" name="Text 5"/>
          <p:cNvSpPr/>
          <p:nvPr/>
        </p:nvSpPr>
        <p:spPr>
          <a:xfrm>
            <a:off x="914400" y="4297680"/>
            <a:ext cx="4846320" cy="1097280"/>
          </a:xfrm>
          <a:prstGeom prst="rect">
            <a:avLst/>
          </a:prstGeom>
          <a:noFill/>
          <a:ln/>
        </p:spPr>
        <p:txBody>
          <a:bodyPr wrap="square" rtlCol="0" anchor="ctr"/>
          <a:lstStyle/>
          <a:p>
            <a:pPr indent="0" marL="0">
              <a:buNone/>
            </a:pPr>
            <a:r>
              <a:rPr lang="en-US" sz="1400" dirty="0">
                <a:solidFill>
                  <a:srgbClr val="9FBEC0"/>
                </a:solidFill>
                <a:latin typeface="Calibri" pitchFamily="34" charset="0"/>
                <a:ea typeface="Calibri" pitchFamily="34" charset="-122"/>
                <a:cs typeface="Calibri" pitchFamily="34" charset="-120"/>
              </a:rPr>
              <a:t>Your code must now guess where the data is. Fragile. Breaks constantly.</a:t>
            </a:r>
            <a:endParaRPr lang="en-US" sz="1400" dirty="0"/>
          </a:p>
        </p:txBody>
      </p:sp>
      <p:sp>
        <p:nvSpPr>
          <p:cNvPr id="8" name="Shape 6"/>
          <p:cNvSpPr/>
          <p:nvPr/>
        </p:nvSpPr>
        <p:spPr>
          <a:xfrm>
            <a:off x="6172200" y="1828800"/>
            <a:ext cx="5349240" cy="3931920"/>
          </a:xfrm>
          <a:prstGeom prst="roundRect">
            <a:avLst>
              <a:gd name="adj" fmla="val 2326"/>
            </a:avLst>
          </a:prstGeom>
          <a:solidFill>
            <a:srgbClr val="143A40"/>
          </a:solidFill>
          <a:ln w="16510">
            <a:solidFill>
              <a:srgbClr val="1FA971"/>
            </a:solidFill>
            <a:prstDash val="solid"/>
          </a:ln>
        </p:spPr>
      </p:sp>
      <p:sp>
        <p:nvSpPr>
          <p:cNvPr id="9" name="Text 7"/>
          <p:cNvSpPr/>
          <p:nvPr/>
        </p:nvSpPr>
        <p:spPr>
          <a:xfrm>
            <a:off x="6446520" y="2057400"/>
            <a:ext cx="4572000" cy="365760"/>
          </a:xfrm>
          <a:prstGeom prst="rect">
            <a:avLst/>
          </a:prstGeom>
          <a:noFill/>
          <a:ln/>
        </p:spPr>
        <p:txBody>
          <a:bodyPr wrap="square" rtlCol="0" anchor="ctr"/>
          <a:lstStyle/>
          <a:p>
            <a:pPr indent="0" marL="0">
              <a:buNone/>
            </a:pPr>
            <a:r>
              <a:rPr lang="en-US" sz="1400" b="1" dirty="0">
                <a:solidFill>
                  <a:srgbClr val="1FA971"/>
                </a:solidFill>
                <a:latin typeface="Calibri" pitchFamily="34" charset="0"/>
                <a:ea typeface="Calibri" pitchFamily="34" charset="-122"/>
                <a:cs typeface="Calibri" pitchFamily="34" charset="-120"/>
              </a:rPr>
              <a:t>JSON  →  drops into your app</a:t>
            </a:r>
            <a:endParaRPr lang="en-US" sz="1400" dirty="0"/>
          </a:p>
        </p:txBody>
      </p:sp>
      <p:sp>
        <p:nvSpPr>
          <p:cNvPr id="10" name="Text 8"/>
          <p:cNvSpPr/>
          <p:nvPr/>
        </p:nvSpPr>
        <p:spPr>
          <a:xfrm>
            <a:off x="6446520" y="2560320"/>
            <a:ext cx="4846320" cy="1828800"/>
          </a:xfrm>
          <a:prstGeom prst="rect">
            <a:avLst/>
          </a:prstGeom>
          <a:noFill/>
          <a:ln/>
        </p:spPr>
        <p:txBody>
          <a:bodyPr wrap="square" rtlCol="0" anchor="ctr"/>
          <a:lstStyle/>
          <a:p>
            <a:pPr indent="0" marL="0">
              <a:lnSpc>
                <a:spcPct val="120000"/>
              </a:lnSpc>
              <a:buNone/>
            </a:pPr>
            <a:r>
              <a:rPr lang="en-US" sz="1500" dirty="0">
                <a:solidFill>
                  <a:srgbClr val="5EEAD4"/>
                </a:solidFill>
                <a:latin typeface="Courier New" pitchFamily="34" charset="0"/>
                <a:ea typeface="Courier New" pitchFamily="34" charset="-122"/>
                <a:cs typeface="Courier New" pitchFamily="34" charset="-120"/>
              </a:rPr>
              <a:t>{</a:t>
            </a:r>
            <a:endParaRPr lang="en-US" sz="1500" dirty="0"/>
          </a:p>
          <a:p>
            <a:pPr indent="0" marL="0">
              <a:lnSpc>
                <a:spcPct val="120000"/>
              </a:lnSpc>
              <a:buNone/>
            </a:pPr>
            <a:r>
              <a:rPr lang="en-US" sz="1500" dirty="0">
                <a:solidFill>
                  <a:srgbClr val="5EEAD4"/>
                </a:solidFill>
                <a:latin typeface="Courier New" pitchFamily="34" charset="0"/>
                <a:ea typeface="Courier New" pitchFamily="34" charset="-122"/>
                <a:cs typeface="Courier New" pitchFamily="34" charset="-120"/>
              </a:rPr>
              <a:t>  "years": 5,</a:t>
            </a:r>
            <a:endParaRPr lang="en-US" sz="1500" dirty="0"/>
          </a:p>
          <a:p>
            <a:pPr indent="0" marL="0">
              <a:lnSpc>
                <a:spcPct val="120000"/>
              </a:lnSpc>
              <a:buNone/>
            </a:pPr>
            <a:r>
              <a:rPr lang="en-US" sz="1500" dirty="0">
                <a:solidFill>
                  <a:srgbClr val="5EEAD4"/>
                </a:solidFill>
                <a:latin typeface="Courier New" pitchFamily="34" charset="0"/>
                <a:ea typeface="Courier New" pitchFamily="34" charset="-122"/>
                <a:cs typeface="Courier New" pitchFamily="34" charset="-120"/>
              </a:rPr>
              <a:t>  "skills": ["Python","SQL"],</a:t>
            </a:r>
            <a:endParaRPr lang="en-US" sz="1500" dirty="0"/>
          </a:p>
          <a:p>
            <a:pPr indent="0" marL="0">
              <a:lnSpc>
                <a:spcPct val="120000"/>
              </a:lnSpc>
              <a:buNone/>
            </a:pPr>
            <a:r>
              <a:rPr lang="en-US" sz="1500" dirty="0">
                <a:solidFill>
                  <a:srgbClr val="5EEAD4"/>
                </a:solidFill>
                <a:latin typeface="Courier New" pitchFamily="34" charset="0"/>
                <a:ea typeface="Courier New" pitchFamily="34" charset="-122"/>
                <a:cs typeface="Courier New" pitchFamily="34" charset="-120"/>
              </a:rPr>
              <a:t>  "summary": "Cloud data engineer"</a:t>
            </a:r>
            <a:endParaRPr lang="en-US" sz="1500" dirty="0"/>
          </a:p>
          <a:p>
            <a:pPr indent="0" marL="0">
              <a:lnSpc>
                <a:spcPct val="120000"/>
              </a:lnSpc>
              <a:buNone/>
            </a:pPr>
            <a:r>
              <a:rPr lang="en-US" sz="1500" dirty="0">
                <a:solidFill>
                  <a:srgbClr val="5EEAD4"/>
                </a:solidFill>
                <a:latin typeface="Courier New" pitchFamily="34" charset="0"/>
                <a:ea typeface="Courier New" pitchFamily="34" charset="-122"/>
                <a:cs typeface="Courier New" pitchFamily="34" charset="-120"/>
              </a:rPr>
              <a:t>}</a:t>
            </a:r>
            <a:endParaRPr lang="en-US" sz="1500" dirty="0"/>
          </a:p>
        </p:txBody>
      </p:sp>
      <p:sp>
        <p:nvSpPr>
          <p:cNvPr id="11" name="Text 9"/>
          <p:cNvSpPr/>
          <p:nvPr/>
        </p:nvSpPr>
        <p:spPr>
          <a:xfrm>
            <a:off x="6446520" y="4572000"/>
            <a:ext cx="4937760" cy="822960"/>
          </a:xfrm>
          <a:prstGeom prst="rect">
            <a:avLst/>
          </a:prstGeom>
          <a:noFill/>
          <a:ln/>
        </p:spPr>
        <p:txBody>
          <a:bodyPr wrap="square" rtlCol="0" anchor="ctr"/>
          <a:lstStyle/>
          <a:p>
            <a:pPr indent="0" marL="0">
              <a:buNone/>
            </a:pPr>
            <a:r>
              <a:rPr lang="en-US" sz="1350" dirty="0">
                <a:solidFill>
                  <a:srgbClr val="D6E8E9"/>
                </a:solidFill>
                <a:latin typeface="Courier New" pitchFamily="34" charset="0"/>
                <a:ea typeface="Courier New" pitchFamily="34" charset="-122"/>
                <a:cs typeface="Courier New" pitchFamily="34" charset="-120"/>
              </a:rPr>
              <a:t>data = json.loads(response)  →  done. Predictable every time.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PROMPT ECONOMY</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100" b="1" dirty="0">
                <a:solidFill>
                  <a:srgbClr val="1E293B"/>
                </a:solidFill>
                <a:latin typeface="Cambria" pitchFamily="34" charset="0"/>
                <a:ea typeface="Cambria" pitchFamily="34" charset="-122"/>
                <a:cs typeface="Cambria" pitchFamily="34" charset="-120"/>
              </a:rPr>
              <a:t>Precision vs. verbosity vs. cost</a:t>
            </a:r>
            <a:endParaRPr lang="en-US" sz="3100" dirty="0"/>
          </a:p>
        </p:txBody>
      </p:sp>
      <p:sp>
        <p:nvSpPr>
          <p:cNvPr id="4" name="Shape 2"/>
          <p:cNvSpPr/>
          <p:nvPr/>
        </p:nvSpPr>
        <p:spPr>
          <a:xfrm>
            <a:off x="640080" y="1828800"/>
            <a:ext cx="3520440" cy="3291840"/>
          </a:xfrm>
          <a:prstGeom prst="roundRect">
            <a:avLst>
              <a:gd name="adj" fmla="val 3333"/>
            </a:avLst>
          </a:prstGeom>
          <a:solidFill>
            <a:srgbClr val="F1F5F9"/>
          </a:solidFill>
          <a:ln/>
          <a:effectLst>
            <a:outerShdw sx="100000" sy="100000" kx="0" ky="0" algn="bl" rotWithShape="0" blurRad="88900" dist="38100" dir="2700000">
              <a:srgbClr val="000000">
                <a:alpha val="12000"/>
              </a:srgbClr>
            </a:outerShdw>
          </a:effectLst>
        </p:spPr>
      </p:sp>
      <p:sp>
        <p:nvSpPr>
          <p:cNvPr id="5" name="Shape 3"/>
          <p:cNvSpPr/>
          <p:nvPr/>
        </p:nvSpPr>
        <p:spPr>
          <a:xfrm>
            <a:off x="960120" y="2194560"/>
            <a:ext cx="914400" cy="914400"/>
          </a:xfrm>
          <a:prstGeom prst="ellipse">
            <a:avLst/>
          </a:prstGeom>
          <a:solidFill>
            <a:srgbClr val="F4A338"/>
          </a:solidFill>
          <a:ln/>
        </p:spPr>
      </p:sp>
      <p:pic>
        <p:nvPicPr>
          <p:cNvPr id="6" name="Image 0" descr="icons/compress.png">    </p:cNvPr>
          <p:cNvPicPr>
            <a:picLocks noChangeAspect="1"/>
          </p:cNvPicPr>
          <p:nvPr/>
        </p:nvPicPr>
        <p:blipFill>
          <a:blip r:embed="rId1"/>
          <a:stretch>
            <a:fillRect/>
          </a:stretch>
        </p:blipFill>
        <p:spPr>
          <a:xfrm>
            <a:off x="1188720" y="2423160"/>
            <a:ext cx="457200" cy="457200"/>
          </a:xfrm>
          <a:prstGeom prst="rect">
            <a:avLst/>
          </a:prstGeom>
        </p:spPr>
      </p:pic>
      <p:sp>
        <p:nvSpPr>
          <p:cNvPr id="7" name="Text 4"/>
          <p:cNvSpPr/>
          <p:nvPr/>
        </p:nvSpPr>
        <p:spPr>
          <a:xfrm>
            <a:off x="914400" y="3246120"/>
            <a:ext cx="3017520" cy="54864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Cut the filler</a:t>
            </a:r>
            <a:endParaRPr lang="en-US" sz="1800" dirty="0"/>
          </a:p>
        </p:txBody>
      </p:sp>
      <p:sp>
        <p:nvSpPr>
          <p:cNvPr id="8" name="Text 5"/>
          <p:cNvSpPr/>
          <p:nvPr/>
        </p:nvSpPr>
        <p:spPr>
          <a:xfrm>
            <a:off x="914400" y="3840480"/>
            <a:ext cx="3063240" cy="118872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“Please kindly…”, “I would like you to…” — pure tokens, zero quality. Delete them.</a:t>
            </a:r>
            <a:endParaRPr lang="en-US" sz="1350" dirty="0"/>
          </a:p>
        </p:txBody>
      </p:sp>
      <p:sp>
        <p:nvSpPr>
          <p:cNvPr id="9" name="Shape 6"/>
          <p:cNvSpPr/>
          <p:nvPr/>
        </p:nvSpPr>
        <p:spPr>
          <a:xfrm>
            <a:off x="4361688" y="1828800"/>
            <a:ext cx="3520440" cy="3291840"/>
          </a:xfrm>
          <a:prstGeom prst="roundRect">
            <a:avLst>
              <a:gd name="adj" fmla="val 3333"/>
            </a:avLst>
          </a:prstGeom>
          <a:solidFill>
            <a:srgbClr val="F1F5F9"/>
          </a:solidFill>
          <a:ln/>
          <a:effectLst>
            <a:outerShdw sx="100000" sy="100000" kx="0" ky="0" algn="bl" rotWithShape="0" blurRad="88900" dist="38100" dir="2700000">
              <a:srgbClr val="000000">
                <a:alpha val="12000"/>
              </a:srgbClr>
            </a:outerShdw>
          </a:effectLst>
        </p:spPr>
      </p:sp>
      <p:sp>
        <p:nvSpPr>
          <p:cNvPr id="10" name="Shape 7"/>
          <p:cNvSpPr/>
          <p:nvPr/>
        </p:nvSpPr>
        <p:spPr>
          <a:xfrm>
            <a:off x="4681728" y="2194560"/>
            <a:ext cx="914400" cy="914400"/>
          </a:xfrm>
          <a:prstGeom prst="ellipse">
            <a:avLst/>
          </a:prstGeom>
          <a:solidFill>
            <a:srgbClr val="0D9488"/>
          </a:solidFill>
          <a:ln/>
        </p:spPr>
      </p:sp>
      <p:pic>
        <p:nvPicPr>
          <p:cNvPr id="11" name="Image 1" descr="icons/clone.png">    </p:cNvPr>
          <p:cNvPicPr>
            <a:picLocks noChangeAspect="1"/>
          </p:cNvPicPr>
          <p:nvPr/>
        </p:nvPicPr>
        <p:blipFill>
          <a:blip r:embed="rId2"/>
          <a:stretch>
            <a:fillRect/>
          </a:stretch>
        </p:blipFill>
        <p:spPr>
          <a:xfrm>
            <a:off x="4910328" y="2423160"/>
            <a:ext cx="457200" cy="457200"/>
          </a:xfrm>
          <a:prstGeom prst="rect">
            <a:avLst/>
          </a:prstGeom>
        </p:spPr>
      </p:pic>
      <p:sp>
        <p:nvSpPr>
          <p:cNvPr id="12" name="Text 8"/>
          <p:cNvSpPr/>
          <p:nvPr/>
        </p:nvSpPr>
        <p:spPr>
          <a:xfrm>
            <a:off x="4636008" y="3246120"/>
            <a:ext cx="3017520" cy="54864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Examples earn their cost</a:t>
            </a:r>
            <a:endParaRPr lang="en-US" sz="1800" dirty="0"/>
          </a:p>
        </p:txBody>
      </p:sp>
      <p:sp>
        <p:nvSpPr>
          <p:cNvPr id="13" name="Text 9"/>
          <p:cNvSpPr/>
          <p:nvPr/>
        </p:nvSpPr>
        <p:spPr>
          <a:xfrm>
            <a:off x="4636008" y="3840480"/>
            <a:ext cx="3063240" cy="118872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 few-shot example adds input tokens but often saves a failed, re-run call. Net win.</a:t>
            </a:r>
            <a:endParaRPr lang="en-US" sz="1350" dirty="0"/>
          </a:p>
        </p:txBody>
      </p:sp>
      <p:sp>
        <p:nvSpPr>
          <p:cNvPr id="14" name="Shape 10"/>
          <p:cNvSpPr/>
          <p:nvPr/>
        </p:nvSpPr>
        <p:spPr>
          <a:xfrm>
            <a:off x="8083296" y="1828800"/>
            <a:ext cx="3520440" cy="3291840"/>
          </a:xfrm>
          <a:prstGeom prst="roundRect">
            <a:avLst>
              <a:gd name="adj" fmla="val 3333"/>
            </a:avLst>
          </a:prstGeom>
          <a:solidFill>
            <a:srgbClr val="F1F5F9"/>
          </a:solidFill>
          <a:ln/>
          <a:effectLst>
            <a:outerShdw sx="100000" sy="100000" kx="0" ky="0" algn="bl" rotWithShape="0" blurRad="88900" dist="38100" dir="2700000">
              <a:srgbClr val="000000">
                <a:alpha val="12000"/>
              </a:srgbClr>
            </a:outerShdw>
          </a:effectLst>
        </p:spPr>
      </p:sp>
      <p:sp>
        <p:nvSpPr>
          <p:cNvPr id="15" name="Shape 11"/>
          <p:cNvSpPr/>
          <p:nvPr/>
        </p:nvSpPr>
        <p:spPr>
          <a:xfrm>
            <a:off x="8403336" y="2194560"/>
            <a:ext cx="914400" cy="914400"/>
          </a:xfrm>
          <a:prstGeom prst="ellipse">
            <a:avLst/>
          </a:prstGeom>
          <a:solidFill>
            <a:srgbClr val="1FA971"/>
          </a:solidFill>
          <a:ln/>
        </p:spPr>
      </p:sp>
      <p:pic>
        <p:nvPicPr>
          <p:cNvPr id="16" name="Image 2" descr="icons/ruler.png">    </p:cNvPr>
          <p:cNvPicPr>
            <a:picLocks noChangeAspect="1"/>
          </p:cNvPicPr>
          <p:nvPr/>
        </p:nvPicPr>
        <p:blipFill>
          <a:blip r:embed="rId3"/>
          <a:stretch>
            <a:fillRect/>
          </a:stretch>
        </p:blipFill>
        <p:spPr>
          <a:xfrm>
            <a:off x="8631936" y="2423160"/>
            <a:ext cx="457200" cy="457200"/>
          </a:xfrm>
          <a:prstGeom prst="rect">
            <a:avLst/>
          </a:prstGeom>
        </p:spPr>
      </p:pic>
      <p:sp>
        <p:nvSpPr>
          <p:cNvPr id="17" name="Text 12"/>
          <p:cNvSpPr/>
          <p:nvPr/>
        </p:nvSpPr>
        <p:spPr>
          <a:xfrm>
            <a:off x="8357616" y="3246120"/>
            <a:ext cx="3017520" cy="54864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Cap the output</a:t>
            </a:r>
            <a:endParaRPr lang="en-US" sz="1800" dirty="0"/>
          </a:p>
        </p:txBody>
      </p:sp>
      <p:sp>
        <p:nvSpPr>
          <p:cNvPr id="18" name="Text 13"/>
          <p:cNvSpPr/>
          <p:nvPr/>
        </p:nvSpPr>
        <p:spPr>
          <a:xfrm>
            <a:off x="8357616" y="3840480"/>
            <a:ext cx="3063240" cy="118872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Long answers burn output tokens (the expensive kind). Ask for exactly what you need.</a:t>
            </a:r>
            <a:endParaRPr lang="en-US" sz="1350" dirty="0"/>
          </a:p>
        </p:txBody>
      </p:sp>
      <p:sp>
        <p:nvSpPr>
          <p:cNvPr id="19" name="Shape 14"/>
          <p:cNvSpPr/>
          <p:nvPr/>
        </p:nvSpPr>
        <p:spPr>
          <a:xfrm>
            <a:off x="640080" y="5349240"/>
            <a:ext cx="10881360" cy="685800"/>
          </a:xfrm>
          <a:prstGeom prst="roundRect">
            <a:avLst>
              <a:gd name="adj" fmla="val 13333"/>
            </a:avLst>
          </a:prstGeom>
          <a:solidFill>
            <a:srgbClr val="0F2A2E"/>
          </a:solidFill>
          <a:ln/>
        </p:spPr>
      </p:sp>
      <p:sp>
        <p:nvSpPr>
          <p:cNvPr id="20" name="Text 15"/>
          <p:cNvSpPr/>
          <p:nvPr/>
        </p:nvSpPr>
        <p:spPr>
          <a:xfrm>
            <a:off x="914400" y="5349240"/>
            <a:ext cx="10332720" cy="685800"/>
          </a:xfrm>
          <a:prstGeom prst="rect">
            <a:avLst/>
          </a:prstGeom>
          <a:noFill/>
          <a:ln/>
        </p:spPr>
        <p:txBody>
          <a:bodyPr wrap="square" rtlCol="0" anchor="ctr"/>
          <a:lstStyle/>
          <a:p>
            <a:pPr indent="0" marL="0">
              <a:buNone/>
            </a:pPr>
            <a:r>
              <a:rPr lang="en-US" sz="1500" b="1" dirty="0">
                <a:solidFill>
                  <a:srgbClr val="F4A338"/>
                </a:solidFill>
                <a:latin typeface="Calibri" pitchFamily="34" charset="0"/>
                <a:ea typeface="Calibri" pitchFamily="34" charset="-122"/>
                <a:cs typeface="Calibri" pitchFamily="34" charset="-120"/>
              </a:rPr>
              <a:t>The rule:  </a:t>
            </a:r>
            <a:pPr indent="0" marL="0">
              <a:buNone/>
            </a:pPr>
            <a:r>
              <a:rPr lang="en-US" sz="1500" dirty="0">
                <a:solidFill>
                  <a:srgbClr val="E2F0F0"/>
                </a:solidFill>
                <a:latin typeface="Calibri" pitchFamily="34" charset="0"/>
                <a:ea typeface="Calibri" pitchFamily="34" charset="-122"/>
                <a:cs typeface="Calibri" pitchFamily="34" charset="-120"/>
              </a:rPr>
              <a:t>every token must earn its place. Precision is cheaper than verbosity — and usually more accurate too.</a:t>
            </a:r>
            <a:endParaRPr lang="en-US" sz="1500" dirty="0"/>
          </a:p>
        </p:txBody>
      </p:sp>
      <p:sp>
        <p:nvSpPr>
          <p:cNvPr id="21" name="Text 16"/>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22" name="Text 17"/>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640080" y="502920"/>
            <a:ext cx="4023360" cy="502920"/>
          </a:xfrm>
          <a:prstGeom prst="roundRect">
            <a:avLst>
              <a:gd name="adj" fmla="val 49091"/>
            </a:avLst>
          </a:prstGeom>
          <a:solidFill>
            <a:srgbClr val="E05252"/>
          </a:solidFill>
          <a:ln/>
        </p:spPr>
      </p:sp>
      <p:sp>
        <p:nvSpPr>
          <p:cNvPr id="3" name="Shape 1"/>
          <p:cNvSpPr/>
          <p:nvPr/>
        </p:nvSpPr>
        <p:spPr>
          <a:xfrm>
            <a:off x="841248" y="640080"/>
            <a:ext cx="219456" cy="219456"/>
          </a:xfrm>
          <a:prstGeom prst="ellipse">
            <a:avLst/>
          </a:prstGeom>
          <a:solidFill>
            <a:srgbClr val="FFFFFF"/>
          </a:solidFill>
          <a:ln/>
        </p:spPr>
      </p:sp>
      <p:sp>
        <p:nvSpPr>
          <p:cNvPr id="4" name="Text 2"/>
          <p:cNvSpPr/>
          <p:nvPr/>
        </p:nvSpPr>
        <p:spPr>
          <a:xfrm>
            <a:off x="1188720" y="502920"/>
            <a:ext cx="3383280" cy="502920"/>
          </a:xfrm>
          <a:prstGeom prst="rect">
            <a:avLst/>
          </a:prstGeom>
          <a:noFill/>
          <a:ln/>
        </p:spPr>
        <p:txBody>
          <a:bodyPr wrap="square"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HANDS-ON LAB  ·  AI STUDIO</a:t>
            </a:r>
            <a:endParaRPr lang="en-US" sz="1300" dirty="0"/>
          </a:p>
        </p:txBody>
      </p:sp>
      <p:sp>
        <p:nvSpPr>
          <p:cNvPr id="5" name="Text 3"/>
          <p:cNvSpPr/>
          <p:nvPr/>
        </p:nvSpPr>
        <p:spPr>
          <a:xfrm>
            <a:off x="640080" y="1143000"/>
            <a:ext cx="10972800" cy="73152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before / after experiment</a:t>
            </a:r>
            <a:endParaRPr lang="en-US" sz="3100" dirty="0"/>
          </a:p>
        </p:txBody>
      </p:sp>
      <p:sp>
        <p:nvSpPr>
          <p:cNvPr id="6" name="Shape 4"/>
          <p:cNvSpPr/>
          <p:nvPr/>
        </p:nvSpPr>
        <p:spPr>
          <a:xfrm>
            <a:off x="640080" y="2148840"/>
            <a:ext cx="6583680" cy="3977640"/>
          </a:xfrm>
          <a:prstGeom prst="roundRect">
            <a:avLst>
              <a:gd name="adj" fmla="val 2299"/>
            </a:avLst>
          </a:prstGeom>
          <a:solidFill>
            <a:srgbClr val="143A40"/>
          </a:solidFill>
          <a:ln w="12700">
            <a:solidFill>
              <a:srgbClr val="21555B"/>
            </a:solidFill>
            <a:prstDash val="solid"/>
          </a:ln>
        </p:spPr>
      </p:sp>
      <p:sp>
        <p:nvSpPr>
          <p:cNvPr id="7" name="Text 5"/>
          <p:cNvSpPr/>
          <p:nvPr/>
        </p:nvSpPr>
        <p:spPr>
          <a:xfrm>
            <a:off x="914400" y="2331720"/>
            <a:ext cx="5943600" cy="320040"/>
          </a:xfrm>
          <a:prstGeom prst="rect">
            <a:avLst/>
          </a:prstGeom>
          <a:noFill/>
          <a:ln/>
        </p:spPr>
        <p:txBody>
          <a:bodyPr wrap="square" rtlCol="0" anchor="ctr"/>
          <a:lstStyle/>
          <a:p>
            <a:pPr indent="0" marL="0">
              <a:buNone/>
            </a:pPr>
            <a:r>
              <a:rPr lang="en-US" sz="1300" b="1" spc="100" kern="0" dirty="0">
                <a:solidFill>
                  <a:srgbClr val="F4A338"/>
                </a:solidFill>
                <a:latin typeface="Calibri" pitchFamily="34" charset="0"/>
                <a:ea typeface="Calibri" pitchFamily="34" charset="-122"/>
                <a:cs typeface="Calibri" pitchFamily="34" charset="-120"/>
              </a:rPr>
              <a:t>SET UP TOGETHER  (free — Google account only)</a:t>
            </a:r>
            <a:endParaRPr lang="en-US" sz="1300" dirty="0"/>
          </a:p>
        </p:txBody>
      </p:sp>
      <p:sp>
        <p:nvSpPr>
          <p:cNvPr id="8" name="Text 6"/>
          <p:cNvSpPr/>
          <p:nvPr/>
        </p:nvSpPr>
        <p:spPr>
          <a:xfrm>
            <a:off x="914400" y="2788920"/>
            <a:ext cx="6126480" cy="3108960"/>
          </a:xfrm>
          <a:prstGeom prst="rect">
            <a:avLst/>
          </a:prstGeom>
          <a:noFill/>
          <a:ln/>
        </p:spPr>
        <p:txBody>
          <a:bodyPr wrap="square" rtlCol="0" anchor="t"/>
          <a:lstStyle/>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1.  Open  </a:t>
            </a:r>
            <a:pPr indent="0" marL="0">
              <a:lnSpc>
                <a:spcPct val="150000"/>
              </a:lnSpc>
              <a:buNone/>
            </a:pPr>
            <a:r>
              <a:rPr lang="en-US" sz="1600" b="1" dirty="0">
                <a:solidFill>
                  <a:srgbClr val="5EEAD4"/>
                </a:solidFill>
                <a:latin typeface="Calibri" pitchFamily="34" charset="0"/>
                <a:ea typeface="Calibri" pitchFamily="34" charset="-122"/>
                <a:cs typeface="Calibri" pitchFamily="34" charset="-120"/>
              </a:rPr>
              <a:t>aistudio.google.com</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2.  New prompt → pick a free Gemini Flash model</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3.  The task: extract skills from a job description</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4.  Keep the same input text for both rounds</a:t>
            </a:r>
            <a:endParaRPr lang="en-US" sz="1600" dirty="0"/>
          </a:p>
          <a:p>
            <a:pPr indent="0" marL="0">
              <a:lnSpc>
                <a:spcPct val="150000"/>
              </a:lnSpc>
              <a:buNone/>
            </a:pPr>
            <a:r>
              <a:rPr lang="en-US" sz="1600" dirty="0">
                <a:solidFill>
                  <a:srgbClr val="E2F0F0"/>
                </a:solidFill>
                <a:latin typeface="Calibri" pitchFamily="34" charset="0"/>
                <a:ea typeface="Calibri" pitchFamily="34" charset="-122"/>
                <a:cs typeface="Calibri" pitchFamily="34" charset="-120"/>
              </a:rPr>
              <a:t>5.  Watch the token counter after each run</a:t>
            </a:r>
            <a:endParaRPr lang="en-US" sz="1600" dirty="0"/>
          </a:p>
        </p:txBody>
      </p:sp>
      <p:sp>
        <p:nvSpPr>
          <p:cNvPr id="9" name="Shape 7"/>
          <p:cNvSpPr/>
          <p:nvPr/>
        </p:nvSpPr>
        <p:spPr>
          <a:xfrm>
            <a:off x="7452360" y="2148840"/>
            <a:ext cx="4069080" cy="3977640"/>
          </a:xfrm>
          <a:prstGeom prst="roundRect">
            <a:avLst>
              <a:gd name="adj" fmla="val 2299"/>
            </a:avLst>
          </a:prstGeom>
          <a:solidFill>
            <a:srgbClr val="0D9488"/>
          </a:solidFill>
          <a:ln/>
          <a:effectLst>
            <a:outerShdw sx="100000" sy="100000" kx="0" ky="0" algn="bl" rotWithShape="0" blurRad="88900" dist="38100" dir="2700000">
              <a:srgbClr val="000000">
                <a:alpha val="25000"/>
              </a:srgbClr>
            </a:outerShdw>
          </a:effectLst>
        </p:spPr>
      </p:sp>
      <p:pic>
        <p:nvPicPr>
          <p:cNvPr id="10" name="Image 0" descr="icons/flask_w.png">    </p:cNvPr>
          <p:cNvPicPr>
            <a:picLocks noChangeAspect="1"/>
          </p:cNvPicPr>
          <p:nvPr/>
        </p:nvPicPr>
        <p:blipFill>
          <a:blip r:embed="rId1"/>
          <a:stretch>
            <a:fillRect/>
          </a:stretch>
        </p:blipFill>
        <p:spPr>
          <a:xfrm>
            <a:off x="7772400" y="2468880"/>
            <a:ext cx="502920" cy="502920"/>
          </a:xfrm>
          <a:prstGeom prst="rect">
            <a:avLst/>
          </a:prstGeom>
        </p:spPr>
      </p:pic>
      <p:sp>
        <p:nvSpPr>
          <p:cNvPr id="11" name="Text 8"/>
          <p:cNvSpPr/>
          <p:nvPr/>
        </p:nvSpPr>
        <p:spPr>
          <a:xfrm>
            <a:off x="8412480" y="2496312"/>
            <a:ext cx="2926080" cy="457200"/>
          </a:xfrm>
          <a:prstGeom prst="rect">
            <a:avLst/>
          </a:prstGeom>
          <a:noFill/>
          <a:ln/>
        </p:spPr>
        <p:txBody>
          <a:bodyPr wrap="square" rtlCol="0" anchor="ctr"/>
          <a:lstStyle/>
          <a:p>
            <a:pPr indent="0" marL="0">
              <a:buNone/>
            </a:pPr>
            <a:r>
              <a:rPr lang="en-US" sz="1600" b="1" dirty="0">
                <a:solidFill>
                  <a:srgbClr val="0F2A2E"/>
                </a:solidFill>
                <a:latin typeface="Calibri" pitchFamily="34" charset="0"/>
                <a:ea typeface="Calibri" pitchFamily="34" charset="-122"/>
                <a:cs typeface="Calibri" pitchFamily="34" charset="-120"/>
              </a:rPr>
              <a:t>The hypothesis</a:t>
            </a:r>
            <a:endParaRPr lang="en-US" sz="1600" dirty="0"/>
          </a:p>
        </p:txBody>
      </p:sp>
      <p:sp>
        <p:nvSpPr>
          <p:cNvPr id="12" name="Text 9"/>
          <p:cNvSpPr/>
          <p:nvPr/>
        </p:nvSpPr>
        <p:spPr>
          <a:xfrm>
            <a:off x="7772400" y="3246120"/>
            <a:ext cx="3520440" cy="118872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 designed prompt will be more reliable AND use fewer tokens.</a:t>
            </a:r>
            <a:endParaRPr lang="en-US" sz="1800" dirty="0"/>
          </a:p>
        </p:txBody>
      </p:sp>
      <p:sp>
        <p:nvSpPr>
          <p:cNvPr id="13" name="Text 10"/>
          <p:cNvSpPr/>
          <p:nvPr/>
        </p:nvSpPr>
        <p:spPr>
          <a:xfrm>
            <a:off x="7772400" y="4572000"/>
            <a:ext cx="3520440" cy="1280160"/>
          </a:xfrm>
          <a:prstGeom prst="rect">
            <a:avLst/>
          </a:prstGeom>
          <a:noFill/>
          <a:ln/>
        </p:spPr>
        <p:txBody>
          <a:bodyPr wrap="square" rtlCol="0" anchor="ctr"/>
          <a:lstStyle/>
          <a:p>
            <a:pPr indent="0" marL="0">
              <a:buNone/>
            </a:pPr>
            <a:r>
              <a:rPr lang="en-US" sz="1400" dirty="0">
                <a:solidFill>
                  <a:srgbClr val="E6FFFB"/>
                </a:solidFill>
                <a:latin typeface="Calibri" pitchFamily="34" charset="0"/>
                <a:ea typeface="Calibri" pitchFamily="34" charset="-122"/>
                <a:cs typeface="Calibri" pitchFamily="34" charset="-120"/>
              </a:rPr>
              <a:t>We're about to prove both — live, with numbers on screen.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E05252"/>
                </a:solidFill>
                <a:latin typeface="Calibri" pitchFamily="34" charset="0"/>
                <a:ea typeface="Calibri" pitchFamily="34" charset="-122"/>
                <a:cs typeface="Calibri" pitchFamily="34" charset="-120"/>
              </a:rPr>
              <a:t>LAB · ROUND 1</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The naive prompt — what most people type</a:t>
            </a:r>
            <a:endParaRPr lang="en-US" sz="2900" dirty="0"/>
          </a:p>
        </p:txBody>
      </p:sp>
      <p:sp>
        <p:nvSpPr>
          <p:cNvPr id="4" name="Shape 2"/>
          <p:cNvSpPr/>
          <p:nvPr/>
        </p:nvSpPr>
        <p:spPr>
          <a:xfrm>
            <a:off x="640080" y="1828800"/>
            <a:ext cx="6675120" cy="2286000"/>
          </a:xfrm>
          <a:prstGeom prst="roundRect">
            <a:avLst>
              <a:gd name="adj" fmla="val 4000"/>
            </a:avLst>
          </a:prstGeom>
          <a:solidFill>
            <a:srgbClr val="0F2A2E"/>
          </a:solidFill>
          <a:ln/>
          <a:effectLst>
            <a:outerShdw sx="100000" sy="100000" kx="0" ky="0" algn="bl" rotWithShape="0" blurRad="88900" dist="38100" dir="2700000">
              <a:srgbClr val="000000">
                <a:alpha val="15000"/>
              </a:srgbClr>
            </a:outerShdw>
          </a:effectLst>
        </p:spPr>
      </p:sp>
      <p:sp>
        <p:nvSpPr>
          <p:cNvPr id="5" name="Text 3"/>
          <p:cNvSpPr/>
          <p:nvPr/>
        </p:nvSpPr>
        <p:spPr>
          <a:xfrm>
            <a:off x="914400" y="2011680"/>
            <a:ext cx="4572000" cy="320040"/>
          </a:xfrm>
          <a:prstGeom prst="rect">
            <a:avLst/>
          </a:prstGeom>
          <a:noFill/>
          <a:ln/>
        </p:spPr>
        <p:txBody>
          <a:bodyPr wrap="square"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USER PROMPT</a:t>
            </a:r>
            <a:endParaRPr lang="en-US" sz="1200" dirty="0"/>
          </a:p>
        </p:txBody>
      </p:sp>
      <p:sp>
        <p:nvSpPr>
          <p:cNvPr id="6" name="Text 4"/>
          <p:cNvSpPr/>
          <p:nvPr/>
        </p:nvSpPr>
        <p:spPr>
          <a:xfrm>
            <a:off x="914400" y="2377440"/>
            <a:ext cx="6126480" cy="1554480"/>
          </a:xfrm>
          <a:prstGeom prst="rect">
            <a:avLst/>
          </a:prstGeom>
          <a:noFill/>
          <a:ln/>
        </p:spPr>
        <p:txBody>
          <a:bodyPr wrap="square" rtlCol="0" anchor="ctr"/>
          <a:lstStyle/>
          <a:p>
            <a:pPr indent="0" marL="0">
              <a:lnSpc>
                <a:spcPct val="120000"/>
              </a:lnSpc>
              <a:buNone/>
            </a:pPr>
            <a:r>
              <a:rPr lang="en-US" sz="1600" i="1" dirty="0">
                <a:solidFill>
                  <a:srgbClr val="E2F0F0"/>
                </a:solidFill>
                <a:latin typeface="Courier New" pitchFamily="34" charset="0"/>
                <a:ea typeface="Courier New" pitchFamily="34" charset="-122"/>
                <a:cs typeface="Courier New" pitchFamily="34" charset="-120"/>
              </a:rPr>
              <a:t>"Hey can you look at this job description and tell me what skills they want? Thanks!   [ job description pasted here ]"</a:t>
            </a:r>
            <a:endParaRPr lang="en-US" sz="1600" dirty="0"/>
          </a:p>
        </p:txBody>
      </p:sp>
      <p:sp>
        <p:nvSpPr>
          <p:cNvPr id="7" name="Shape 5"/>
          <p:cNvSpPr/>
          <p:nvPr/>
        </p:nvSpPr>
        <p:spPr>
          <a:xfrm>
            <a:off x="7498080" y="1828800"/>
            <a:ext cx="4023360" cy="2286000"/>
          </a:xfrm>
          <a:prstGeom prst="roundRect">
            <a:avLst>
              <a:gd name="adj" fmla="val 4000"/>
            </a:avLst>
          </a:prstGeom>
          <a:solidFill>
            <a:srgbClr val="FDF1E3"/>
          </a:solidFill>
          <a:ln/>
          <a:effectLst>
            <a:outerShdw sx="100000" sy="100000" kx="0" ky="0" algn="bl" rotWithShape="0" blurRad="88900" dist="38100" dir="2700000">
              <a:srgbClr val="000000">
                <a:alpha val="12000"/>
              </a:srgbClr>
            </a:outerShdw>
          </a:effectLst>
        </p:spPr>
      </p:sp>
      <p:sp>
        <p:nvSpPr>
          <p:cNvPr id="8" name="Text 6"/>
          <p:cNvSpPr/>
          <p:nvPr/>
        </p:nvSpPr>
        <p:spPr>
          <a:xfrm>
            <a:off x="7772400" y="2011680"/>
            <a:ext cx="3657600" cy="320040"/>
          </a:xfrm>
          <a:prstGeom prst="rect">
            <a:avLst/>
          </a:prstGeom>
          <a:noFill/>
          <a:ln/>
        </p:spPr>
        <p:txBody>
          <a:bodyPr wrap="square" rtlCol="0" anchor="ctr"/>
          <a:lstStyle/>
          <a:p>
            <a:pPr indent="0" marL="0">
              <a:buNone/>
            </a:pPr>
            <a:r>
              <a:rPr lang="en-US" sz="1200" b="1" spc="100" kern="0" dirty="0">
                <a:solidFill>
                  <a:srgbClr val="9A5B12"/>
                </a:solidFill>
                <a:latin typeface="Calibri" pitchFamily="34" charset="0"/>
                <a:ea typeface="Calibri" pitchFamily="34" charset="-122"/>
                <a:cs typeface="Calibri" pitchFamily="34" charset="-120"/>
              </a:rPr>
              <a:t>WHAT YOU GET</a:t>
            </a:r>
            <a:endParaRPr lang="en-US" sz="1200" dirty="0"/>
          </a:p>
        </p:txBody>
      </p:sp>
      <p:sp>
        <p:nvSpPr>
          <p:cNvPr id="9" name="Text 7"/>
          <p:cNvSpPr/>
          <p:nvPr/>
        </p:nvSpPr>
        <p:spPr>
          <a:xfrm>
            <a:off x="7772400" y="2377440"/>
            <a:ext cx="3566160" cy="502920"/>
          </a:xfrm>
          <a:prstGeom prst="rect">
            <a:avLst/>
          </a:prstGeom>
          <a:noFill/>
          <a:ln/>
        </p:spPr>
        <p:txBody>
          <a:bodyPr wrap="square" rtlCol="0" anchor="ctr"/>
          <a:lstStyle/>
          <a:p>
            <a:pPr marL="152400" indent="-152400">
              <a:buSzPct val="100000"/>
              <a:buChar char="•"/>
            </a:pPr>
            <a:r>
              <a:rPr lang="en-US" sz="1300" dirty="0">
                <a:solidFill>
                  <a:srgbClr val="1E293B"/>
                </a:solidFill>
                <a:latin typeface="Calibri" pitchFamily="34" charset="0"/>
                <a:ea typeface="Calibri" pitchFamily="34" charset="-122"/>
                <a:cs typeface="Calibri" pitchFamily="34" charset="-120"/>
              </a:rPr>
              <a:t>Chatty prose — different shape every run</a:t>
            </a:r>
            <a:endParaRPr lang="en-US" sz="1300" dirty="0"/>
          </a:p>
        </p:txBody>
      </p:sp>
      <p:sp>
        <p:nvSpPr>
          <p:cNvPr id="10" name="Text 8"/>
          <p:cNvSpPr/>
          <p:nvPr/>
        </p:nvSpPr>
        <p:spPr>
          <a:xfrm>
            <a:off x="7772400" y="2926080"/>
            <a:ext cx="3566160" cy="502920"/>
          </a:xfrm>
          <a:prstGeom prst="rect">
            <a:avLst/>
          </a:prstGeom>
          <a:noFill/>
          <a:ln/>
        </p:spPr>
        <p:txBody>
          <a:bodyPr wrap="square" rtlCol="0" anchor="ctr"/>
          <a:lstStyle/>
          <a:p>
            <a:pPr marL="152400" indent="-152400">
              <a:buSzPct val="100000"/>
              <a:buChar char="•"/>
            </a:pPr>
            <a:r>
              <a:rPr lang="en-US" sz="1300" dirty="0">
                <a:solidFill>
                  <a:srgbClr val="1E293B"/>
                </a:solidFill>
                <a:latin typeface="Calibri" pitchFamily="34" charset="0"/>
                <a:ea typeface="Calibri" pitchFamily="34" charset="-122"/>
                <a:cs typeface="Calibri" pitchFamily="34" charset="-120"/>
              </a:rPr>
              <a:t>“Sure! They’re looking for…” preamble</a:t>
            </a:r>
            <a:endParaRPr lang="en-US" sz="1300" dirty="0"/>
          </a:p>
        </p:txBody>
      </p:sp>
      <p:sp>
        <p:nvSpPr>
          <p:cNvPr id="11" name="Text 9"/>
          <p:cNvSpPr/>
          <p:nvPr/>
        </p:nvSpPr>
        <p:spPr>
          <a:xfrm>
            <a:off x="7772400" y="3474720"/>
            <a:ext cx="3566160" cy="502920"/>
          </a:xfrm>
          <a:prstGeom prst="rect">
            <a:avLst/>
          </a:prstGeom>
          <a:noFill/>
          <a:ln/>
        </p:spPr>
        <p:txBody>
          <a:bodyPr wrap="square" rtlCol="0" anchor="ctr"/>
          <a:lstStyle/>
          <a:p>
            <a:pPr marL="152400" indent="-152400">
              <a:buSzPct val="100000"/>
              <a:buChar char="•"/>
            </a:pPr>
            <a:r>
              <a:rPr lang="en-US" sz="1300" dirty="0">
                <a:solidFill>
                  <a:srgbClr val="1E293B"/>
                </a:solidFill>
                <a:latin typeface="Calibri" pitchFamily="34" charset="0"/>
                <a:ea typeface="Calibri" pitchFamily="34" charset="-122"/>
                <a:cs typeface="Calibri" pitchFamily="34" charset="-120"/>
              </a:rPr>
              <a:t>No structure your code can read</a:t>
            </a:r>
            <a:endParaRPr lang="en-US" sz="1300" dirty="0"/>
          </a:p>
        </p:txBody>
      </p:sp>
      <p:sp>
        <p:nvSpPr>
          <p:cNvPr id="12" name="Shape 10"/>
          <p:cNvSpPr/>
          <p:nvPr/>
        </p:nvSpPr>
        <p:spPr>
          <a:xfrm>
            <a:off x="640080" y="4343400"/>
            <a:ext cx="10881360" cy="1554480"/>
          </a:xfrm>
          <a:prstGeom prst="roundRect">
            <a:avLst>
              <a:gd name="adj" fmla="val 5882"/>
            </a:avLst>
          </a:prstGeom>
          <a:solidFill>
            <a:srgbClr val="F1F5F9"/>
          </a:solidFill>
          <a:ln/>
        </p:spPr>
      </p:sp>
      <p:pic>
        <p:nvPicPr>
          <p:cNvPr id="13" name="Image 0" descr="icons/times.png">    </p:cNvPr>
          <p:cNvPicPr>
            <a:picLocks noChangeAspect="1"/>
          </p:cNvPicPr>
          <p:nvPr/>
        </p:nvPicPr>
        <p:blipFill>
          <a:blip r:embed="rId1"/>
          <a:stretch>
            <a:fillRect/>
          </a:stretch>
        </p:blipFill>
        <p:spPr>
          <a:xfrm>
            <a:off x="1005840" y="4800600"/>
            <a:ext cx="594360" cy="594360"/>
          </a:xfrm>
          <a:prstGeom prst="rect">
            <a:avLst/>
          </a:prstGeom>
        </p:spPr>
      </p:pic>
      <p:sp>
        <p:nvSpPr>
          <p:cNvPr id="14" name="Text 11"/>
          <p:cNvSpPr/>
          <p:nvPr/>
        </p:nvSpPr>
        <p:spPr>
          <a:xfrm>
            <a:off x="1828800" y="4480560"/>
            <a:ext cx="9509760" cy="1280160"/>
          </a:xfrm>
          <a:prstGeom prst="rect">
            <a:avLst/>
          </a:prstGeom>
          <a:noFill/>
          <a:ln/>
        </p:spPr>
        <p:txBody>
          <a:bodyPr wrap="square" rtlCol="0" anchor="ctr"/>
          <a:lstStyle/>
          <a:p>
            <a:pPr indent="0" marL="0">
              <a:buNone/>
            </a:pPr>
            <a:r>
              <a:rPr lang="en-US" sz="1550" b="1" dirty="0">
                <a:solidFill>
                  <a:srgbClr val="E05252"/>
                </a:solidFill>
                <a:latin typeface="Calibri" pitchFamily="34" charset="0"/>
                <a:ea typeface="Calibri" pitchFamily="34" charset="-122"/>
                <a:cs typeface="Calibri" pitchFamily="34" charset="-120"/>
              </a:rPr>
              <a:t>Problems:  </a:t>
            </a:r>
            <a:pPr indent="0" marL="0">
              <a:buNone/>
            </a:pPr>
            <a:r>
              <a:rPr lang="en-US" sz="1550" dirty="0">
                <a:solidFill>
                  <a:srgbClr val="1E293B"/>
                </a:solidFill>
                <a:latin typeface="Calibri" pitchFamily="34" charset="0"/>
                <a:ea typeface="Calibri" pitchFamily="34" charset="-122"/>
                <a:cs typeface="Calibri" pitchFamily="34" charset="-120"/>
              </a:rPr>
              <a:t>unpredictable format, wasted “please/thanks” tokens, preamble you must strip, and you can’t trust two runs to match. It works as a chat — it fails as a feature.</a:t>
            </a:r>
            <a:endParaRPr lang="en-US" sz="1550" dirty="0"/>
          </a:p>
        </p:txBody>
      </p:sp>
      <p:sp>
        <p:nvSpPr>
          <p:cNvPr id="15" name="Text 12"/>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16" name="Text 13"/>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2E"/>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LAB · ROUND 2</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engineered prompt — same task, redesigned</a:t>
            </a:r>
            <a:endParaRPr lang="en-US" sz="2800" dirty="0"/>
          </a:p>
        </p:txBody>
      </p:sp>
      <p:sp>
        <p:nvSpPr>
          <p:cNvPr id="4" name="Shape 2"/>
          <p:cNvSpPr/>
          <p:nvPr/>
        </p:nvSpPr>
        <p:spPr>
          <a:xfrm>
            <a:off x="640080" y="1783080"/>
            <a:ext cx="5486400" cy="4114800"/>
          </a:xfrm>
          <a:prstGeom prst="roundRect">
            <a:avLst>
              <a:gd name="adj" fmla="val 2222"/>
            </a:avLst>
          </a:prstGeom>
          <a:solidFill>
            <a:srgbClr val="143A40"/>
          </a:solidFill>
          <a:ln w="16510">
            <a:solidFill>
              <a:srgbClr val="0D9488"/>
            </a:solidFill>
            <a:prstDash val="solid"/>
          </a:ln>
        </p:spPr>
      </p:sp>
      <p:sp>
        <p:nvSpPr>
          <p:cNvPr id="5" name="Text 3"/>
          <p:cNvSpPr/>
          <p:nvPr/>
        </p:nvSpPr>
        <p:spPr>
          <a:xfrm>
            <a:off x="914400" y="1965960"/>
            <a:ext cx="4572000" cy="320040"/>
          </a:xfrm>
          <a:prstGeom prst="rect">
            <a:avLst/>
          </a:prstGeom>
          <a:noFill/>
          <a:ln/>
        </p:spPr>
        <p:txBody>
          <a:bodyPr wrap="square"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SYSTEM PROMPT</a:t>
            </a:r>
            <a:endParaRPr lang="en-US" sz="1200" dirty="0"/>
          </a:p>
        </p:txBody>
      </p:sp>
      <p:sp>
        <p:nvSpPr>
          <p:cNvPr id="6" name="Text 4"/>
          <p:cNvSpPr/>
          <p:nvPr/>
        </p:nvSpPr>
        <p:spPr>
          <a:xfrm>
            <a:off x="914400" y="2331720"/>
            <a:ext cx="4937760" cy="1371600"/>
          </a:xfrm>
          <a:prstGeom prst="rect">
            <a:avLst/>
          </a:prstGeom>
          <a:noFill/>
          <a:ln/>
        </p:spPr>
        <p:txBody>
          <a:bodyPr wrap="square" rtlCol="0" anchor="ctr"/>
          <a:lstStyle/>
          <a:p>
            <a:pPr indent="0" marL="0">
              <a:lnSpc>
                <a:spcPct val="120000"/>
              </a:lnSpc>
              <a:buNone/>
            </a:pPr>
            <a:r>
              <a:rPr lang="en-US" sz="1350" i="1" dirty="0">
                <a:solidFill>
                  <a:srgbClr val="E2F0F0"/>
                </a:solidFill>
                <a:latin typeface="Courier New" pitchFamily="34" charset="0"/>
                <a:ea typeface="Courier New" pitchFamily="34" charset="-122"/>
                <a:cs typeface="Courier New" pitchFamily="34" charset="-120"/>
              </a:rPr>
              <a:t>"You extract skills from job descriptions. Return ONLY JSON with keys required and preferred. No prose, no markdown."</a:t>
            </a:r>
            <a:endParaRPr lang="en-US" sz="1350" dirty="0"/>
          </a:p>
        </p:txBody>
      </p:sp>
      <p:sp>
        <p:nvSpPr>
          <p:cNvPr id="7" name="Text 5"/>
          <p:cNvSpPr/>
          <p:nvPr/>
        </p:nvSpPr>
        <p:spPr>
          <a:xfrm>
            <a:off x="914400" y="3794760"/>
            <a:ext cx="4572000" cy="320040"/>
          </a:xfrm>
          <a:prstGeom prst="rect">
            <a:avLst/>
          </a:prstGeom>
          <a:noFill/>
          <a:ln/>
        </p:spPr>
        <p:txBody>
          <a:bodyPr wrap="square" rtlCol="0" anchor="ctr"/>
          <a:lstStyle/>
          <a:p>
            <a:pPr indent="0" marL="0">
              <a:buNone/>
            </a:pPr>
            <a:r>
              <a:rPr lang="en-US" sz="1200" b="1" spc="200" kern="0" dirty="0">
                <a:solidFill>
                  <a:srgbClr val="F4A338"/>
                </a:solidFill>
                <a:latin typeface="Calibri" pitchFamily="34" charset="0"/>
                <a:ea typeface="Calibri" pitchFamily="34" charset="-122"/>
                <a:cs typeface="Calibri" pitchFamily="34" charset="-120"/>
              </a:rPr>
              <a:t>USER PROMPT</a:t>
            </a:r>
            <a:endParaRPr lang="en-US" sz="1200" dirty="0"/>
          </a:p>
        </p:txBody>
      </p:sp>
      <p:sp>
        <p:nvSpPr>
          <p:cNvPr id="8" name="Text 6"/>
          <p:cNvSpPr/>
          <p:nvPr/>
        </p:nvSpPr>
        <p:spPr>
          <a:xfrm>
            <a:off x="914400" y="4114800"/>
            <a:ext cx="4937760" cy="457200"/>
          </a:xfrm>
          <a:prstGeom prst="rect">
            <a:avLst/>
          </a:prstGeom>
          <a:noFill/>
          <a:ln/>
        </p:spPr>
        <p:txBody>
          <a:bodyPr wrap="square" rtlCol="0" anchor="ctr"/>
          <a:lstStyle/>
          <a:p>
            <a:pPr indent="0" marL="0">
              <a:buNone/>
            </a:pPr>
            <a:r>
              <a:rPr lang="en-US" sz="1400" i="1" dirty="0">
                <a:solidFill>
                  <a:srgbClr val="C9DDDF"/>
                </a:solidFill>
                <a:latin typeface="Courier New" pitchFamily="34" charset="0"/>
                <a:ea typeface="Courier New" pitchFamily="34" charset="-122"/>
                <a:cs typeface="Courier New" pitchFamily="34" charset="-120"/>
              </a:rPr>
              <a:t>"&lt;job description&gt;"</a:t>
            </a:r>
            <a:endParaRPr lang="en-US" sz="1400" dirty="0"/>
          </a:p>
        </p:txBody>
      </p:sp>
      <p:sp>
        <p:nvSpPr>
          <p:cNvPr id="9" name="Text 7"/>
          <p:cNvSpPr/>
          <p:nvPr/>
        </p:nvSpPr>
        <p:spPr>
          <a:xfrm>
            <a:off x="914400" y="4800600"/>
            <a:ext cx="4937760" cy="914400"/>
          </a:xfrm>
          <a:prstGeom prst="rect">
            <a:avLst/>
          </a:prstGeom>
          <a:noFill/>
          <a:ln/>
        </p:spPr>
        <p:txBody>
          <a:bodyPr wrap="square" rtlCol="0" anchor="ctr"/>
          <a:lstStyle/>
          <a:p>
            <a:pPr indent="0" marL="0">
              <a:buNone/>
            </a:pPr>
            <a:r>
              <a:rPr lang="en-US" sz="1300" dirty="0">
                <a:solidFill>
                  <a:srgbClr val="9FBEC0"/>
                </a:solidFill>
                <a:latin typeface="Calibri" pitchFamily="34" charset="0"/>
                <a:ea typeface="Calibri" pitchFamily="34" charset="-122"/>
                <a:cs typeface="Calibri" pitchFamily="34" charset="-120"/>
              </a:rPr>
              <a:t>Role + explicit format + no filler. The user slot holds only the data.</a:t>
            </a:r>
            <a:endParaRPr lang="en-US" sz="1300" dirty="0"/>
          </a:p>
        </p:txBody>
      </p:sp>
      <p:sp>
        <p:nvSpPr>
          <p:cNvPr id="10" name="Shape 8"/>
          <p:cNvSpPr/>
          <p:nvPr/>
        </p:nvSpPr>
        <p:spPr>
          <a:xfrm>
            <a:off x="6309360" y="1783080"/>
            <a:ext cx="5212080" cy="4114800"/>
          </a:xfrm>
          <a:prstGeom prst="roundRect">
            <a:avLst>
              <a:gd name="adj" fmla="val 2222"/>
            </a:avLst>
          </a:prstGeom>
          <a:solidFill>
            <a:srgbClr val="143A40"/>
          </a:solidFill>
          <a:ln w="16510">
            <a:solidFill>
              <a:srgbClr val="1FA971"/>
            </a:solidFill>
            <a:prstDash val="solid"/>
          </a:ln>
        </p:spPr>
      </p:sp>
      <p:sp>
        <p:nvSpPr>
          <p:cNvPr id="11" name="Text 9"/>
          <p:cNvSpPr/>
          <p:nvPr/>
        </p:nvSpPr>
        <p:spPr>
          <a:xfrm>
            <a:off x="6583680" y="1965960"/>
            <a:ext cx="4572000" cy="320040"/>
          </a:xfrm>
          <a:prstGeom prst="rect">
            <a:avLst/>
          </a:prstGeom>
          <a:noFill/>
          <a:ln/>
        </p:spPr>
        <p:txBody>
          <a:bodyPr wrap="square" rtlCol="0" anchor="ctr"/>
          <a:lstStyle/>
          <a:p>
            <a:pPr indent="0" marL="0">
              <a:buNone/>
            </a:pPr>
            <a:r>
              <a:rPr lang="en-US" sz="1200" b="1" spc="100" kern="0" dirty="0">
                <a:solidFill>
                  <a:srgbClr val="1FA971"/>
                </a:solidFill>
                <a:latin typeface="Calibri" pitchFamily="34" charset="0"/>
                <a:ea typeface="Calibri" pitchFamily="34" charset="-122"/>
                <a:cs typeface="Calibri" pitchFamily="34" charset="-120"/>
              </a:rPr>
              <a:t>WHAT YOU GET</a:t>
            </a:r>
            <a:endParaRPr lang="en-US" sz="1200" dirty="0"/>
          </a:p>
        </p:txBody>
      </p:sp>
      <p:sp>
        <p:nvSpPr>
          <p:cNvPr id="12" name="Text 10"/>
          <p:cNvSpPr/>
          <p:nvPr/>
        </p:nvSpPr>
        <p:spPr>
          <a:xfrm>
            <a:off x="6583680" y="2331720"/>
            <a:ext cx="4754880" cy="1463040"/>
          </a:xfrm>
          <a:prstGeom prst="rect">
            <a:avLst/>
          </a:prstGeom>
          <a:noFill/>
          <a:ln/>
        </p:spPr>
        <p:txBody>
          <a:bodyPr wrap="square" rtlCol="0" anchor="ctr"/>
          <a:lstStyle/>
          <a:p>
            <a:pPr indent="0" marL="0">
              <a:lnSpc>
                <a:spcPct val="125000"/>
              </a:lnSpc>
              <a:buNone/>
            </a:pPr>
            <a:r>
              <a:rPr lang="en-US" sz="1500" dirty="0">
                <a:solidFill>
                  <a:srgbClr val="5EEAD4"/>
                </a:solidFill>
                <a:latin typeface="Courier New" pitchFamily="34" charset="0"/>
                <a:ea typeface="Courier New" pitchFamily="34" charset="-122"/>
                <a:cs typeface="Courier New" pitchFamily="34" charset="-120"/>
              </a:rPr>
              <a:t>{</a:t>
            </a:r>
            <a:endParaRPr lang="en-US" sz="1500" dirty="0"/>
          </a:p>
          <a:p>
            <a:pPr indent="0" marL="0">
              <a:lnSpc>
                <a:spcPct val="125000"/>
              </a:lnSpc>
              <a:buNone/>
            </a:pPr>
            <a:r>
              <a:rPr lang="en-US" sz="1500" dirty="0">
                <a:solidFill>
                  <a:srgbClr val="5EEAD4"/>
                </a:solidFill>
                <a:latin typeface="Courier New" pitchFamily="34" charset="0"/>
                <a:ea typeface="Courier New" pitchFamily="34" charset="-122"/>
                <a:cs typeface="Courier New" pitchFamily="34" charset="-120"/>
              </a:rPr>
              <a:t>  "required": ["Python","SQL","Spark"],</a:t>
            </a:r>
            <a:endParaRPr lang="en-US" sz="1500" dirty="0"/>
          </a:p>
          <a:p>
            <a:pPr indent="0" marL="0">
              <a:lnSpc>
                <a:spcPct val="125000"/>
              </a:lnSpc>
              <a:buNone/>
            </a:pPr>
            <a:r>
              <a:rPr lang="en-US" sz="1500" dirty="0">
                <a:solidFill>
                  <a:srgbClr val="5EEAD4"/>
                </a:solidFill>
                <a:latin typeface="Courier New" pitchFamily="34" charset="0"/>
                <a:ea typeface="Courier New" pitchFamily="34" charset="-122"/>
                <a:cs typeface="Courier New" pitchFamily="34" charset="-120"/>
              </a:rPr>
              <a:t>  "preferred": ["Kubernetes","AWS"]</a:t>
            </a:r>
            <a:endParaRPr lang="en-US" sz="1500" dirty="0"/>
          </a:p>
          <a:p>
            <a:pPr indent="0" marL="0">
              <a:lnSpc>
                <a:spcPct val="125000"/>
              </a:lnSpc>
              <a:buNone/>
            </a:pPr>
            <a:r>
              <a:rPr lang="en-US" sz="1500" dirty="0">
                <a:solidFill>
                  <a:srgbClr val="5EEAD4"/>
                </a:solidFill>
                <a:latin typeface="Courier New" pitchFamily="34" charset="0"/>
                <a:ea typeface="Courier New" pitchFamily="34" charset="-122"/>
                <a:cs typeface="Courier New" pitchFamily="34" charset="-120"/>
              </a:rPr>
              <a:t>}</a:t>
            </a:r>
            <a:endParaRPr lang="en-US" sz="1500" dirty="0"/>
          </a:p>
        </p:txBody>
      </p:sp>
      <p:pic>
        <p:nvPicPr>
          <p:cNvPr id="13" name="Image 0" descr="icons/check.png">    </p:cNvPr>
          <p:cNvPicPr>
            <a:picLocks noChangeAspect="1"/>
          </p:cNvPicPr>
          <p:nvPr/>
        </p:nvPicPr>
        <p:blipFill>
          <a:blip r:embed="rId1"/>
          <a:stretch>
            <a:fillRect/>
          </a:stretch>
        </p:blipFill>
        <p:spPr>
          <a:xfrm>
            <a:off x="6583680" y="3977640"/>
            <a:ext cx="292608" cy="292608"/>
          </a:xfrm>
          <a:prstGeom prst="rect">
            <a:avLst/>
          </a:prstGeom>
        </p:spPr>
      </p:pic>
      <p:sp>
        <p:nvSpPr>
          <p:cNvPr id="14" name="Text 11"/>
          <p:cNvSpPr/>
          <p:nvPr/>
        </p:nvSpPr>
        <p:spPr>
          <a:xfrm>
            <a:off x="7040880" y="3931920"/>
            <a:ext cx="4297680" cy="411480"/>
          </a:xfrm>
          <a:prstGeom prst="rect">
            <a:avLst/>
          </a:prstGeom>
          <a:noFill/>
          <a:ln/>
        </p:spPr>
        <p:txBody>
          <a:bodyPr wrap="square" rtlCol="0" anchor="ctr"/>
          <a:lstStyle/>
          <a:p>
            <a:pPr indent="0" marL="0">
              <a:buNone/>
            </a:pPr>
            <a:r>
              <a:rPr lang="en-US" sz="1350" dirty="0">
                <a:solidFill>
                  <a:srgbClr val="D6E8E9"/>
                </a:solidFill>
                <a:latin typeface="Calibri" pitchFamily="34" charset="0"/>
                <a:ea typeface="Calibri" pitchFamily="34" charset="-122"/>
                <a:cs typeface="Calibri" pitchFamily="34" charset="-120"/>
              </a:rPr>
              <a:t>Identical shape every single run</a:t>
            </a:r>
            <a:endParaRPr lang="en-US" sz="1350" dirty="0"/>
          </a:p>
        </p:txBody>
      </p:sp>
      <p:pic>
        <p:nvPicPr>
          <p:cNvPr id="15" name="Image 1" descr="icons/check.png">    </p:cNvPr>
          <p:cNvPicPr>
            <a:picLocks noChangeAspect="1"/>
          </p:cNvPicPr>
          <p:nvPr/>
        </p:nvPicPr>
        <p:blipFill>
          <a:blip r:embed="rId2"/>
          <a:stretch>
            <a:fillRect/>
          </a:stretch>
        </p:blipFill>
        <p:spPr>
          <a:xfrm>
            <a:off x="6583680" y="4526280"/>
            <a:ext cx="292608" cy="292608"/>
          </a:xfrm>
          <a:prstGeom prst="rect">
            <a:avLst/>
          </a:prstGeom>
        </p:spPr>
      </p:pic>
      <p:sp>
        <p:nvSpPr>
          <p:cNvPr id="16" name="Text 12"/>
          <p:cNvSpPr/>
          <p:nvPr/>
        </p:nvSpPr>
        <p:spPr>
          <a:xfrm>
            <a:off x="7040880" y="4480560"/>
            <a:ext cx="4297680" cy="411480"/>
          </a:xfrm>
          <a:prstGeom prst="rect">
            <a:avLst/>
          </a:prstGeom>
          <a:noFill/>
          <a:ln/>
        </p:spPr>
        <p:txBody>
          <a:bodyPr wrap="square" rtlCol="0" anchor="ctr"/>
          <a:lstStyle/>
          <a:p>
            <a:pPr indent="0" marL="0">
              <a:buNone/>
            </a:pPr>
            <a:r>
              <a:rPr lang="en-US" sz="1350" dirty="0">
                <a:solidFill>
                  <a:srgbClr val="D6E8E9"/>
                </a:solidFill>
                <a:latin typeface="Calibri" pitchFamily="34" charset="0"/>
                <a:ea typeface="Calibri" pitchFamily="34" charset="-122"/>
                <a:cs typeface="Calibri" pitchFamily="34" charset="-120"/>
              </a:rPr>
              <a:t>No preamble to strip</a:t>
            </a:r>
            <a:endParaRPr lang="en-US" sz="1350" dirty="0"/>
          </a:p>
        </p:txBody>
      </p:sp>
      <p:pic>
        <p:nvPicPr>
          <p:cNvPr id="17" name="Image 2" descr="icons/check.png">    </p:cNvPr>
          <p:cNvPicPr>
            <a:picLocks noChangeAspect="1"/>
          </p:cNvPicPr>
          <p:nvPr/>
        </p:nvPicPr>
        <p:blipFill>
          <a:blip r:embed="rId3"/>
          <a:stretch>
            <a:fillRect/>
          </a:stretch>
        </p:blipFill>
        <p:spPr>
          <a:xfrm>
            <a:off x="6583680" y="5074920"/>
            <a:ext cx="292608" cy="292608"/>
          </a:xfrm>
          <a:prstGeom prst="rect">
            <a:avLst/>
          </a:prstGeom>
        </p:spPr>
      </p:pic>
      <p:sp>
        <p:nvSpPr>
          <p:cNvPr id="18" name="Text 13"/>
          <p:cNvSpPr/>
          <p:nvPr/>
        </p:nvSpPr>
        <p:spPr>
          <a:xfrm>
            <a:off x="7040880" y="5029200"/>
            <a:ext cx="4297680" cy="411480"/>
          </a:xfrm>
          <a:prstGeom prst="rect">
            <a:avLst/>
          </a:prstGeom>
          <a:noFill/>
          <a:ln/>
        </p:spPr>
        <p:txBody>
          <a:bodyPr wrap="square" rtlCol="0" anchor="ctr"/>
          <a:lstStyle/>
          <a:p>
            <a:pPr indent="0" marL="0">
              <a:buNone/>
            </a:pPr>
            <a:r>
              <a:rPr lang="en-US" sz="1350" dirty="0">
                <a:solidFill>
                  <a:srgbClr val="D6E8E9"/>
                </a:solidFill>
                <a:latin typeface="Calibri" pitchFamily="34" charset="0"/>
                <a:ea typeface="Calibri" pitchFamily="34" charset="-122"/>
                <a:cs typeface="Calibri" pitchFamily="34" charset="-120"/>
              </a:rPr>
              <a:t>json.loads() — straight into your app</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MEASURED RESULT</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Better output. Fewer tokens. Both, at once.</a:t>
            </a:r>
            <a:endParaRPr lang="en-US" sz="3000" dirty="0"/>
          </a:p>
        </p:txBody>
      </p:sp>
      <p:graphicFrame>
        <p:nvGraphicFramePr>
          <p:cNvPr id="4" name="Chart 0" descr=""/>
          <p:cNvGraphicFramePr/>
          <p:nvPr/>
        </p:nvGraphicFramePr>
        <p:xfrm>
          <a:off x="640080" y="18288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2011680"/>
            <a:ext cx="475488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6" name="Text 3"/>
          <p:cNvSpPr/>
          <p:nvPr/>
        </p:nvSpPr>
        <p:spPr>
          <a:xfrm>
            <a:off x="6995160" y="2148840"/>
            <a:ext cx="1554480" cy="868680"/>
          </a:xfrm>
          <a:prstGeom prst="rect">
            <a:avLst/>
          </a:prstGeom>
          <a:noFill/>
          <a:ln/>
        </p:spPr>
        <p:txBody>
          <a:bodyPr wrap="square" rtlCol="0" anchor="ctr"/>
          <a:lstStyle/>
          <a:p>
            <a:pPr indent="0" marL="0">
              <a:buNone/>
            </a:pPr>
            <a:r>
              <a:rPr lang="en-US" sz="3200" b="1" dirty="0">
                <a:solidFill>
                  <a:srgbClr val="0D9488"/>
                </a:solidFill>
                <a:latin typeface="Cambria" pitchFamily="34" charset="0"/>
                <a:ea typeface="Cambria" pitchFamily="34" charset="-122"/>
                <a:cs typeface="Cambria" pitchFamily="34" charset="-120"/>
              </a:rPr>
              <a:t>~57%</a:t>
            </a:r>
            <a:endParaRPr lang="en-US" sz="3200" dirty="0"/>
          </a:p>
        </p:txBody>
      </p:sp>
      <p:sp>
        <p:nvSpPr>
          <p:cNvPr id="7" name="Text 4"/>
          <p:cNvSpPr/>
          <p:nvPr/>
        </p:nvSpPr>
        <p:spPr>
          <a:xfrm>
            <a:off x="8549640" y="2148840"/>
            <a:ext cx="2834640" cy="86868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fewer tokens per call</a:t>
            </a:r>
            <a:endParaRPr lang="en-US" sz="1500" dirty="0"/>
          </a:p>
        </p:txBody>
      </p:sp>
      <p:sp>
        <p:nvSpPr>
          <p:cNvPr id="8" name="Shape 5"/>
          <p:cNvSpPr/>
          <p:nvPr/>
        </p:nvSpPr>
        <p:spPr>
          <a:xfrm>
            <a:off x="6766560" y="3310128"/>
            <a:ext cx="475488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9" name="Text 6"/>
          <p:cNvSpPr/>
          <p:nvPr/>
        </p:nvSpPr>
        <p:spPr>
          <a:xfrm>
            <a:off x="6995160" y="3447288"/>
            <a:ext cx="1554480" cy="868680"/>
          </a:xfrm>
          <a:prstGeom prst="rect">
            <a:avLst/>
          </a:prstGeom>
          <a:noFill/>
          <a:ln/>
        </p:spPr>
        <p:txBody>
          <a:bodyPr wrap="square" rtlCol="0" anchor="ctr"/>
          <a:lstStyle/>
          <a:p>
            <a:pPr indent="0" marL="0">
              <a:buNone/>
            </a:pPr>
            <a:r>
              <a:rPr lang="en-US" sz="3200" b="1" dirty="0">
                <a:solidFill>
                  <a:srgbClr val="1FA971"/>
                </a:solidFill>
                <a:latin typeface="Cambria" pitchFamily="34" charset="0"/>
                <a:ea typeface="Cambria" pitchFamily="34" charset="-122"/>
                <a:cs typeface="Cambria" pitchFamily="34" charset="-120"/>
              </a:rPr>
              <a:t>100%</a:t>
            </a:r>
            <a:endParaRPr lang="en-US" sz="3200" dirty="0"/>
          </a:p>
        </p:txBody>
      </p:sp>
      <p:sp>
        <p:nvSpPr>
          <p:cNvPr id="10" name="Text 7"/>
          <p:cNvSpPr/>
          <p:nvPr/>
        </p:nvSpPr>
        <p:spPr>
          <a:xfrm>
            <a:off x="8549640" y="3447288"/>
            <a:ext cx="2834640" cy="86868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predictable JSON shape</a:t>
            </a:r>
            <a:endParaRPr lang="en-US" sz="1500" dirty="0"/>
          </a:p>
        </p:txBody>
      </p:sp>
      <p:sp>
        <p:nvSpPr>
          <p:cNvPr id="11" name="Shape 8"/>
          <p:cNvSpPr/>
          <p:nvPr/>
        </p:nvSpPr>
        <p:spPr>
          <a:xfrm>
            <a:off x="6766560" y="4608576"/>
            <a:ext cx="4754880" cy="1143000"/>
          </a:xfrm>
          <a:prstGeom prst="roundRect">
            <a:avLst>
              <a:gd name="adj" fmla="val 8000"/>
            </a:avLst>
          </a:prstGeom>
          <a:solidFill>
            <a:srgbClr val="F1F5F9"/>
          </a:solidFill>
          <a:ln/>
          <a:effectLst>
            <a:outerShdw sx="100000" sy="100000" kx="0" ky="0" algn="bl" rotWithShape="0" blurRad="88900" dist="38100" dir="2700000">
              <a:srgbClr val="000000">
                <a:alpha val="10000"/>
              </a:srgbClr>
            </a:outerShdw>
          </a:effectLst>
        </p:spPr>
      </p:sp>
      <p:sp>
        <p:nvSpPr>
          <p:cNvPr id="12" name="Text 9"/>
          <p:cNvSpPr/>
          <p:nvPr/>
        </p:nvSpPr>
        <p:spPr>
          <a:xfrm>
            <a:off x="6995160" y="4745736"/>
            <a:ext cx="1554480" cy="868680"/>
          </a:xfrm>
          <a:prstGeom prst="rect">
            <a:avLst/>
          </a:prstGeom>
          <a:noFill/>
          <a:ln/>
        </p:spPr>
        <p:txBody>
          <a:bodyPr wrap="square" rtlCol="0" anchor="ctr"/>
          <a:lstStyle/>
          <a:p>
            <a:pPr indent="0" marL="0">
              <a:buNone/>
            </a:pPr>
            <a:r>
              <a:rPr lang="en-US" sz="3200" b="1" dirty="0">
                <a:solidFill>
                  <a:srgbClr val="F4A338"/>
                </a:solidFill>
                <a:latin typeface="Cambria" pitchFamily="34" charset="0"/>
                <a:ea typeface="Cambria" pitchFamily="34" charset="-122"/>
                <a:cs typeface="Cambria" pitchFamily="34" charset="-120"/>
              </a:rPr>
              <a:t>0</a:t>
            </a:r>
            <a:endParaRPr lang="en-US" sz="3200" dirty="0"/>
          </a:p>
        </p:txBody>
      </p:sp>
      <p:sp>
        <p:nvSpPr>
          <p:cNvPr id="13" name="Text 10"/>
          <p:cNvSpPr/>
          <p:nvPr/>
        </p:nvSpPr>
        <p:spPr>
          <a:xfrm>
            <a:off x="8549640" y="4745736"/>
            <a:ext cx="2834640" cy="868680"/>
          </a:xfrm>
          <a:prstGeom prst="rect">
            <a:avLst/>
          </a:prstGeom>
          <a:noFill/>
          <a:ln/>
        </p:spPr>
        <p:txBody>
          <a:bodyPr wrap="square"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preamble to strip in code</a:t>
            </a:r>
            <a:endParaRPr lang="en-US" sz="1500" dirty="0"/>
          </a:p>
        </p:txBody>
      </p:sp>
      <p:sp>
        <p:nvSpPr>
          <p:cNvPr id="14" name="Text 11"/>
          <p:cNvSpPr/>
          <p:nvPr/>
        </p:nvSpPr>
        <p:spPr>
          <a:xfrm>
            <a:off x="640080" y="5989320"/>
            <a:ext cx="10881360" cy="365760"/>
          </a:xfrm>
          <a:prstGeom prst="rect">
            <a:avLst/>
          </a:prstGeom>
          <a:noFill/>
          <a:ln/>
        </p:spPr>
        <p:txBody>
          <a:bodyPr wrap="square" rtlCol="0" anchor="ctr"/>
          <a:lstStyle/>
          <a:p>
            <a:pPr algn="ctr" indent="0" marL="0">
              <a:buNone/>
            </a:pPr>
            <a:r>
              <a:rPr lang="en-US" sz="1250" i="1" dirty="0">
                <a:solidFill>
                  <a:srgbClr val="64748B"/>
                </a:solidFill>
                <a:latin typeface="Calibri" pitchFamily="34" charset="0"/>
                <a:ea typeface="Calibri" pitchFamily="34" charset="-122"/>
                <a:cs typeface="Calibri" pitchFamily="34" charset="-120"/>
              </a:rPr>
              <a:t>Illustrative figures — your live run will differ, but the direction is always the same.</a:t>
            </a:r>
            <a:endParaRPr lang="en-US" sz="1250" dirty="0"/>
          </a:p>
        </p:txBody>
      </p:sp>
      <p:sp>
        <p:nvSpPr>
          <p:cNvPr id="15" name="Text 12"/>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16" name="Text 13"/>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E05252"/>
                </a:solidFill>
                <a:latin typeface="Calibri" pitchFamily="34" charset="0"/>
                <a:ea typeface="Calibri" pitchFamily="34" charset="-122"/>
                <a:cs typeface="Calibri" pitchFamily="34" charset="-120"/>
              </a:rPr>
              <a:t>AVOID THESE</a:t>
            </a:r>
            <a:endParaRPr lang="en-US" sz="1250" dirty="0"/>
          </a:p>
        </p:txBody>
      </p:sp>
      <p:sp>
        <p:nvSpPr>
          <p:cNvPr id="3" name="Text 1"/>
          <p:cNvSpPr/>
          <p:nvPr/>
        </p:nvSpPr>
        <p:spPr>
          <a:xfrm>
            <a:off x="640080" y="868680"/>
            <a:ext cx="10972800" cy="731520"/>
          </a:xfrm>
          <a:prstGeom prst="rect">
            <a:avLst/>
          </a:prstGeom>
          <a:noFill/>
          <a:ln/>
        </p:spPr>
        <p:txBody>
          <a:bodyPr wrap="square" rtlCol="0" anchor="ctr"/>
          <a:lstStyle/>
          <a:p>
            <a:pPr indent="0" marL="0">
              <a:buNone/>
            </a:pPr>
            <a:r>
              <a:rPr lang="en-US" sz="3000" b="1" dirty="0">
                <a:solidFill>
                  <a:srgbClr val="1E293B"/>
                </a:solidFill>
                <a:latin typeface="Cambria" pitchFamily="34" charset="0"/>
                <a:ea typeface="Cambria" pitchFamily="34" charset="-122"/>
                <a:cs typeface="Cambria" pitchFamily="34" charset="-120"/>
              </a:rPr>
              <a:t>Five ways prompts fail in production</a:t>
            </a:r>
            <a:endParaRPr lang="en-US" sz="3000" dirty="0"/>
          </a:p>
        </p:txBody>
      </p:sp>
      <p:sp>
        <p:nvSpPr>
          <p:cNvPr id="4" name="Shape 2"/>
          <p:cNvSpPr/>
          <p:nvPr/>
        </p:nvSpPr>
        <p:spPr>
          <a:xfrm>
            <a:off x="640080" y="1828800"/>
            <a:ext cx="10881360" cy="749808"/>
          </a:xfrm>
          <a:prstGeom prst="roundRect">
            <a:avLst>
              <a:gd name="adj" fmla="val 9756"/>
            </a:avLst>
          </a:prstGeom>
          <a:solidFill>
            <a:srgbClr val="E8F4F2"/>
          </a:solidFill>
          <a:ln/>
        </p:spPr>
      </p:sp>
      <p:sp>
        <p:nvSpPr>
          <p:cNvPr id="5" name="Shape 3"/>
          <p:cNvSpPr/>
          <p:nvPr/>
        </p:nvSpPr>
        <p:spPr>
          <a:xfrm>
            <a:off x="868680" y="1975104"/>
            <a:ext cx="457200" cy="457200"/>
          </a:xfrm>
          <a:prstGeom prst="ellipse">
            <a:avLst/>
          </a:prstGeom>
          <a:solidFill>
            <a:srgbClr val="E05252"/>
          </a:solidFill>
          <a:ln/>
        </p:spPr>
      </p:sp>
      <p:sp>
        <p:nvSpPr>
          <p:cNvPr id="6" name="Text 4"/>
          <p:cNvSpPr/>
          <p:nvPr/>
        </p:nvSpPr>
        <p:spPr>
          <a:xfrm>
            <a:off x="868680" y="197510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08760" y="1828800"/>
            <a:ext cx="3657600" cy="74980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Vague task</a:t>
            </a:r>
            <a:endParaRPr lang="en-US" sz="1600" dirty="0"/>
          </a:p>
        </p:txBody>
      </p:sp>
      <p:sp>
        <p:nvSpPr>
          <p:cNvPr id="8" name="Text 6"/>
          <p:cNvSpPr/>
          <p:nvPr/>
        </p:nvSpPr>
        <p:spPr>
          <a:xfrm>
            <a:off x="5212080" y="1828800"/>
            <a:ext cx="6126480" cy="749808"/>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“Analyse this” — the model guesses your intent and guesses wrong.</a:t>
            </a:r>
            <a:endParaRPr lang="en-US" sz="1350" dirty="0"/>
          </a:p>
        </p:txBody>
      </p:sp>
      <p:sp>
        <p:nvSpPr>
          <p:cNvPr id="9" name="Shape 7"/>
          <p:cNvSpPr/>
          <p:nvPr/>
        </p:nvSpPr>
        <p:spPr>
          <a:xfrm>
            <a:off x="640080" y="2688336"/>
            <a:ext cx="10881360" cy="749808"/>
          </a:xfrm>
          <a:prstGeom prst="roundRect">
            <a:avLst>
              <a:gd name="adj" fmla="val 9756"/>
            </a:avLst>
          </a:prstGeom>
          <a:solidFill>
            <a:srgbClr val="F1F5F9"/>
          </a:solidFill>
          <a:ln/>
        </p:spPr>
      </p:sp>
      <p:sp>
        <p:nvSpPr>
          <p:cNvPr id="10" name="Shape 8"/>
          <p:cNvSpPr/>
          <p:nvPr/>
        </p:nvSpPr>
        <p:spPr>
          <a:xfrm>
            <a:off x="868680" y="2834640"/>
            <a:ext cx="457200" cy="457200"/>
          </a:xfrm>
          <a:prstGeom prst="ellipse">
            <a:avLst/>
          </a:prstGeom>
          <a:solidFill>
            <a:srgbClr val="E05252"/>
          </a:solidFill>
          <a:ln/>
        </p:spPr>
      </p:sp>
      <p:sp>
        <p:nvSpPr>
          <p:cNvPr id="11" name="Text 9"/>
          <p:cNvSpPr/>
          <p:nvPr/>
        </p:nvSpPr>
        <p:spPr>
          <a:xfrm>
            <a:off x="868680" y="28346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508760" y="2688336"/>
            <a:ext cx="3657600" cy="74980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Asking for prose when you need data</a:t>
            </a:r>
            <a:endParaRPr lang="en-US" sz="1600" dirty="0"/>
          </a:p>
        </p:txBody>
      </p:sp>
      <p:sp>
        <p:nvSpPr>
          <p:cNvPr id="13" name="Text 11"/>
          <p:cNvSpPr/>
          <p:nvPr/>
        </p:nvSpPr>
        <p:spPr>
          <a:xfrm>
            <a:off x="5212080" y="2688336"/>
            <a:ext cx="6126480" cy="749808"/>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No format spec means brittle parsing downstream.</a:t>
            </a:r>
            <a:endParaRPr lang="en-US" sz="1350" dirty="0"/>
          </a:p>
        </p:txBody>
      </p:sp>
      <p:sp>
        <p:nvSpPr>
          <p:cNvPr id="14" name="Shape 12"/>
          <p:cNvSpPr/>
          <p:nvPr/>
        </p:nvSpPr>
        <p:spPr>
          <a:xfrm>
            <a:off x="640080" y="3547872"/>
            <a:ext cx="10881360" cy="749808"/>
          </a:xfrm>
          <a:prstGeom prst="roundRect">
            <a:avLst>
              <a:gd name="adj" fmla="val 9756"/>
            </a:avLst>
          </a:prstGeom>
          <a:solidFill>
            <a:srgbClr val="E8F4F2"/>
          </a:solidFill>
          <a:ln/>
        </p:spPr>
      </p:sp>
      <p:sp>
        <p:nvSpPr>
          <p:cNvPr id="15" name="Shape 13"/>
          <p:cNvSpPr/>
          <p:nvPr/>
        </p:nvSpPr>
        <p:spPr>
          <a:xfrm>
            <a:off x="868680" y="3694176"/>
            <a:ext cx="457200" cy="457200"/>
          </a:xfrm>
          <a:prstGeom prst="ellipse">
            <a:avLst/>
          </a:prstGeom>
          <a:solidFill>
            <a:srgbClr val="E05252"/>
          </a:solidFill>
          <a:ln/>
        </p:spPr>
      </p:sp>
      <p:sp>
        <p:nvSpPr>
          <p:cNvPr id="16" name="Text 14"/>
          <p:cNvSpPr/>
          <p:nvPr/>
        </p:nvSpPr>
        <p:spPr>
          <a:xfrm>
            <a:off x="868680" y="3694176"/>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508760" y="3547872"/>
            <a:ext cx="3657600" cy="74980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Over-stuffing one prompt</a:t>
            </a:r>
            <a:endParaRPr lang="en-US" sz="1600" dirty="0"/>
          </a:p>
        </p:txBody>
      </p:sp>
      <p:sp>
        <p:nvSpPr>
          <p:cNvPr id="18" name="Text 16"/>
          <p:cNvSpPr/>
          <p:nvPr/>
        </p:nvSpPr>
        <p:spPr>
          <a:xfrm>
            <a:off x="5212080" y="3547872"/>
            <a:ext cx="6126480" cy="749808"/>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Five tasks at once → mediocre at all five. Split them.</a:t>
            </a:r>
            <a:endParaRPr lang="en-US" sz="1350" dirty="0"/>
          </a:p>
        </p:txBody>
      </p:sp>
      <p:sp>
        <p:nvSpPr>
          <p:cNvPr id="19" name="Shape 17"/>
          <p:cNvSpPr/>
          <p:nvPr/>
        </p:nvSpPr>
        <p:spPr>
          <a:xfrm>
            <a:off x="640080" y="4407408"/>
            <a:ext cx="10881360" cy="749808"/>
          </a:xfrm>
          <a:prstGeom prst="roundRect">
            <a:avLst>
              <a:gd name="adj" fmla="val 9756"/>
            </a:avLst>
          </a:prstGeom>
          <a:solidFill>
            <a:srgbClr val="F1F5F9"/>
          </a:solidFill>
          <a:ln/>
        </p:spPr>
      </p:sp>
      <p:sp>
        <p:nvSpPr>
          <p:cNvPr id="20" name="Shape 18"/>
          <p:cNvSpPr/>
          <p:nvPr/>
        </p:nvSpPr>
        <p:spPr>
          <a:xfrm>
            <a:off x="868680" y="4553712"/>
            <a:ext cx="457200" cy="457200"/>
          </a:xfrm>
          <a:prstGeom prst="ellipse">
            <a:avLst/>
          </a:prstGeom>
          <a:solidFill>
            <a:srgbClr val="E05252"/>
          </a:solidFill>
          <a:ln/>
        </p:spPr>
      </p:sp>
      <p:sp>
        <p:nvSpPr>
          <p:cNvPr id="21" name="Text 19"/>
          <p:cNvSpPr/>
          <p:nvPr/>
        </p:nvSpPr>
        <p:spPr>
          <a:xfrm>
            <a:off x="868680" y="4553712"/>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508760" y="4407408"/>
            <a:ext cx="3657600" cy="74980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Politeness as padding</a:t>
            </a:r>
            <a:endParaRPr lang="en-US" sz="1600" dirty="0"/>
          </a:p>
        </p:txBody>
      </p:sp>
      <p:sp>
        <p:nvSpPr>
          <p:cNvPr id="23" name="Text 21"/>
          <p:cNvSpPr/>
          <p:nvPr/>
        </p:nvSpPr>
        <p:spPr>
          <a:xfrm>
            <a:off x="5212080" y="4407408"/>
            <a:ext cx="6126480" cy="749808"/>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“Kindly please…” is billed tokens with zero benefit.</a:t>
            </a:r>
            <a:endParaRPr lang="en-US" sz="1350" dirty="0"/>
          </a:p>
        </p:txBody>
      </p:sp>
      <p:sp>
        <p:nvSpPr>
          <p:cNvPr id="24" name="Shape 22"/>
          <p:cNvSpPr/>
          <p:nvPr/>
        </p:nvSpPr>
        <p:spPr>
          <a:xfrm>
            <a:off x="640080" y="5266944"/>
            <a:ext cx="10881360" cy="749808"/>
          </a:xfrm>
          <a:prstGeom prst="roundRect">
            <a:avLst>
              <a:gd name="adj" fmla="val 9756"/>
            </a:avLst>
          </a:prstGeom>
          <a:solidFill>
            <a:srgbClr val="E8F4F2"/>
          </a:solidFill>
          <a:ln/>
        </p:spPr>
      </p:sp>
      <p:sp>
        <p:nvSpPr>
          <p:cNvPr id="25" name="Shape 23"/>
          <p:cNvSpPr/>
          <p:nvPr/>
        </p:nvSpPr>
        <p:spPr>
          <a:xfrm>
            <a:off x="868680" y="5413248"/>
            <a:ext cx="457200" cy="457200"/>
          </a:xfrm>
          <a:prstGeom prst="ellipse">
            <a:avLst/>
          </a:prstGeom>
          <a:solidFill>
            <a:srgbClr val="E05252"/>
          </a:solidFill>
          <a:ln/>
        </p:spPr>
      </p:sp>
      <p:sp>
        <p:nvSpPr>
          <p:cNvPr id="26" name="Text 24"/>
          <p:cNvSpPr/>
          <p:nvPr/>
        </p:nvSpPr>
        <p:spPr>
          <a:xfrm>
            <a:off x="868680" y="5413248"/>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508760" y="5266944"/>
            <a:ext cx="3657600" cy="74980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Never versioning</a:t>
            </a:r>
            <a:endParaRPr lang="en-US" sz="1600" dirty="0"/>
          </a:p>
        </p:txBody>
      </p:sp>
      <p:sp>
        <p:nvSpPr>
          <p:cNvPr id="28" name="Text 26"/>
          <p:cNvSpPr/>
          <p:nvPr/>
        </p:nvSpPr>
        <p:spPr>
          <a:xfrm>
            <a:off x="5212080" y="5266944"/>
            <a:ext cx="6126480" cy="749808"/>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If you can’t reproduce a good prompt, you can’t improve it.</a:t>
            </a:r>
            <a:endParaRPr lang="en-US" sz="1350" dirty="0"/>
          </a:p>
        </p:txBody>
      </p:sp>
      <p:sp>
        <p:nvSpPr>
          <p:cNvPr id="29" name="Text 27"/>
          <p:cNvSpPr/>
          <p:nvPr/>
        </p:nvSpPr>
        <p:spPr>
          <a:xfrm>
            <a:off x="457200" y="6446520"/>
            <a:ext cx="5486400" cy="274320"/>
          </a:xfrm>
          <a:prstGeom prst="rect">
            <a:avLst/>
          </a:prstGeom>
          <a:noFill/>
          <a:ln/>
        </p:spPr>
        <p:txBody>
          <a:bodyPr wrap="square"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The ₹0 AI Engineer  ·  Module 2</a:t>
            </a:r>
            <a:endParaRPr lang="en-US" sz="900" dirty="0"/>
          </a:p>
        </p:txBody>
      </p:sp>
      <p:sp>
        <p:nvSpPr>
          <p:cNvPr id="30" name="Text 28"/>
          <p:cNvSpPr/>
          <p:nvPr/>
        </p:nvSpPr>
        <p:spPr>
          <a:xfrm>
            <a:off x="11277295" y="6446520"/>
            <a:ext cx="457200" cy="274320"/>
          </a:xfrm>
          <a:prstGeom prst="rect">
            <a:avLst/>
          </a:prstGeom>
          <a:noFill/>
          <a:ln/>
        </p:spPr>
        <p:txBody>
          <a:bodyPr wrap="square" rtlCol="0" anchor="ctr"/>
          <a:lstStyle/>
          <a:p>
            <a:pPr algn="r" indent="0" marL="0">
              <a:buNone/>
            </a:pPr>
            <a:r>
              <a:rPr lang="en-US" sz="900" dirty="0">
                <a:solidFill>
                  <a:srgbClr val="64748B"/>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2E"/>
        </a:solidFill>
      </p:bgPr>
    </p:bg>
    <p:spTree>
      <p:nvGrpSpPr>
        <p:cNvPr id="1" name=""/>
        <p:cNvGrpSpPr/>
        <p:nvPr/>
      </p:nvGrpSpPr>
      <p:grpSpPr>
        <a:xfrm>
          <a:off x="0" y="0"/>
          <a:ext cx="0" cy="0"/>
          <a:chOff x="0" y="0"/>
          <a:chExt cx="0" cy="0"/>
        </a:xfrm>
      </p:grpSpPr>
      <p:sp>
        <p:nvSpPr>
          <p:cNvPr id="2" name="Shape 0"/>
          <p:cNvSpPr/>
          <p:nvPr/>
        </p:nvSpPr>
        <p:spPr>
          <a:xfrm>
            <a:off x="9509760" y="-1463040"/>
            <a:ext cx="5486400" cy="5486400"/>
          </a:xfrm>
          <a:prstGeom prst="ellipse">
            <a:avLst/>
          </a:prstGeom>
          <a:solidFill>
            <a:srgbClr val="0D9488">
              <a:alpha val="12000"/>
            </a:srgbClr>
          </a:solidFill>
          <a:ln/>
        </p:spPr>
      </p:sp>
      <p:sp>
        <p:nvSpPr>
          <p:cNvPr id="3" name="Text 1"/>
          <p:cNvSpPr/>
          <p:nvPr/>
        </p:nvSpPr>
        <p:spPr>
          <a:xfrm>
            <a:off x="640080" y="502920"/>
            <a:ext cx="7315200" cy="274320"/>
          </a:xfrm>
          <a:prstGeom prst="rect">
            <a:avLst/>
          </a:prstGeom>
          <a:noFill/>
          <a:ln/>
        </p:spPr>
        <p:txBody>
          <a:bodyPr wrap="square" rtlCol="0" anchor="ctr"/>
          <a:lstStyle/>
          <a:p>
            <a:pPr indent="0" marL="0">
              <a:buNone/>
            </a:pPr>
            <a:r>
              <a:rPr lang="en-US" sz="1250" b="1" spc="300" kern="0" dirty="0">
                <a:solidFill>
                  <a:srgbClr val="5EEAD4"/>
                </a:solidFill>
                <a:latin typeface="Calibri" pitchFamily="34" charset="0"/>
                <a:ea typeface="Calibri" pitchFamily="34" charset="-122"/>
                <a:cs typeface="Calibri" pitchFamily="34" charset="-120"/>
              </a:rPr>
              <a:t>MODULE 2 — LOCKED IN</a:t>
            </a:r>
            <a:endParaRPr lang="en-US" sz="1250" dirty="0"/>
          </a:p>
        </p:txBody>
      </p:sp>
      <p:sp>
        <p:nvSpPr>
          <p:cNvPr id="4" name="Text 2"/>
          <p:cNvSpPr/>
          <p:nvPr/>
        </p:nvSpPr>
        <p:spPr>
          <a:xfrm>
            <a:off x="640080" y="868680"/>
            <a:ext cx="1005840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 can now turn the dial</a:t>
            </a:r>
            <a:endParaRPr lang="en-US" sz="3400" dirty="0"/>
          </a:p>
        </p:txBody>
      </p:sp>
      <p:pic>
        <p:nvPicPr>
          <p:cNvPr id="5" name="Image 0" descr="icons/check.png">    </p:cNvPr>
          <p:cNvPicPr>
            <a:picLocks noChangeAspect="1"/>
          </p:cNvPicPr>
          <p:nvPr/>
        </p:nvPicPr>
        <p:blipFill>
          <a:blip r:embed="rId1"/>
          <a:stretch>
            <a:fillRect/>
          </a:stretch>
        </p:blipFill>
        <p:spPr>
          <a:xfrm>
            <a:off x="731520" y="1874520"/>
            <a:ext cx="384048" cy="384048"/>
          </a:xfrm>
          <a:prstGeom prst="rect">
            <a:avLst/>
          </a:prstGeom>
        </p:spPr>
      </p:pic>
      <p:sp>
        <p:nvSpPr>
          <p:cNvPr id="6" name="Text 3"/>
          <p:cNvSpPr/>
          <p:nvPr/>
        </p:nvSpPr>
        <p:spPr>
          <a:xfrm>
            <a:off x="1325880" y="1828800"/>
            <a:ext cx="768096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A prompt has parts: role, task, context, output format</a:t>
            </a:r>
            <a:endParaRPr lang="en-US" sz="1650" dirty="0"/>
          </a:p>
        </p:txBody>
      </p:sp>
      <p:pic>
        <p:nvPicPr>
          <p:cNvPr id="7" name="Image 1" descr="icons/check.png">    </p:cNvPr>
          <p:cNvPicPr>
            <a:picLocks noChangeAspect="1"/>
          </p:cNvPicPr>
          <p:nvPr/>
        </p:nvPicPr>
        <p:blipFill>
          <a:blip r:embed="rId2"/>
          <a:stretch>
            <a:fillRect/>
          </a:stretch>
        </p:blipFill>
        <p:spPr>
          <a:xfrm>
            <a:off x="731520" y="2441448"/>
            <a:ext cx="384048" cy="384048"/>
          </a:xfrm>
          <a:prstGeom prst="rect">
            <a:avLst/>
          </a:prstGeom>
        </p:spPr>
      </p:pic>
      <p:sp>
        <p:nvSpPr>
          <p:cNvPr id="8" name="Text 4"/>
          <p:cNvSpPr/>
          <p:nvPr/>
        </p:nvSpPr>
        <p:spPr>
          <a:xfrm>
            <a:off x="1325880" y="2395728"/>
            <a:ext cx="768096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System prompt = your rules; user prompt = the variable input</a:t>
            </a:r>
            <a:endParaRPr lang="en-US" sz="1650" dirty="0"/>
          </a:p>
        </p:txBody>
      </p:sp>
      <p:pic>
        <p:nvPicPr>
          <p:cNvPr id="9" name="Image 2" descr="icons/check.png">    </p:cNvPr>
          <p:cNvPicPr>
            <a:picLocks noChangeAspect="1"/>
          </p:cNvPicPr>
          <p:nvPr/>
        </p:nvPicPr>
        <p:blipFill>
          <a:blip r:embed="rId3"/>
          <a:stretch>
            <a:fillRect/>
          </a:stretch>
        </p:blipFill>
        <p:spPr>
          <a:xfrm>
            <a:off x="731520" y="3008376"/>
            <a:ext cx="384048" cy="384048"/>
          </a:xfrm>
          <a:prstGeom prst="rect">
            <a:avLst/>
          </a:prstGeom>
        </p:spPr>
      </p:pic>
      <p:sp>
        <p:nvSpPr>
          <p:cNvPr id="10" name="Text 5"/>
          <p:cNvSpPr/>
          <p:nvPr/>
        </p:nvSpPr>
        <p:spPr>
          <a:xfrm>
            <a:off x="1325880" y="2962656"/>
            <a:ext cx="768096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Four tools: zero-shot, few-shot, chain-of-thought, structured output</a:t>
            </a:r>
            <a:endParaRPr lang="en-US" sz="1650" dirty="0"/>
          </a:p>
        </p:txBody>
      </p:sp>
      <p:pic>
        <p:nvPicPr>
          <p:cNvPr id="11" name="Image 3" descr="icons/check.png">    </p:cNvPr>
          <p:cNvPicPr>
            <a:picLocks noChangeAspect="1"/>
          </p:cNvPicPr>
          <p:nvPr/>
        </p:nvPicPr>
        <p:blipFill>
          <a:blip r:embed="rId4"/>
          <a:stretch>
            <a:fillRect/>
          </a:stretch>
        </p:blipFill>
        <p:spPr>
          <a:xfrm>
            <a:off x="731520" y="3575304"/>
            <a:ext cx="384048" cy="384048"/>
          </a:xfrm>
          <a:prstGeom prst="rect">
            <a:avLst/>
          </a:prstGeom>
        </p:spPr>
      </p:pic>
      <p:sp>
        <p:nvSpPr>
          <p:cNvPr id="12" name="Text 6"/>
          <p:cNvSpPr/>
          <p:nvPr/>
        </p:nvSpPr>
        <p:spPr>
          <a:xfrm>
            <a:off x="1325880" y="3529584"/>
            <a:ext cx="768096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Demand JSON so real code can consume the response</a:t>
            </a:r>
            <a:endParaRPr lang="en-US" sz="1650" dirty="0"/>
          </a:p>
        </p:txBody>
      </p:sp>
      <p:pic>
        <p:nvPicPr>
          <p:cNvPr id="13" name="Image 4" descr="icons/check.png">    </p:cNvPr>
          <p:cNvPicPr>
            <a:picLocks noChangeAspect="1"/>
          </p:cNvPicPr>
          <p:nvPr/>
        </p:nvPicPr>
        <p:blipFill>
          <a:blip r:embed="rId5"/>
          <a:stretch>
            <a:fillRect/>
          </a:stretch>
        </p:blipFill>
        <p:spPr>
          <a:xfrm>
            <a:off x="731520" y="4142232"/>
            <a:ext cx="384048" cy="384048"/>
          </a:xfrm>
          <a:prstGeom prst="rect">
            <a:avLst/>
          </a:prstGeom>
        </p:spPr>
      </p:pic>
      <p:sp>
        <p:nvSpPr>
          <p:cNvPr id="14" name="Text 7"/>
          <p:cNvSpPr/>
          <p:nvPr/>
        </p:nvSpPr>
        <p:spPr>
          <a:xfrm>
            <a:off x="1325880" y="4096512"/>
            <a:ext cx="7680960" cy="502920"/>
          </a:xfrm>
          <a:prstGeom prst="rect">
            <a:avLst/>
          </a:prstGeom>
          <a:noFill/>
          <a:ln/>
        </p:spPr>
        <p:txBody>
          <a:bodyPr wrap="square" rtlCol="0" anchor="ctr"/>
          <a:lstStyle/>
          <a:p>
            <a:pPr indent="0" marL="0">
              <a:buNone/>
            </a:pPr>
            <a:r>
              <a:rPr lang="en-US" sz="1650" dirty="0">
                <a:solidFill>
                  <a:srgbClr val="E2F0F0"/>
                </a:solidFill>
                <a:latin typeface="Calibri" pitchFamily="34" charset="0"/>
                <a:ea typeface="Calibri" pitchFamily="34" charset="-122"/>
                <a:cs typeface="Calibri" pitchFamily="34" charset="-120"/>
              </a:rPr>
              <a:t>Every token earns its place — prompt design is cost engineering</a:t>
            </a:r>
            <a:endParaRPr lang="en-US" sz="1650" dirty="0"/>
          </a:p>
        </p:txBody>
      </p:sp>
      <p:sp>
        <p:nvSpPr>
          <p:cNvPr id="15" name="Shape 8"/>
          <p:cNvSpPr/>
          <p:nvPr/>
        </p:nvSpPr>
        <p:spPr>
          <a:xfrm>
            <a:off x="640080" y="4892040"/>
            <a:ext cx="10881360" cy="1417320"/>
          </a:xfrm>
          <a:prstGeom prst="roundRect">
            <a:avLst>
              <a:gd name="adj" fmla="val 6452"/>
            </a:avLst>
          </a:prstGeom>
          <a:solidFill>
            <a:srgbClr val="F4A338"/>
          </a:solidFill>
          <a:ln/>
          <a:effectLst>
            <a:outerShdw sx="100000" sy="100000" kx="0" ky="0" algn="bl" rotWithShape="0" blurRad="88900" dist="38100" dir="2700000">
              <a:srgbClr val="000000">
                <a:alpha val="25000"/>
              </a:srgbClr>
            </a:outerShdw>
          </a:effectLst>
        </p:spPr>
      </p:sp>
      <p:pic>
        <p:nvPicPr>
          <p:cNvPr id="16" name="Image 5" descr="icons/point.png">    </p:cNvPr>
          <p:cNvPicPr>
            <a:picLocks noChangeAspect="1"/>
          </p:cNvPicPr>
          <p:nvPr/>
        </p:nvPicPr>
        <p:blipFill>
          <a:blip r:embed="rId6"/>
          <a:stretch>
            <a:fillRect/>
          </a:stretch>
        </p:blipFill>
        <p:spPr>
          <a:xfrm>
            <a:off x="960120" y="5257800"/>
            <a:ext cx="640080" cy="640080"/>
          </a:xfrm>
          <a:prstGeom prst="rect">
            <a:avLst/>
          </a:prstGeom>
        </p:spPr>
      </p:pic>
      <p:sp>
        <p:nvSpPr>
          <p:cNvPr id="17" name="Text 9"/>
          <p:cNvSpPr/>
          <p:nvPr/>
        </p:nvSpPr>
        <p:spPr>
          <a:xfrm>
            <a:off x="1828800" y="4983480"/>
            <a:ext cx="9509760" cy="1234440"/>
          </a:xfrm>
          <a:prstGeom prst="rect">
            <a:avLst/>
          </a:prstGeom>
          <a:noFill/>
          <a:ln/>
        </p:spPr>
        <p:txBody>
          <a:bodyPr wrap="square" rtlCol="0" anchor="ctr"/>
          <a:lstStyle/>
          <a:p>
            <a:pPr indent="0" marL="0">
              <a:buNone/>
            </a:pPr>
            <a:r>
              <a:rPr lang="en-US" sz="1550" b="1" dirty="0">
                <a:solidFill>
                  <a:srgbClr val="0F2A2E"/>
                </a:solidFill>
                <a:latin typeface="Calibri" pitchFamily="34" charset="0"/>
                <a:ea typeface="Calibri" pitchFamily="34" charset="-122"/>
                <a:cs typeface="Calibri" pitchFamily="34" charset="-120"/>
              </a:rPr>
              <a:t>DO TONIGHT:  </a:t>
            </a:r>
            <a:pPr indent="0" marL="0">
              <a:buNone/>
            </a:pPr>
            <a:r>
              <a:rPr lang="en-US" sz="1550" dirty="0">
                <a:solidFill>
                  <a:srgbClr val="0F2A2E"/>
                </a:solidFill>
                <a:latin typeface="Calibri" pitchFamily="34" charset="0"/>
                <a:ea typeface="Calibri" pitchFamily="34" charset="-122"/>
                <a:cs typeface="Calibri" pitchFamily="34" charset="-120"/>
              </a:rPr>
              <a:t>Take any naive prompt you’ve used, rewrite it with a system role + JSON output in AI Studio, and screenshot both token counts. Next module, we put these prompts inside real code.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Prompt Engineering as a Professional Discipline</dc:title>
  <dc:subject>PptxGenJS Presentation</dc:subject>
  <dc:creator>Pramit Mitra</dc:creator>
  <cp:lastModifiedBy>Pramit Mitra</cp:lastModifiedBy>
  <cp:revision>1</cp:revision>
  <dcterms:created xsi:type="dcterms:W3CDTF">2026-06-17T18:45:33Z</dcterms:created>
  <dcterms:modified xsi:type="dcterms:W3CDTF">2026-06-17T18:45:33Z</dcterms:modified>
</cp:coreProperties>
</file>