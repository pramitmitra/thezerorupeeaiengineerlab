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2" name="Shape 52"/>
          <p:cNvSpPr/>
          <p:nvPr>
            <p:ph type="sldImg"/>
          </p:nvPr>
        </p:nvSpPr>
        <p:spPr>
          <a:xfrm>
            <a:off x="1143000" y="685800"/>
            <a:ext cx="4572000" cy="3429000"/>
          </a:xfrm>
          <a:prstGeom prst="rect">
            <a:avLst/>
          </a:prstGeom>
        </p:spPr>
        <p:txBody>
          <a:bodyPr/>
          <a:lstStyle/>
          <a:p>
            <a:pPr/>
          </a:p>
        </p:txBody>
      </p:sp>
      <p:sp>
        <p:nvSpPr>
          <p:cNvPr id="53" name="Shape 5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Opening (0:00-2:00). Hook: ask for a show of hands — who thinks you need a powerful GPU, a paid account, or a big-tech job before you can build real AI? Most hands go up. Tell them: by the end of this hour, every one of those is gone. Today's first move is to stop thinking of AI as a research artifact from a paper, and start seeing it as an INDUSTRY PRODUCT — something you buy by the call, measured in money. The whole module hangs on one tangible thing: the token. Keep energy high; this is the framing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p>
            <a:pPr/>
            <a:r>
              <a:t>Roadmap (0:30). Four beats for the hour's foundation. Emphasize the through-line: every beat comes back to MONEY. Universities teach you to ask 'is it accurate?' Industry asks three questions at once, and two of them are about cost and speed. Tell them slide 3-4 sets up the gap, then we make tokens physical with a live demo. Promise the payoff: 'by slide ~12 you'll calculate the real rupee cost of a prompt yourself.'</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Shape 263"/>
          <p:cNvSpPr/>
          <p:nvPr>
            <p:ph type="sldImg"/>
          </p:nvPr>
        </p:nvSpPr>
        <p:spPr>
          <a:prstGeom prst="rect">
            <a:avLst/>
          </a:prstGeom>
        </p:spPr>
        <p:txBody>
          <a:bodyPr/>
          <a:lstStyle/>
          <a:p>
            <a:pPr/>
          </a:p>
        </p:txBody>
      </p:sp>
      <p:sp>
        <p:nvSpPr>
          <p:cNvPr id="264" name="Shape 264"/>
          <p:cNvSpPr/>
          <p:nvPr>
            <p:ph type="body" sz="quarter" idx="1"/>
          </p:nvPr>
        </p:nvSpPr>
        <p:spPr>
          <a:prstGeom prst="rect">
            <a:avLst/>
          </a:prstGeom>
        </p:spPr>
        <p:txBody>
          <a:bodyPr/>
          <a:lstStyle/>
          <a:p>
            <a:pPr/>
            <a:r>
              <a:t>The gap (2:00-5:00). This is the bridge — frame it as ADDITIVE, not corrective. Their degree isn't wrong; this is the missing chapter. Walk each row left-to-right. The killer line: 'In production, a model that's 5% less accurate but 80% cheaper usually wins — and nobody teaches you that.' Land the reframe: the core industry skill isn't training models, it's JUDGEMENT about which API to call and how to design the call. Reassure: the perceive-plan-act loop, embeddings, search — you already studied these. Don't dwell; this table is a 3-minute beat.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Shape 284"/>
          <p:cNvSpPr/>
          <p:nvPr>
            <p:ph type="sldImg"/>
          </p:nvPr>
        </p:nvSpPr>
        <p:spPr>
          <a:prstGeom prst="rect">
            <a:avLst/>
          </a:prstGeom>
        </p:spPr>
        <p:txBody>
          <a:bodyPr/>
          <a:lstStyle/>
          <a:p>
            <a:pPr/>
          </a:p>
        </p:txBody>
      </p:sp>
      <p:sp>
        <p:nvSpPr>
          <p:cNvPr id="285" name="Shape 285"/>
          <p:cNvSpPr/>
          <p:nvPr>
            <p:ph type="body" sz="quarter" idx="1"/>
          </p:nvPr>
        </p:nvSpPr>
        <p:spPr>
          <a:prstGeom prst="rect">
            <a:avLst/>
          </a:prstGeom>
        </p:spPr>
        <p:txBody>
          <a:bodyPr/>
          <a:lstStyle/>
          <a:p>
            <a:pPr/>
            <a:r>
              <a:t>AI as a product (4:00). Anchor metaphor: electricity. You don't build a power plant to boil a kettle — you plug in and pay per unit. Same with AI: you don't train GPT, you call it and pay per token. Three lenses industry uses: cost, speed, cost-per-outcome. The quote at the bottom is the spine of the whole workshop — say it slowly, it's the title's thesis. Transition: 'so if we pay per token... what on earth is a token? Let's make it physical.'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Shape 313"/>
          <p:cNvSpPr/>
          <p:nvPr>
            <p:ph type="sldImg"/>
          </p:nvPr>
        </p:nvSpPr>
        <p:spPr>
          <a:prstGeom prst="rect">
            <a:avLst/>
          </a:prstGeom>
        </p:spPr>
        <p:txBody>
          <a:bodyPr/>
          <a:lstStyle/>
          <a:p>
            <a:pPr/>
          </a:p>
        </p:txBody>
      </p:sp>
      <p:sp>
        <p:nvSpPr>
          <p:cNvPr id="314" name="Shape 314"/>
          <p:cNvSpPr/>
          <p:nvPr>
            <p:ph type="body" sz="quarter" idx="1"/>
          </p:nvPr>
        </p:nvSpPr>
        <p:spPr>
          <a:prstGeom prst="rect">
            <a:avLst/>
          </a:prstGeom>
        </p:spPr>
        <p:txBody>
          <a:bodyPr/>
          <a:lstStyle/>
          <a:p>
            <a:pPr/>
            <a:r>
              <a:t>What is a token (5:00-7:00). Make it concrete before any theory — that's the whole pedagogy. 'Unbelievable' = 4 tokens shows tokens are sub-word units, not words. Rules of thumb students should memorise: ~4 chars/token, 100 tokens ≈ 75 words. Stress the cost hook: rare/long words fragment into more tokens, so vocabulary and verbosity literally cost money. This sets up the LIVE DEMO on the next slide — tell them 'don't take my word for it, let's watch it happen.'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Shape 328"/>
          <p:cNvSpPr/>
          <p:nvPr>
            <p:ph type="sldImg"/>
          </p:nvPr>
        </p:nvSpPr>
        <p:spPr>
          <a:prstGeom prst="rect">
            <a:avLst/>
          </a:prstGeom>
        </p:spPr>
        <p:txBody>
          <a:bodyPr/>
          <a:lstStyle/>
          <a:p>
            <a:pPr/>
          </a:p>
        </p:txBody>
      </p:sp>
      <p:sp>
        <p:nvSpPr>
          <p:cNvPr id="329" name="Shape 329"/>
          <p:cNvSpPr/>
          <p:nvPr>
            <p:ph type="body" sz="quarter" idx="1"/>
          </p:nvPr>
        </p:nvSpPr>
        <p:spPr>
          <a:prstGeom prst="rect">
            <a:avLst/>
          </a:prstGeom>
        </p:spPr>
        <p:txBody>
          <a:bodyPr/>
          <a:lstStyle/>
          <a:p>
            <a:pPr/>
            <a:r>
              <a:t>LIVE DEMO 1 (6:30-9:00). No login needed — this is your SAFE live demo. Backup: screenshot in case wifi dies. Script: paste 'The quick brown fox' (~5 tokens). Then paste a messy chemistry word like 'Dichlorodifluoromethane' — watch it explode into many tokens. Then a URL with random chars. The 'aha': identical MEANING can cost wildly different token counts. Toggle Token IDs to show the model only sees integers. End on the right-panel line: prompt length = engineering decision. Transition to pricing: 'now that we can count tokens, let's put a rupee figure on them.'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Shape 350"/>
          <p:cNvSpPr/>
          <p:nvPr>
            <p:ph type="sldImg"/>
          </p:nvPr>
        </p:nvSpPr>
        <p:spPr>
          <a:prstGeom prst="rect">
            <a:avLst/>
          </a:prstGeom>
        </p:spPr>
        <p:txBody>
          <a:bodyPr/>
          <a:lstStyle/>
          <a:p>
            <a:pPr/>
          </a:p>
        </p:txBody>
      </p:sp>
      <p:sp>
        <p:nvSpPr>
          <p:cNvPr id="351" name="Shape 351"/>
          <p:cNvSpPr/>
          <p:nvPr>
            <p:ph type="body" sz="quarter" idx="1"/>
          </p:nvPr>
        </p:nvSpPr>
        <p:spPr>
          <a:prstGeom prst="rect">
            <a:avLst/>
          </a:prstGeom>
        </p:spPr>
        <p:txBody>
          <a:bodyPr/>
          <a:lstStyle/>
          <a:p>
            <a:pPr/>
            <a:r>
              <a:t>Input vs output (9:00-10:30). Core asymmetry: generating is more expensive than reading. Reading scans; generating runs the full model once per token produced. Typical ratio 3-5x (show on slide 8 it's real). Practical lever: you control output length with your prompt. 'Answer in one word' vs 'explain in detail' is a cost decision. Also flag context-window compounding: in a chat, the whole history is re-sent as INPUT every turn, so long conversations silently inflate input cost. This motivates the pricing table next.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Shape 359"/>
          <p:cNvSpPr/>
          <p:nvPr>
            <p:ph type="sldImg"/>
          </p:nvPr>
        </p:nvSpPr>
        <p:spPr>
          <a:prstGeom prst="rect">
            <a:avLst/>
          </a:prstGeom>
        </p:spPr>
        <p:txBody>
          <a:bodyPr/>
          <a:lstStyle/>
          <a:p>
            <a:pPr/>
          </a:p>
        </p:txBody>
      </p:sp>
      <p:sp>
        <p:nvSpPr>
          <p:cNvPr id="360" name="Shape 360"/>
          <p:cNvSpPr/>
          <p:nvPr>
            <p:ph type="body" sz="quarter" idx="1"/>
          </p:nvPr>
        </p:nvSpPr>
        <p:spPr>
          <a:prstGeom prst="rect">
            <a:avLst/>
          </a:prstGeom>
        </p:spPr>
        <p:txBody>
          <a:bodyPr/>
          <a:lstStyle/>
          <a:p>
            <a:pPr/>
            <a:r>
              <a:t>Pricing table (10:30-12:00). These are real June-2026 rates per MILLION tokens. Two takeaways: (1) the spread is staggering — Flash-Lite output is $0.40, GPT-5.4 Pro is $180, that's a 450x gap; (2) tiers exist for a reason. Point to the 'Good for' column: you DON'T send a classification job to a frontier model. Tell the placement-season truth: knowing which tier to pick is literally what makes you useful on day one. Set up the live math: 'let's price a real feature.'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Shape 374"/>
          <p:cNvSpPr/>
          <p:nvPr>
            <p:ph type="sldImg"/>
          </p:nvPr>
        </p:nvSpPr>
        <p:spPr>
          <a:prstGeom prst="rect">
            <a:avLst/>
          </a:prstGeom>
        </p:spPr>
        <p:txBody>
          <a:bodyPr/>
          <a:lstStyle/>
          <a:p>
            <a:pPr/>
          </a:p>
        </p:txBody>
      </p:sp>
      <p:sp>
        <p:nvSpPr>
          <p:cNvPr id="375" name="Shape 375"/>
          <p:cNvSpPr/>
          <p:nvPr>
            <p:ph type="body" sz="quarter" idx="1"/>
          </p:nvPr>
        </p:nvSpPr>
        <p:spPr>
          <a:prstGeom prst="rect">
            <a:avLst/>
          </a:prstGeom>
        </p:spPr>
        <p:txBody>
          <a:bodyPr/>
          <a:lstStyle/>
          <a:p>
            <a:pPr/>
            <a:r>
              <a:t>LIVE DEMO 2 (12:00-15:00). Do this on the whiteboard, slowly — let them do the arithmetic with you. The numbers are deliberately round. Per million: input 40M×$0.25=$10, output 10M×$1.25=$12.50, total $22.50/mo (~₹1,900) for 50k résumés. Then drop the GPT-5.4 Pro comparison: same workload ≈ $1,560/mo — ~70x more. THIS is the lesson: a tier decision is a 70x cost decision, and the cheaper model handles structured extraction perfectly well. Ask the room: 'would you pay 70x for résumé parsing?' Nobody will. That instinct is the industry mindset. Note output cost &gt; input even though fewer tokens — reinforces slide 7.</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r>
              <a:t>Three questions (15:00-17:00). The mental checklist they should walk out owning. Accuracy is contextual — define 'good enough' by the cost of being wrong. Speed is a product decision, not a vanity metric. Cost-per-1000 is the survival metric. The closing line ties back to the gap slide: school trains question 1 only; the job is the balancing act. This is a good place to take a breath / quick question pause if you're on time.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5" name="Shape 405"/>
          <p:cNvSpPr/>
          <p:nvPr>
            <p:ph type="sldImg"/>
          </p:nvPr>
        </p:nvSpPr>
        <p:spPr>
          <a:prstGeom prst="rect">
            <a:avLst/>
          </a:prstGeom>
        </p:spPr>
        <p:txBody>
          <a:bodyPr/>
          <a:lstStyle/>
          <a:p>
            <a:pPr/>
          </a:p>
        </p:txBody>
      </p:sp>
      <p:sp>
        <p:nvSpPr>
          <p:cNvPr id="406" name="Shape 406"/>
          <p:cNvSpPr/>
          <p:nvPr>
            <p:ph type="body" sz="quarter" idx="1"/>
          </p:nvPr>
        </p:nvSpPr>
        <p:spPr>
          <a:prstGeom prst="rect">
            <a:avLst/>
          </a:prstGeom>
        </p:spPr>
        <p:txBody>
          <a:bodyPr/>
          <a:lstStyle/>
          <a:p>
            <a:pPr/>
            <a:r>
              <a:t>Tradeoff chart (17:00-18:30). Left: accuracy is nearly flat across tiers for many real tasks — 90 vs 96. Right: cost is anything but flat — it explodes. Put them side by side and the business logic is undeniable. The frontier model's 6 extra accuracy points cost 36x more. For most production features that's a terrible trade; for a handful (medical, legal, finance) it's worth it. The skill is knowing which is which. Illustrative numbers — say so — but the SHAPE is real.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Shape 423"/>
          <p:cNvSpPr/>
          <p:nvPr>
            <p:ph type="sldImg"/>
          </p:nvPr>
        </p:nvSpPr>
        <p:spPr>
          <a:prstGeom prst="rect">
            <a:avLst/>
          </a:prstGeom>
        </p:spPr>
        <p:txBody>
          <a:bodyPr/>
          <a:lstStyle/>
          <a:p>
            <a:pPr/>
          </a:p>
        </p:txBody>
      </p:sp>
      <p:sp>
        <p:nvSpPr>
          <p:cNvPr id="424" name="Shape 424"/>
          <p:cNvSpPr/>
          <p:nvPr>
            <p:ph type="body" sz="quarter" idx="1"/>
          </p:nvPr>
        </p:nvSpPr>
        <p:spPr>
          <a:prstGeom prst="rect">
            <a:avLst/>
          </a:prstGeom>
        </p:spPr>
        <p:txBody>
          <a:bodyPr/>
          <a:lstStyle/>
          <a:p>
            <a:pPr/>
            <a:r>
              <a:t>Prompt = cost engineering (18:30-20:00). Bridge to Module 2 without leaving Module 1's theme. The before/after shows politeness words ('I would really like you to please kindly...') are pure cost with zero quality benefit. Tight, structured prompts are cheaper AND more reliable. The strip does the multiplication: small per-call savings become huge at scale. Tell them Module 2 turns this into a measured lab — naive vs engineered prompt, token counts compared live. This slide makes them WANT module 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0" name="Shape 450"/>
          <p:cNvSpPr/>
          <p:nvPr>
            <p:ph type="sldImg"/>
          </p:nvPr>
        </p:nvSpPr>
        <p:spPr>
          <a:prstGeom prst="rect">
            <a:avLst/>
          </a:prstGeom>
        </p:spPr>
        <p:txBody>
          <a:bodyPr/>
          <a:lstStyle/>
          <a:p>
            <a:pPr/>
          </a:p>
        </p:txBody>
      </p:sp>
      <p:sp>
        <p:nvSpPr>
          <p:cNvPr id="451" name="Shape 451"/>
          <p:cNvSpPr/>
          <p:nvPr>
            <p:ph type="body" sz="quarter" idx="1"/>
          </p:nvPr>
        </p:nvSpPr>
        <p:spPr>
          <a:prstGeom prst="rect">
            <a:avLst/>
          </a:prstGeom>
        </p:spPr>
        <p:txBody>
          <a:bodyPr/>
          <a:lstStyle/>
          <a:p>
            <a:pPr/>
            <a:r>
              <a:t>Limits (20:00-22:00). Critical for honest engineers — and for not getting burned in production. Hallucination: it generates plausible text, truth is not guaranteed; never ship raw output for high-stakes facts without grounding/verification. Knowledge cutoff: motivates RAG and search (Module 3). Math: LLMs fumble arithmetic — that's WHY function-calling/tools exist (Module 4). Statelessness: each call is independent; 'memory' is just re-sent context, which is also why long chats cost more (callback to slide 7). Frame limits as design constraints you engineer around, not dealbreakers.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Shape 469"/>
          <p:cNvSpPr/>
          <p:nvPr>
            <p:ph type="sldImg"/>
          </p:nvPr>
        </p:nvSpPr>
        <p:spPr>
          <a:prstGeom prst="rect">
            <a:avLst/>
          </a:prstGeom>
        </p:spPr>
        <p:txBody>
          <a:bodyPr/>
          <a:lstStyle/>
          <a:p>
            <a:pPr/>
          </a:p>
        </p:txBody>
      </p:sp>
      <p:sp>
        <p:nvSpPr>
          <p:cNvPr id="470" name="Shape 470"/>
          <p:cNvSpPr/>
          <p:nvPr>
            <p:ph type="body" sz="quarter" idx="1"/>
          </p:nvPr>
        </p:nvSpPr>
        <p:spPr>
          <a:prstGeom prst="rect">
            <a:avLst/>
          </a:prstGeom>
        </p:spPr>
        <p:txBody>
          <a:bodyPr/>
          <a:lstStyle/>
          <a:p>
            <a:pPr/>
            <a:r>
              <a:t>Recap + homework (22:00-24:00). Fast recap — read the five checks, let them land. Then the concrete 'do tonight' challenge: it forces them to repeat both live demos solo (tokenizer + cost math) on personal data, which cements it. Tell them Module 2 (Prompt Engineering as a Professional Discipline) builds directly on the cost-engineering teaser from slide 12. Close on the workshop thesis one more time: you don't need a GPU — you need judgement about which API to call and how to design the call. End with energy, invite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mp"/><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sterSlide3">
    <p:spTree>
      <p:nvGrpSpPr>
        <p:cNvPr id="1" name=""/>
        <p:cNvGrpSpPr/>
        <p:nvPr/>
      </p:nvGrpSpPr>
      <p:grpSpPr>
        <a:xfrm>
          <a:off x="0" y="0"/>
          <a:ext cx="0" cy="0"/>
          <a:chOff x="0" y="0"/>
          <a:chExt cx="0" cy="0"/>
        </a:xfrm>
      </p:grpSpPr>
      <p:sp>
        <p:nvSpPr>
          <p:cNvPr id="18" name="Freeform 18"/>
          <p:cNvSpPr/>
          <p:nvPr/>
        </p:nvSpPr>
        <p:spPr>
          <a:xfrm>
            <a:off x="1704130" y="171720"/>
            <a:ext cx="504361" cy="439560"/>
          </a:xfrm>
          <a:prstGeom prst="rect">
            <a:avLst/>
          </a:prstGeom>
          <a:solidFill>
            <a:srgbClr val="02A0DB"/>
          </a:solidFill>
          <a:ln w="12700">
            <a:miter lim="400000"/>
          </a:ln>
        </p:spPr>
        <p:txBody>
          <a:bodyPr lIns="45718" tIns="45718" rIns="45718" bIns="45718"/>
          <a:lstStyle/>
          <a:p>
            <a:pPr>
              <a:defRPr>
                <a:solidFill>
                  <a:srgbClr val="FFFFFF"/>
                </a:solidFill>
                <a:latin typeface="Arial"/>
                <a:ea typeface="Arial"/>
                <a:cs typeface="Arial"/>
                <a:sym typeface="Arial"/>
              </a:defRPr>
            </a:pPr>
          </a:p>
        </p:txBody>
      </p:sp>
      <p:sp>
        <p:nvSpPr>
          <p:cNvPr id="19" name="Freeform 19"/>
          <p:cNvSpPr/>
          <p:nvPr/>
        </p:nvSpPr>
        <p:spPr>
          <a:xfrm>
            <a:off x="1517650" y="171720"/>
            <a:ext cx="140401" cy="439560"/>
          </a:xfrm>
          <a:prstGeom prst="rect">
            <a:avLst/>
          </a:prstGeom>
          <a:solidFill>
            <a:srgbClr val="02A0DB"/>
          </a:solidFill>
          <a:ln w="12700">
            <a:miter lim="400000"/>
          </a:ln>
        </p:spPr>
        <p:txBody>
          <a:bodyPr lIns="45718" tIns="45718" rIns="45718" bIns="45718"/>
          <a:lstStyle/>
          <a:p>
            <a:pPr>
              <a:defRPr>
                <a:solidFill>
                  <a:srgbClr val="FFFFFF"/>
                </a:solidFill>
                <a:latin typeface="Arial"/>
                <a:ea typeface="Arial"/>
                <a:cs typeface="Arial"/>
                <a:sym typeface="Arial"/>
              </a:defRPr>
            </a:pPr>
          </a:p>
        </p:txBody>
      </p:sp>
      <p:sp>
        <p:nvSpPr>
          <p:cNvPr id="20" name="Title Text"/>
          <p:cNvSpPr txBox="1"/>
          <p:nvPr>
            <p:ph type="title"/>
          </p:nvPr>
        </p:nvSpPr>
        <p:spPr>
          <a:xfrm>
            <a:off x="1974850" y="273598"/>
            <a:ext cx="8229242" cy="1144802"/>
          </a:xfrm>
          <a:prstGeom prst="rect">
            <a:avLst/>
          </a:prstGeom>
        </p:spPr>
        <p:txBody>
          <a:bodyPr lIns="0" tIns="0" rIns="0" bIns="0">
            <a:normAutofit fontScale="100000" lnSpcReduction="0"/>
          </a:bodyPr>
          <a:lstStyle>
            <a:lvl1pPr>
              <a:lnSpc>
                <a:spcPct val="90000"/>
              </a:lnSpc>
              <a:defRPr>
                <a:latin typeface="Arial"/>
                <a:ea typeface="Arial"/>
                <a:cs typeface="Arial"/>
                <a:sym typeface="Arial"/>
              </a:defRPr>
            </a:lvl1pPr>
          </a:lstStyle>
          <a:p>
            <a:pPr/>
            <a:r>
              <a:t>Title Text</a:t>
            </a:r>
          </a:p>
        </p:txBody>
      </p:sp>
      <p:sp>
        <p:nvSpPr>
          <p:cNvPr id="21" name="Body Level One…"/>
          <p:cNvSpPr txBox="1"/>
          <p:nvPr>
            <p:ph type="body" sz="half" idx="1"/>
          </p:nvPr>
        </p:nvSpPr>
        <p:spPr>
          <a:xfrm>
            <a:off x="1974850" y="1604519"/>
            <a:ext cx="8229242" cy="3977283"/>
          </a:xfrm>
          <a:prstGeom prst="rect">
            <a:avLst/>
          </a:prstGeom>
        </p:spPr>
        <p:txBody>
          <a:bodyPr lIns="0" tIns="0" rIns="0" bIns="0">
            <a:normAutofit fontScale="100000" lnSpcReduction="0"/>
          </a:bodyPr>
          <a:lstStyle>
            <a:lvl1pPr marL="431999" indent="-323998">
              <a:lnSpc>
                <a:spcPct val="90000"/>
              </a:lnSpc>
              <a:spcBef>
                <a:spcPts val="1400"/>
              </a:spcBef>
              <a:buClr>
                <a:srgbClr val="000000"/>
              </a:buClr>
              <a:buSzPct val="45000"/>
              <a:buFontTx/>
              <a:buChar char="●"/>
              <a:defRPr>
                <a:latin typeface="Arial"/>
                <a:ea typeface="Arial"/>
                <a:cs typeface="Arial"/>
                <a:sym typeface="Arial"/>
              </a:defRPr>
            </a:lvl1pPr>
            <a:lvl2pPr marL="910285" indent="-370285">
              <a:lnSpc>
                <a:spcPct val="90000"/>
              </a:lnSpc>
              <a:spcBef>
                <a:spcPts val="1400"/>
              </a:spcBef>
              <a:buClr>
                <a:srgbClr val="000000"/>
              </a:buClr>
              <a:buSzPct val="75000"/>
              <a:buFontTx/>
              <a:buChar char="−"/>
              <a:defRPr>
                <a:latin typeface="Arial"/>
                <a:ea typeface="Arial"/>
                <a:cs typeface="Arial"/>
                <a:sym typeface="Arial"/>
              </a:defRPr>
            </a:lvl2pPr>
            <a:lvl3pPr marL="1392000" indent="-384000">
              <a:lnSpc>
                <a:spcPct val="90000"/>
              </a:lnSpc>
              <a:spcBef>
                <a:spcPts val="1400"/>
              </a:spcBef>
              <a:buClr>
                <a:srgbClr val="000000"/>
              </a:buClr>
              <a:buSzPct val="45000"/>
              <a:buFontTx/>
              <a:buChar char="●"/>
              <a:defRPr>
                <a:latin typeface="Arial"/>
                <a:ea typeface="Arial"/>
                <a:cs typeface="Arial"/>
                <a:sym typeface="Arial"/>
              </a:defRPr>
            </a:lvl3pPr>
            <a:lvl4pPr marL="1857599" indent="-345600">
              <a:lnSpc>
                <a:spcPct val="90000"/>
              </a:lnSpc>
              <a:spcBef>
                <a:spcPts val="1400"/>
              </a:spcBef>
              <a:buClr>
                <a:srgbClr val="000000"/>
              </a:buClr>
              <a:buSzPct val="75000"/>
              <a:buFontTx/>
              <a:buChar char="−"/>
              <a:defRPr>
                <a:latin typeface="Arial"/>
                <a:ea typeface="Arial"/>
                <a:cs typeface="Arial"/>
                <a:sym typeface="Arial"/>
              </a:defRPr>
            </a:lvl4pPr>
            <a:lvl5pPr marL="2289599" indent="-345600">
              <a:lnSpc>
                <a:spcPct val="90000"/>
              </a:lnSpc>
              <a:spcBef>
                <a:spcPts val="1400"/>
              </a:spcBef>
              <a:buClr>
                <a:srgbClr val="000000"/>
              </a:buClr>
              <a:buSzPct val="45000"/>
              <a:buFontTx/>
              <a:buChar char="●"/>
              <a:defRPr>
                <a:latin typeface="Arial"/>
                <a:ea typeface="Arial"/>
                <a:cs typeface="Arial"/>
                <a:sym typeface="Arial"/>
              </a:defRPr>
            </a:lvl5p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xfrm>
            <a:off x="7797196" y="6224224"/>
            <a:ext cx="273654" cy="264253"/>
          </a:xfrm>
          <a:prstGeom prst="rect">
            <a:avLst/>
          </a:prstGeom>
        </p:spPr>
        <p:txBody>
          <a:bodyPr/>
          <a:lstStyle>
            <a:lvl1pPr>
              <a:defRPr>
                <a:latin typeface="Arial"/>
                <a:ea typeface="Arial"/>
                <a:cs typeface="Arial"/>
                <a:sym typeface="Aria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Custom Layout">
    <p:spTree>
      <p:nvGrpSpPr>
        <p:cNvPr id="1" name=""/>
        <p:cNvGrpSpPr/>
        <p:nvPr/>
      </p:nvGrpSpPr>
      <p:grpSpPr>
        <a:xfrm>
          <a:off x="0" y="0"/>
          <a:ext cx="0" cy="0"/>
          <a:chOff x="0" y="0"/>
          <a:chExt cx="0" cy="0"/>
        </a:xfrm>
      </p:grpSpPr>
      <p:sp>
        <p:nvSpPr>
          <p:cNvPr id="29" name="Picture Placeholder 10"/>
          <p:cNvSpPr/>
          <p:nvPr>
            <p:ph type="pic" idx="21"/>
          </p:nvPr>
        </p:nvSpPr>
        <p:spPr>
          <a:xfrm>
            <a:off x="1517650" y="0"/>
            <a:ext cx="9144000" cy="4286250"/>
          </a:xfrm>
          <a:prstGeom prst="rect">
            <a:avLst/>
          </a:prstGeom>
        </p:spPr>
        <p:txBody>
          <a:bodyPr lIns="91439" tIns="45719" rIns="91439" bIns="45719"/>
          <a:lstStyle/>
          <a:p>
            <a:pPr/>
          </a:p>
        </p:txBody>
      </p:sp>
      <p:sp>
        <p:nvSpPr>
          <p:cNvPr id="30" name="Slide Number"/>
          <p:cNvSpPr txBox="1"/>
          <p:nvPr>
            <p:ph type="sldNum" sz="quarter" idx="2"/>
          </p:nvPr>
        </p:nvSpPr>
        <p:spPr>
          <a:xfrm>
            <a:off x="1833378" y="277682"/>
            <a:ext cx="245400" cy="226983"/>
          </a:xfrm>
          <a:prstGeom prst="rect">
            <a:avLst/>
          </a:prstGeom>
        </p:spPr>
        <p:txBody>
          <a:bodyPr lIns="45718" tIns="45718" rIns="45718" bIns="45718"/>
          <a:lstStyle>
            <a:lvl1pPr algn="ctr" defTabSz="457200">
              <a:defRPr sz="1000">
                <a:solidFill>
                  <a:srgbClr val="FFFFFF"/>
                </a:solidFill>
                <a:latin typeface="Arial"/>
                <a:ea typeface="Arial"/>
                <a:cs typeface="Arial"/>
                <a:sym typeface="Aria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37" name="Rectangle 12"/>
          <p:cNvSpPr/>
          <p:nvPr/>
        </p:nvSpPr>
        <p:spPr>
          <a:xfrm>
            <a:off x="1517650" y="0"/>
            <a:ext cx="9144000" cy="6844146"/>
          </a:xfrm>
          <a:prstGeom prst="rect">
            <a:avLst/>
          </a:prstGeom>
          <a:blipFill>
            <a:blip r:embed="rId2"/>
          </a:blipFill>
          <a:ln w="12700">
            <a:miter lim="400000"/>
          </a:ln>
        </p:spPr>
        <p:txBody>
          <a:bodyPr lIns="45718" tIns="45718" rIns="45718" bIns="45718" anchor="ctr"/>
          <a:lstStyle/>
          <a:p>
            <a:pPr algn="ctr" defTabSz="457200">
              <a:defRPr>
                <a:solidFill>
                  <a:srgbClr val="FFFFFF"/>
                </a:solidFill>
                <a:latin typeface="+mj-lt"/>
                <a:ea typeface="+mj-ea"/>
                <a:cs typeface="+mj-cs"/>
                <a:sym typeface="Calibri"/>
              </a:defRPr>
            </a:pPr>
          </a:p>
        </p:txBody>
      </p:sp>
      <p:sp>
        <p:nvSpPr>
          <p:cNvPr id="38" name="Rectangle 13"/>
          <p:cNvSpPr/>
          <p:nvPr/>
        </p:nvSpPr>
        <p:spPr>
          <a:xfrm>
            <a:off x="1516126" y="475431"/>
            <a:ext cx="9144001" cy="5907140"/>
          </a:xfrm>
          <a:prstGeom prst="rect">
            <a:avLst/>
          </a:prstGeom>
          <a:blipFill>
            <a:blip r:embed="rId3"/>
            <a:stretch>
              <a:fillRect/>
            </a:stretch>
          </a:blipFill>
          <a:ln w="12700">
            <a:miter lim="400000"/>
          </a:ln>
        </p:spPr>
        <p:txBody>
          <a:bodyPr lIns="45718" tIns="45718" rIns="45718" bIns="45718" anchor="ctr"/>
          <a:lstStyle/>
          <a:p>
            <a:pPr algn="ctr" defTabSz="457200">
              <a:defRPr>
                <a:solidFill>
                  <a:srgbClr val="FFFFFF"/>
                </a:solidFill>
                <a:latin typeface="+mj-lt"/>
                <a:ea typeface="+mj-ea"/>
                <a:cs typeface="+mj-cs"/>
                <a:sym typeface="Calibri"/>
              </a:defRPr>
            </a:pPr>
          </a:p>
        </p:txBody>
      </p:sp>
      <p:sp>
        <p:nvSpPr>
          <p:cNvPr id="39" name="Rectangle 14"/>
          <p:cNvSpPr/>
          <p:nvPr/>
        </p:nvSpPr>
        <p:spPr>
          <a:xfrm>
            <a:off x="1519172" y="681943"/>
            <a:ext cx="9142480" cy="5494116"/>
          </a:xfrm>
          <a:prstGeom prst="rect">
            <a:avLst/>
          </a:prstGeom>
          <a:solidFill>
            <a:srgbClr val="01506E">
              <a:alpha val="64000"/>
            </a:srgbClr>
          </a:solidFill>
          <a:ln w="12700">
            <a:miter lim="400000"/>
          </a:ln>
        </p:spPr>
        <p:txBody>
          <a:bodyPr lIns="45718" tIns="45718" rIns="45718" bIns="45718" anchor="ctr"/>
          <a:lstStyle/>
          <a:p>
            <a:pPr algn="ctr" defTabSz="457200">
              <a:defRPr>
                <a:solidFill>
                  <a:srgbClr val="FFFFFF"/>
                </a:solidFill>
                <a:latin typeface="+mj-lt"/>
                <a:ea typeface="+mj-ea"/>
                <a:cs typeface="+mj-cs"/>
                <a:sym typeface="Calibri"/>
              </a:defRPr>
            </a:pPr>
          </a:p>
        </p:txBody>
      </p:sp>
      <p:grpSp>
        <p:nvGrpSpPr>
          <p:cNvPr id="42" name="Group 15"/>
          <p:cNvGrpSpPr/>
          <p:nvPr/>
        </p:nvGrpSpPr>
        <p:grpSpPr>
          <a:xfrm>
            <a:off x="1922478" y="198861"/>
            <a:ext cx="8334348" cy="6473929"/>
            <a:chOff x="0" y="0"/>
            <a:chExt cx="8334347" cy="6473929"/>
          </a:xfrm>
        </p:grpSpPr>
        <p:sp>
          <p:nvSpPr>
            <p:cNvPr id="40" name="Rectangle 17"/>
            <p:cNvSpPr/>
            <p:nvPr/>
          </p:nvSpPr>
          <p:spPr>
            <a:xfrm>
              <a:off x="0" y="6357384"/>
              <a:ext cx="8334348" cy="116545"/>
            </a:xfrm>
            <a:prstGeom prst="rect">
              <a:avLst/>
            </a:prstGeom>
            <a:solidFill>
              <a:srgbClr val="03A0DB"/>
            </a:solidFill>
            <a:ln w="12700" cap="flat">
              <a:noFill/>
              <a:miter lim="400000"/>
            </a:ln>
            <a:effectLst/>
          </p:spPr>
          <p:txBody>
            <a:bodyPr wrap="square" lIns="45718" tIns="45718" rIns="45718" bIns="45718" numCol="1" anchor="ctr">
              <a:noAutofit/>
            </a:bodyPr>
            <a:lstStyle/>
            <a:p>
              <a:pPr algn="ctr" defTabSz="457200">
                <a:defRPr>
                  <a:solidFill>
                    <a:srgbClr val="FFFFFF"/>
                  </a:solidFill>
                  <a:latin typeface="+mj-lt"/>
                  <a:ea typeface="+mj-ea"/>
                  <a:cs typeface="+mj-cs"/>
                  <a:sym typeface="Calibri"/>
                </a:defRPr>
              </a:pPr>
            </a:p>
          </p:txBody>
        </p:sp>
        <p:sp>
          <p:nvSpPr>
            <p:cNvPr id="41" name="Rectangle 18"/>
            <p:cNvSpPr/>
            <p:nvPr/>
          </p:nvSpPr>
          <p:spPr>
            <a:xfrm>
              <a:off x="24697" y="-1"/>
              <a:ext cx="8284951" cy="106761"/>
            </a:xfrm>
            <a:prstGeom prst="rect">
              <a:avLst/>
            </a:prstGeom>
            <a:solidFill>
              <a:srgbClr val="384D5F"/>
            </a:solidFill>
            <a:ln w="12700" cap="flat">
              <a:noFill/>
              <a:miter lim="400000"/>
            </a:ln>
            <a:effectLst/>
          </p:spPr>
          <p:txBody>
            <a:bodyPr wrap="square" lIns="45718" tIns="45718" rIns="45718" bIns="45718" numCol="1" anchor="ctr">
              <a:noAutofit/>
            </a:bodyPr>
            <a:lstStyle/>
            <a:p>
              <a:pPr algn="ctr" defTabSz="457200">
                <a:defRPr>
                  <a:solidFill>
                    <a:srgbClr val="FFFFFF"/>
                  </a:solidFill>
                  <a:latin typeface="+mj-lt"/>
                  <a:ea typeface="+mj-ea"/>
                  <a:cs typeface="+mj-cs"/>
                  <a:sym typeface="Calibri"/>
                </a:defRPr>
              </a:pPr>
            </a:p>
          </p:txBody>
        </p:sp>
      </p:grpSp>
      <p:sp>
        <p:nvSpPr>
          <p:cNvPr id="43" name="Frame 16"/>
          <p:cNvSpPr/>
          <p:nvPr/>
        </p:nvSpPr>
        <p:spPr>
          <a:xfrm>
            <a:off x="2514863" y="1646320"/>
            <a:ext cx="7149573" cy="35653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21600"/>
                </a:lnTo>
                <a:close/>
                <a:moveTo>
                  <a:pt x="62" y="125"/>
                </a:moveTo>
                <a:lnTo>
                  <a:pt x="62" y="21475"/>
                </a:lnTo>
                <a:lnTo>
                  <a:pt x="21538" y="21475"/>
                </a:lnTo>
                <a:lnTo>
                  <a:pt x="21538" y="125"/>
                </a:lnTo>
                <a:close/>
              </a:path>
            </a:pathLst>
          </a:custGeom>
          <a:solidFill>
            <a:srgbClr val="FFFFFF">
              <a:alpha val="16000"/>
            </a:srgbClr>
          </a:solidFill>
          <a:ln w="12700">
            <a:miter lim="400000"/>
          </a:ln>
        </p:spPr>
        <p:txBody>
          <a:bodyPr lIns="45718" tIns="45718" rIns="45718" bIns="45718" anchor="ctr"/>
          <a:lstStyle/>
          <a:p>
            <a:pPr algn="ctr" defTabSz="457200">
              <a:defRPr>
                <a:latin typeface="+mj-lt"/>
                <a:ea typeface="+mj-ea"/>
                <a:cs typeface="+mj-cs"/>
                <a:sym typeface="Calibri"/>
              </a:defRPr>
            </a:pPr>
          </a:p>
        </p:txBody>
      </p:sp>
      <p:sp>
        <p:nvSpPr>
          <p:cNvPr id="44" name="Body Level One…"/>
          <p:cNvSpPr txBox="1"/>
          <p:nvPr>
            <p:ph type="body" sz="quarter" idx="1"/>
          </p:nvPr>
        </p:nvSpPr>
        <p:spPr>
          <a:xfrm>
            <a:off x="3993429" y="3987484"/>
            <a:ext cx="4192442" cy="512765"/>
          </a:xfrm>
          <a:prstGeom prst="rect">
            <a:avLst/>
          </a:prstGeom>
        </p:spPr>
        <p:txBody>
          <a:bodyPr lIns="45718" tIns="45718" rIns="45718" bIns="45718" anchor="ctr">
            <a:normAutofit fontScale="100000" lnSpcReduction="0"/>
          </a:bodyPr>
          <a:lstStyle>
            <a:lvl1pPr marL="0" indent="0" algn="ctr">
              <a:spcBef>
                <a:spcPts val="1000"/>
              </a:spcBef>
              <a:buSzTx/>
              <a:buFontTx/>
              <a:buNone/>
              <a:defRPr sz="1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1pPr>
            <a:lvl2pPr marL="0" indent="0" algn="ctr">
              <a:spcBef>
                <a:spcPts val="1000"/>
              </a:spcBef>
              <a:buSzTx/>
              <a:buFontTx/>
              <a:buNone/>
              <a:defRPr sz="1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2pPr>
            <a:lvl3pPr marL="0" indent="0" algn="ctr">
              <a:spcBef>
                <a:spcPts val="1000"/>
              </a:spcBef>
              <a:buSzTx/>
              <a:buFontTx/>
              <a:buNone/>
              <a:defRPr sz="1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3pPr>
            <a:lvl4pPr marL="0" indent="0" algn="ctr">
              <a:spcBef>
                <a:spcPts val="1000"/>
              </a:spcBef>
              <a:buSzTx/>
              <a:buFontTx/>
              <a:buNone/>
              <a:defRPr sz="1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4pPr>
            <a:lvl5pPr marL="0" indent="0" algn="ctr">
              <a:spcBef>
                <a:spcPts val="1000"/>
              </a:spcBef>
              <a:buSzTx/>
              <a:buFontTx/>
              <a:buNone/>
              <a:defRPr sz="1600">
                <a:solidFill>
                  <a:srgbClr val="FFFFFF"/>
                </a:solidFill>
                <a:effectLst>
                  <a:outerShdw sx="100000" sy="100000" kx="0" ky="0" algn="b" rotWithShape="0" blurRad="38100" dist="38100" dir="2700000">
                    <a:srgbClr val="000000">
                      <a:alpha val="43137"/>
                    </a:srgbClr>
                  </a:outerShdw>
                </a:effectLst>
                <a:latin typeface="Arial"/>
                <a:ea typeface="Arial"/>
                <a:cs typeface="Arial"/>
                <a:sym typeface="Arial"/>
              </a:defRPr>
            </a:lvl5pPr>
          </a:lstStyle>
          <a:p>
            <a:pPr/>
            <a:r>
              <a:t>Body Level One</a:t>
            </a:r>
          </a:p>
          <a:p>
            <a:pPr lvl="1"/>
            <a:r>
              <a:t>Body Level Two</a:t>
            </a:r>
          </a:p>
          <a:p>
            <a:pPr lvl="2"/>
            <a:r>
              <a:t>Body Level Three</a:t>
            </a:r>
          </a:p>
          <a:p>
            <a:pPr lvl="3"/>
            <a:r>
              <a:t>Body Level Four</a:t>
            </a:r>
          </a:p>
          <a:p>
            <a:pPr lvl="4"/>
            <a:r>
              <a:t>Body Level Five</a:t>
            </a:r>
          </a:p>
        </p:txBody>
      </p:sp>
      <p:sp>
        <p:nvSpPr>
          <p:cNvPr id="45" name="Title Text"/>
          <p:cNvSpPr txBox="1"/>
          <p:nvPr>
            <p:ph type="title"/>
          </p:nvPr>
        </p:nvSpPr>
        <p:spPr>
          <a:xfrm>
            <a:off x="3030417" y="2429927"/>
            <a:ext cx="6118463" cy="1555878"/>
          </a:xfrm>
          <a:prstGeom prst="rect">
            <a:avLst/>
          </a:prstGeom>
        </p:spPr>
        <p:txBody>
          <a:bodyPr lIns="45718" tIns="45718" rIns="45718" bIns="45718">
            <a:normAutofit fontScale="100000" lnSpcReduction="0"/>
          </a:bodyPr>
          <a:lstStyle>
            <a:lvl1pPr>
              <a:defRPr b="1">
                <a:solidFill>
                  <a:srgbClr val="FFFFFF"/>
                </a:solidFill>
                <a:effectLst>
                  <a:outerShdw sx="100000" sy="100000" kx="0" ky="0" algn="b" rotWithShape="0" blurRad="38100" dist="38100" dir="2700000">
                    <a:srgbClr val="000000">
                      <a:alpha val="43137"/>
                    </a:srgbClr>
                  </a:outerShdw>
                </a:effectLst>
                <a:latin typeface="Verdana"/>
                <a:ea typeface="Verdana"/>
                <a:cs typeface="Verdana"/>
                <a:sym typeface="Verdana"/>
              </a:defRPr>
            </a:lvl1pPr>
          </a:lstStyle>
          <a:p>
            <a:pPr/>
            <a:r>
              <a:t>Title Text</a:t>
            </a:r>
          </a:p>
        </p:txBody>
      </p:sp>
      <p:sp>
        <p:nvSpPr>
          <p:cNvPr id="46" name="Slide Number"/>
          <p:cNvSpPr txBox="1"/>
          <p:nvPr>
            <p:ph type="sldNum" sz="quarter" idx="2"/>
          </p:nvPr>
        </p:nvSpPr>
        <p:spPr>
          <a:xfrm>
            <a:off x="1833378" y="277682"/>
            <a:ext cx="245400" cy="226983"/>
          </a:xfrm>
          <a:prstGeom prst="rect">
            <a:avLst/>
          </a:prstGeom>
        </p:spPr>
        <p:txBody>
          <a:bodyPr lIns="45718" tIns="45718" rIns="45718" bIns="45718"/>
          <a:lstStyle>
            <a:lvl1pPr algn="ctr" defTabSz="457200">
              <a:defRPr sz="1000">
                <a:solidFill>
                  <a:srgbClr val="FFFFFF"/>
                </a:solidFill>
                <a:latin typeface="Arial"/>
                <a:ea typeface="Arial"/>
                <a:cs typeface="Arial"/>
                <a:sym typeface="Aria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4780" y="769937"/>
            <a:ext cx="974344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797994" y="2438400"/>
            <a:ext cx="4770227"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69877" y="6232198"/>
            <a:ext cx="258623" cy="248304"/>
          </a:xfrm>
          <a:prstGeom prst="rect">
            <a:avLst/>
          </a:prstGeom>
          <a:ln w="12700">
            <a:miter lim="400000"/>
          </a:ln>
        </p:spPr>
        <p:txBody>
          <a:bodyPr wrap="none" lIns="45718" tIns="45718" rIns="45718" bIns="45718" anchor="ctr">
            <a:spAutoFit/>
          </a:bodyPr>
          <a:lstStyle>
            <a:lvl1pPr algn="r">
              <a:defRPr sz="1200">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8.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12.png"/><Relationship Id="rId5" Type="http://schemas.openxmlformats.org/officeDocument/2006/relationships/image" Target="../media/image1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5.png"/><Relationship Id="rId5" Type="http://schemas.openxmlformats.org/officeDocument/2006/relationships/image" Target="../media/image15.png"/><Relationship Id="rId6" Type="http://schemas.openxmlformats.org/officeDocument/2006/relationships/image" Target="../media/image1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 name="Title 1"/>
          <p:cNvSpPr txBox="1"/>
          <p:nvPr>
            <p:ph type="title"/>
          </p:nvPr>
        </p:nvSpPr>
        <p:spPr>
          <a:xfrm>
            <a:off x="3030418" y="1974337"/>
            <a:ext cx="6118462" cy="3045237"/>
          </a:xfrm>
          <a:prstGeom prst="rect">
            <a:avLst/>
          </a:prstGeom>
        </p:spPr>
        <p:txBody>
          <a:bodyPr/>
          <a:lstStyle/>
          <a:p>
            <a:pPr algn="l">
              <a:defRPr sz="2700">
                <a:effectLst/>
                <a:latin typeface="+mj-lt"/>
                <a:ea typeface="+mj-ea"/>
                <a:cs typeface="+mj-cs"/>
                <a:sym typeface="Calibri"/>
              </a:defRPr>
            </a:pPr>
            <a:r>
              <a:t>Seminar / Workshop on - The ₹0 AI Engineer</a:t>
            </a:r>
            <a:r>
              <a:rPr b="0">
                <a:solidFill>
                  <a:srgbClr val="9FBEC0"/>
                </a:solidFill>
              </a:rPr>
              <a:t>  —  Building Real Things Before You Graduate</a:t>
            </a:r>
          </a:p>
          <a:p>
            <a:pPr>
              <a:defRPr b="0" sz="2800"/>
            </a:pPr>
            <a:r>
              <a:t>By Pramit Mitra </a:t>
            </a:r>
          </a:p>
        </p:txBody>
      </p:sp>
      <p:sp>
        <p:nvSpPr>
          <p:cNvPr id="56" name="1"/>
          <p:cNvSpPr txBox="1"/>
          <p:nvPr>
            <p:ph type="sldNum" sz="quarter" idx="4294967295"/>
          </p:nvPr>
        </p:nvSpPr>
        <p:spPr>
          <a:xfrm>
            <a:off x="1732968" y="764024"/>
            <a:ext cx="174768" cy="226983"/>
          </a:xfrm>
          <a:prstGeom prst="rect">
            <a:avLst/>
          </a:prstGeom>
          <a:extLst>
            <a:ext uri="{C572A759-6A51-4108-AA02-DFA0A04FC94B}">
              <ma14:wrappingTextBoxFlag xmlns:ma14="http://schemas.microsoft.com/office/mac/drawingml/2011/main" val="1"/>
            </a:ext>
          </a:extLst>
        </p:spPr>
        <p:txBody>
          <a:bodyPr lIns="45718" tIns="45718" rIns="45718" bIns="45718"/>
          <a:lstStyle>
            <a:lvl1pPr algn="ctr" defTabSz="457200">
              <a:defRPr sz="1000">
                <a:solidFill>
                  <a:srgbClr val="FFFFFF"/>
                </a:solidFill>
                <a:latin typeface="Arial"/>
                <a:ea typeface="Arial"/>
                <a:cs typeface="Arial"/>
                <a:sym typeface="Arial"/>
              </a:defRPr>
            </a:lvl1p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 name="Backdrop"/>
          <p:cNvSpPr/>
          <p:nvPr/>
        </p:nvSpPr>
        <p:spPr>
          <a:xfrm>
            <a:off x="0" y="0"/>
            <a:ext cx="12179300" cy="6858000"/>
          </a:xfrm>
          <a:prstGeom prst="rect">
            <a:avLst/>
          </a:prstGeom>
          <a:solidFill>
            <a:srgbClr val="FFFFFF"/>
          </a:solidFill>
          <a:ln w="12700">
            <a:miter lim="400000"/>
          </a:ln>
        </p:spPr>
        <p:txBody>
          <a:bodyPr lIns="45718" tIns="45718" rIns="45718" bIns="45718"/>
          <a:lstStyle/>
          <a:p>
            <a:pPr>
              <a:defRPr>
                <a:latin typeface="+mj-lt"/>
                <a:ea typeface="+mj-ea"/>
                <a:cs typeface="+mj-cs"/>
                <a:sym typeface="Calibri"/>
              </a:defRPr>
            </a:pPr>
          </a:p>
        </p:txBody>
      </p:sp>
      <p:sp>
        <p:nvSpPr>
          <p:cNvPr id="59" name="KickerBar"/>
          <p:cNvSpPr/>
          <p:nvPr/>
        </p:nvSpPr>
        <p:spPr>
          <a:xfrm>
            <a:off x="838200" y="612648"/>
            <a:ext cx="365761" cy="91441"/>
          </a:xfrm>
          <a:prstGeom prst="rect">
            <a:avLst/>
          </a:prstGeom>
          <a:solidFill>
            <a:srgbClr val="2E7C84"/>
          </a:solidFill>
          <a:ln w="12700">
            <a:miter lim="400000"/>
          </a:ln>
        </p:spPr>
        <p:txBody>
          <a:bodyPr lIns="45718" tIns="45718" rIns="45718" bIns="45718"/>
          <a:lstStyle/>
          <a:p>
            <a:pPr>
              <a:defRPr>
                <a:latin typeface="+mj-lt"/>
                <a:ea typeface="+mj-ea"/>
                <a:cs typeface="+mj-cs"/>
                <a:sym typeface="Calibri"/>
              </a:defRPr>
            </a:pPr>
          </a:p>
        </p:txBody>
      </p:sp>
      <p:sp>
        <p:nvSpPr>
          <p:cNvPr id="60" name="Kicker"/>
          <p:cNvSpPr txBox="1"/>
          <p:nvPr/>
        </p:nvSpPr>
        <p:spPr>
          <a:xfrm>
            <a:off x="1295400" y="563880"/>
            <a:ext cx="64008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1200">
                <a:solidFill>
                  <a:srgbClr val="2E7C84"/>
                </a:solidFill>
              </a:defRPr>
            </a:lvl1pPr>
          </a:lstStyle>
          <a:p>
            <a:pPr/>
            <a:r>
              <a:t>DISCLAIMER &amp; STATEMENT OF INDEPENDENCE</a:t>
            </a:r>
          </a:p>
        </p:txBody>
      </p:sp>
      <p:sp>
        <p:nvSpPr>
          <p:cNvPr id="61" name="Title"/>
          <p:cNvSpPr txBox="1"/>
          <p:nvPr/>
        </p:nvSpPr>
        <p:spPr>
          <a:xfrm>
            <a:off x="838200" y="914400"/>
            <a:ext cx="10502900" cy="4056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200">
                <a:solidFill>
                  <a:srgbClr val="14323B"/>
                </a:solidFill>
                <a:latin typeface="+mj-lt"/>
                <a:ea typeface="+mj-ea"/>
                <a:cs typeface="+mj-cs"/>
                <a:sym typeface="Calibri"/>
              </a:defRPr>
            </a:lvl1pPr>
          </a:lstStyle>
          <a:p>
            <a:pPr/>
            <a:r>
              <a:t>An independent, academic session</a:t>
            </a:r>
          </a:p>
        </p:txBody>
      </p:sp>
      <p:grpSp>
        <p:nvGrpSpPr>
          <p:cNvPr id="64" name="DisclaimerBody"/>
          <p:cNvGrpSpPr/>
          <p:nvPr/>
        </p:nvGrpSpPr>
        <p:grpSpPr>
          <a:xfrm>
            <a:off x="838200" y="1828800"/>
            <a:ext cx="10502900" cy="4114800"/>
            <a:chOff x="0" y="0"/>
            <a:chExt cx="10502900" cy="4114800"/>
          </a:xfrm>
        </p:grpSpPr>
        <p:sp>
          <p:nvSpPr>
            <p:cNvPr id="62" name="Rectangle"/>
            <p:cNvSpPr/>
            <p:nvPr/>
          </p:nvSpPr>
          <p:spPr>
            <a:xfrm>
              <a:off x="0" y="0"/>
              <a:ext cx="10502900" cy="4114800"/>
            </a:xfrm>
            <a:prstGeom prst="rect">
              <a:avLst/>
            </a:prstGeom>
            <a:solidFill>
              <a:srgbClr val="F2F6F6"/>
            </a:solidFill>
            <a:ln w="12700" cap="flat">
              <a:solidFill>
                <a:srgbClr val="D6E2E3"/>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63" name="This seminar / workshop is conducted by Pramit Mitra in his personal and independent capacity. The views, opinions, and material presented are entirely his own and do not represent, and should not be attributed to, any current or former employer.…"/>
            <p:cNvSpPr txBox="1"/>
            <p:nvPr/>
          </p:nvSpPr>
          <p:spPr>
            <a:xfrm>
              <a:off x="52069" y="6350"/>
              <a:ext cx="10398761" cy="4102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20040" tIns="320040" rIns="320040" bIns="320040" numCol="1" anchor="t">
              <a:normAutofit fontScale="100000" lnSpcReduction="0"/>
            </a:bodyPr>
            <a:lstStyle/>
            <a:p>
              <a:pPr>
                <a:spcBef>
                  <a:spcPts val="1000"/>
                </a:spcBef>
                <a:defRPr sz="1400">
                  <a:solidFill>
                    <a:srgbClr val="14323B"/>
                  </a:solidFill>
                </a:defRPr>
              </a:pPr>
              <a:r>
                <a:t>This seminar / workshop is conducted by Pramit Mitra in his </a:t>
              </a:r>
              <a:r>
                <a:rPr b="1"/>
                <a:t>personal and independent capacity</a:t>
              </a:r>
              <a:r>
                <a:t>. The views, opinions, and material presented are entirely his own and do not represent, and should not be attributed to, any current or former employer.</a:t>
              </a:r>
              <a:endParaRPr>
                <a:latin typeface="+mj-lt"/>
                <a:ea typeface="+mj-ea"/>
                <a:cs typeface="+mj-cs"/>
                <a:sym typeface="Calibri"/>
              </a:endParaRPr>
            </a:p>
            <a:p>
              <a:pPr>
                <a:spcBef>
                  <a:spcPts val="1000"/>
                </a:spcBef>
                <a:defRPr sz="1400">
                  <a:solidFill>
                    <a:srgbClr val="14323B"/>
                  </a:solidFill>
                </a:defRPr>
              </a:pPr>
              <a:r>
                <a:t>No proprietary, confidential, or internal data, information, code, systems, tools, or other materials belonging to any current or previous employer have been used, referenced, or disclosed in this session. </a:t>
              </a:r>
              <a:r>
                <a:rPr b="1"/>
                <a:t>All content has been researched and developed independently</a:t>
              </a:r>
              <a:r>
                <a:t> from publicly available sources, on personal time and equipment.</a:t>
              </a:r>
              <a:endParaRPr>
                <a:latin typeface="+mj-lt"/>
                <a:ea typeface="+mj-ea"/>
                <a:cs typeface="+mj-cs"/>
                <a:sym typeface="Calibri"/>
              </a:endParaRPr>
            </a:p>
            <a:p>
              <a:pPr>
                <a:spcBef>
                  <a:spcPts val="1000"/>
                </a:spcBef>
                <a:defRPr sz="1400">
                  <a:solidFill>
                    <a:srgbClr val="14323B"/>
                  </a:solidFill>
                </a:defRPr>
              </a:pPr>
              <a:r>
                <a:t>This material is provided strictly for </a:t>
              </a:r>
              <a:r>
                <a:rPr b="1"/>
                <a:t>educational and academic purposes only</a:t>
              </a:r>
              <a:r>
                <a:t>. It does not constitute professional, legal, financial, or technical advice, nor an endorsement by any organization. All trademarks and product names referenced belong to their respective owners.</a:t>
              </a:r>
              <a:endParaRPr>
                <a:latin typeface="+mj-lt"/>
                <a:ea typeface="+mj-ea"/>
                <a:cs typeface="+mj-cs"/>
                <a:sym typeface="Calibri"/>
              </a:endParaRPr>
            </a:p>
            <a:p>
              <a:pPr>
                <a:defRPr i="1" sz="1100">
                  <a:solidFill>
                    <a:srgbClr val="5A7A7E"/>
                  </a:solidFill>
                </a:defRPr>
              </a:pPr>
              <a:r>
                <a:t>Participation in this session indicates acknowledgement and acceptance of the above.</a:t>
              </a:r>
            </a:p>
          </p:txBody>
        </p:sp>
      </p:grpSp>
      <p:sp>
        <p:nvSpPr>
          <p:cNvPr id="65" name="Footer"/>
          <p:cNvSpPr txBox="1"/>
          <p:nvPr/>
        </p:nvSpPr>
        <p:spPr>
          <a:xfrm>
            <a:off x="838200" y="6082396"/>
            <a:ext cx="105029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8AA3A6"/>
                </a:solidFill>
              </a:defRPr>
            </a:lvl1pPr>
          </a:lstStyle>
          <a:p>
            <a:pPr/>
            <a:r>
              <a:t>The ₹0 AI Engineer  ·  Pramit Mitra  ·  Independent academic session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7" name="Picture Placeholder 3" descr="Picture Placeholder 3"/>
          <p:cNvPicPr>
            <a:picLocks noChangeAspect="1"/>
          </p:cNvPicPr>
          <p:nvPr>
            <p:ph type="pic" idx="21"/>
          </p:nvPr>
        </p:nvPicPr>
        <p:blipFill>
          <a:blip r:embed="rId2">
            <a:extLst/>
          </a:blip>
          <a:stretch>
            <a:fillRect/>
          </a:stretch>
        </p:blipFill>
        <p:spPr>
          <a:prstGeom prst="rect">
            <a:avLst/>
          </a:prstGeom>
        </p:spPr>
      </p:pic>
      <p:sp>
        <p:nvSpPr>
          <p:cNvPr id="68" name="Rectangle 4"/>
          <p:cNvSpPr/>
          <p:nvPr/>
        </p:nvSpPr>
        <p:spPr>
          <a:xfrm>
            <a:off x="1517650" y="0"/>
            <a:ext cx="9144000" cy="4286250"/>
          </a:xfrm>
          <a:prstGeom prst="rect">
            <a:avLst/>
          </a:prstGeom>
          <a:solidFill>
            <a:srgbClr val="01506E">
              <a:alpha val="66000"/>
            </a:srgbClr>
          </a:solidFill>
          <a:ln w="12700">
            <a:miter lim="400000"/>
          </a:ln>
        </p:spPr>
        <p:txBody>
          <a:bodyPr lIns="45718" tIns="45718" rIns="45718" bIns="45718" anchor="ctr"/>
          <a:lstStyle/>
          <a:p>
            <a:pPr algn="ctr" defTabSz="457200">
              <a:defRPr sz="1200">
                <a:solidFill>
                  <a:srgbClr val="FFFFFF"/>
                </a:solidFill>
                <a:latin typeface="+mj-lt"/>
                <a:ea typeface="+mj-ea"/>
                <a:cs typeface="+mj-cs"/>
                <a:sym typeface="Calibri"/>
              </a:defRPr>
            </a:pPr>
          </a:p>
        </p:txBody>
      </p:sp>
      <p:sp>
        <p:nvSpPr>
          <p:cNvPr id="69" name="Straight Connector 5"/>
          <p:cNvSpPr/>
          <p:nvPr/>
        </p:nvSpPr>
        <p:spPr>
          <a:xfrm flipH="1">
            <a:off x="2089708" y="4277612"/>
            <a:ext cx="3" cy="2603973"/>
          </a:xfrm>
          <a:prstGeom prst="line">
            <a:avLst/>
          </a:prstGeom>
          <a:ln w="3175">
            <a:solidFill>
              <a:srgbClr val="CFCFCF"/>
            </a:solidFill>
            <a:miter/>
          </a:ln>
        </p:spPr>
        <p:txBody>
          <a:bodyPr lIns="45718" tIns="45718" rIns="45718" bIns="45718"/>
          <a:lstStyle/>
          <a:p>
            <a:pPr/>
          </a:p>
        </p:txBody>
      </p:sp>
      <p:sp>
        <p:nvSpPr>
          <p:cNvPr id="70" name="Straight Connector 6"/>
          <p:cNvSpPr/>
          <p:nvPr/>
        </p:nvSpPr>
        <p:spPr>
          <a:xfrm flipH="1">
            <a:off x="5352022" y="4277612"/>
            <a:ext cx="3" cy="2603973"/>
          </a:xfrm>
          <a:prstGeom prst="line">
            <a:avLst/>
          </a:prstGeom>
          <a:ln w="3175">
            <a:solidFill>
              <a:srgbClr val="CFCFCF"/>
            </a:solidFill>
            <a:miter/>
          </a:ln>
        </p:spPr>
        <p:txBody>
          <a:bodyPr lIns="45718" tIns="45718" rIns="45718" bIns="45718"/>
          <a:lstStyle/>
          <a:p>
            <a:pPr/>
          </a:p>
        </p:txBody>
      </p:sp>
      <p:sp>
        <p:nvSpPr>
          <p:cNvPr id="71" name="Straight Connector 7"/>
          <p:cNvSpPr/>
          <p:nvPr/>
        </p:nvSpPr>
        <p:spPr>
          <a:xfrm>
            <a:off x="8614333" y="4277612"/>
            <a:ext cx="2" cy="2603973"/>
          </a:xfrm>
          <a:prstGeom prst="line">
            <a:avLst/>
          </a:prstGeom>
          <a:ln w="3175">
            <a:solidFill>
              <a:srgbClr val="CFCFCF"/>
            </a:solidFill>
            <a:miter/>
          </a:ln>
        </p:spPr>
        <p:txBody>
          <a:bodyPr lIns="45718" tIns="45718" rIns="45718" bIns="45718"/>
          <a:lstStyle/>
          <a:p>
            <a:pPr/>
          </a:p>
        </p:txBody>
      </p:sp>
      <p:grpSp>
        <p:nvGrpSpPr>
          <p:cNvPr id="78" name="Group 8"/>
          <p:cNvGrpSpPr/>
          <p:nvPr/>
        </p:nvGrpSpPr>
        <p:grpSpPr>
          <a:xfrm>
            <a:off x="1998059" y="4459418"/>
            <a:ext cx="8463532" cy="1170937"/>
            <a:chOff x="0" y="-62015"/>
            <a:chExt cx="8463530" cy="1170935"/>
          </a:xfrm>
        </p:grpSpPr>
        <p:sp>
          <p:nvSpPr>
            <p:cNvPr id="72" name="Rectangle 9"/>
            <p:cNvSpPr txBox="1"/>
            <p:nvPr/>
          </p:nvSpPr>
          <p:spPr>
            <a:xfrm>
              <a:off x="258732" y="801584"/>
              <a:ext cx="2001944"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ctr">
              <a:spAutoFit/>
            </a:bodyPr>
            <a:lstStyle>
              <a:lvl1pPr defTabSz="685800">
                <a:defRPr b="1" sz="1400">
                  <a:latin typeface="Verdana"/>
                  <a:ea typeface="Verdana"/>
                  <a:cs typeface="Verdana"/>
                  <a:sym typeface="Verdana"/>
                </a:defRPr>
              </a:lvl1pPr>
            </a:lstStyle>
            <a:p>
              <a:pPr/>
              <a:r>
                <a:t>What AI actually is</a:t>
              </a:r>
            </a:p>
          </p:txBody>
        </p:sp>
        <p:sp>
          <p:nvSpPr>
            <p:cNvPr id="73" name="Oval 10"/>
            <p:cNvSpPr/>
            <p:nvPr/>
          </p:nvSpPr>
          <p:spPr>
            <a:xfrm>
              <a:off x="0" y="0"/>
              <a:ext cx="183305" cy="183305"/>
            </a:xfrm>
            <a:prstGeom prst="ellipse">
              <a:avLst/>
            </a:prstGeom>
            <a:solidFill>
              <a:srgbClr val="03A0DB"/>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74" name="Oval 12"/>
            <p:cNvSpPr/>
            <p:nvPr/>
          </p:nvSpPr>
          <p:spPr>
            <a:xfrm>
              <a:off x="3262312" y="0"/>
              <a:ext cx="183307" cy="183305"/>
            </a:xfrm>
            <a:prstGeom prst="ellipse">
              <a:avLst/>
            </a:prstGeom>
            <a:solidFill>
              <a:srgbClr val="7C99B2"/>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75" name="Rectangle 13"/>
            <p:cNvSpPr txBox="1"/>
            <p:nvPr/>
          </p:nvSpPr>
          <p:spPr>
            <a:xfrm>
              <a:off x="6771782" y="-62016"/>
              <a:ext cx="1691749"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ctr">
              <a:spAutoFit/>
            </a:bodyPr>
            <a:lstStyle>
              <a:lvl1pPr defTabSz="457200">
                <a:defRPr b="1" sz="1400">
                  <a:latin typeface="Verdana"/>
                  <a:ea typeface="Verdana"/>
                  <a:cs typeface="Verdana"/>
                  <a:sym typeface="Verdana"/>
                </a:defRPr>
              </a:lvl1pPr>
            </a:lstStyle>
            <a:p>
              <a:pPr/>
              <a:r>
                <a:t>What it can't do</a:t>
              </a:r>
            </a:p>
          </p:txBody>
        </p:sp>
        <p:sp>
          <p:nvSpPr>
            <p:cNvPr id="76" name="Oval 14"/>
            <p:cNvSpPr/>
            <p:nvPr/>
          </p:nvSpPr>
          <p:spPr>
            <a:xfrm>
              <a:off x="6524625" y="0"/>
              <a:ext cx="183305" cy="183305"/>
            </a:xfrm>
            <a:prstGeom prst="ellipse">
              <a:avLst/>
            </a:prstGeom>
            <a:solidFill>
              <a:srgbClr val="03A0DB"/>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77" name="Rectangle 9"/>
            <p:cNvSpPr txBox="1"/>
            <p:nvPr/>
          </p:nvSpPr>
          <p:spPr>
            <a:xfrm>
              <a:off x="258732" y="-62016"/>
              <a:ext cx="1063198"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ctr">
              <a:spAutoFit/>
            </a:bodyPr>
            <a:lstStyle>
              <a:lvl1pPr defTabSz="685800">
                <a:defRPr b="1" sz="1400">
                  <a:latin typeface="Verdana"/>
                  <a:ea typeface="Verdana"/>
                  <a:cs typeface="Verdana"/>
                  <a:sym typeface="Verdana"/>
                </a:defRPr>
              </a:lvl1pPr>
            </a:lstStyle>
            <a:p>
              <a:pPr/>
              <a:r>
                <a:t>About me</a:t>
              </a:r>
            </a:p>
          </p:txBody>
        </p:sp>
      </p:grpSp>
      <p:grpSp>
        <p:nvGrpSpPr>
          <p:cNvPr id="88" name="Group 15"/>
          <p:cNvGrpSpPr/>
          <p:nvPr/>
        </p:nvGrpSpPr>
        <p:grpSpPr>
          <a:xfrm>
            <a:off x="1998060" y="3243580"/>
            <a:ext cx="10048848" cy="3848963"/>
            <a:chOff x="0" y="-1822992"/>
            <a:chExt cx="10048847" cy="3848961"/>
          </a:xfrm>
        </p:grpSpPr>
        <p:sp>
          <p:nvSpPr>
            <p:cNvPr id="79" name="Oval 17"/>
            <p:cNvSpPr/>
            <p:nvPr/>
          </p:nvSpPr>
          <p:spPr>
            <a:xfrm>
              <a:off x="0" y="328717"/>
              <a:ext cx="183305" cy="183307"/>
            </a:xfrm>
            <a:prstGeom prst="ellipse">
              <a:avLst/>
            </a:prstGeom>
            <a:solidFill>
              <a:srgbClr val="03A0DB"/>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80" name="Rectangle 18"/>
            <p:cNvSpPr txBox="1"/>
            <p:nvPr/>
          </p:nvSpPr>
          <p:spPr>
            <a:xfrm>
              <a:off x="3521045" y="279399"/>
              <a:ext cx="2512685"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ctr">
              <a:spAutoFit/>
            </a:bodyPr>
            <a:lstStyle>
              <a:lvl1pPr defTabSz="457200">
                <a:defRPr b="1" sz="1400">
                  <a:latin typeface="Verdana"/>
                  <a:ea typeface="Verdana"/>
                  <a:cs typeface="Verdana"/>
                  <a:sym typeface="Verdana"/>
                </a:defRPr>
              </a:lvl1pPr>
            </a:lstStyle>
            <a:p>
              <a:pPr/>
              <a:r>
                <a:t>Token economics &amp; cost</a:t>
              </a:r>
            </a:p>
          </p:txBody>
        </p:sp>
        <p:sp>
          <p:nvSpPr>
            <p:cNvPr id="81" name="Oval 19"/>
            <p:cNvSpPr/>
            <p:nvPr/>
          </p:nvSpPr>
          <p:spPr>
            <a:xfrm>
              <a:off x="3262312" y="328717"/>
              <a:ext cx="183305" cy="183307"/>
            </a:xfrm>
            <a:prstGeom prst="ellipse">
              <a:avLst/>
            </a:prstGeom>
            <a:solidFill>
              <a:srgbClr val="7C99B2"/>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82" name="Rectangle 20"/>
            <p:cNvSpPr txBox="1"/>
            <p:nvPr/>
          </p:nvSpPr>
          <p:spPr>
            <a:xfrm>
              <a:off x="6771782" y="254001"/>
              <a:ext cx="2957879"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ctr">
              <a:spAutoFit/>
            </a:bodyPr>
            <a:lstStyle>
              <a:lvl1pPr defTabSz="457200">
                <a:defRPr b="1" sz="1400">
                  <a:latin typeface="Verdana"/>
                  <a:ea typeface="Verdana"/>
                  <a:cs typeface="Verdana"/>
                  <a:sym typeface="Verdana"/>
                </a:defRPr>
              </a:lvl1pPr>
            </a:lstStyle>
            <a:p>
              <a:pPr/>
              <a:r>
                <a:t>Next: Module 2 — Prompting</a:t>
              </a:r>
            </a:p>
          </p:txBody>
        </p:sp>
        <p:sp>
          <p:nvSpPr>
            <p:cNvPr id="83" name="Oval 21"/>
            <p:cNvSpPr/>
            <p:nvPr/>
          </p:nvSpPr>
          <p:spPr>
            <a:xfrm>
              <a:off x="6524625" y="328717"/>
              <a:ext cx="183305" cy="183307"/>
            </a:xfrm>
            <a:prstGeom prst="ellipse">
              <a:avLst/>
            </a:prstGeom>
            <a:solidFill>
              <a:srgbClr val="03A0DB"/>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84" name="Rectangle 20"/>
            <p:cNvSpPr txBox="1"/>
            <p:nvPr/>
          </p:nvSpPr>
          <p:spPr>
            <a:xfrm>
              <a:off x="6771782" y="1718632"/>
              <a:ext cx="3273283"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ctr">
              <a:spAutoFit/>
            </a:bodyPr>
            <a:lstStyle>
              <a:lvl1pPr defTabSz="457200">
                <a:defRPr b="1" sz="1400">
                  <a:latin typeface="Verdana"/>
                  <a:ea typeface="Verdana"/>
                  <a:cs typeface="Verdana"/>
                  <a:sym typeface="Verdana"/>
                </a:defRPr>
              </a:lvl1pPr>
            </a:lstStyle>
            <a:p>
              <a:pPr/>
              <a:r>
                <a:t>Next: Module 3 — Build, no GPU</a:t>
              </a:r>
            </a:p>
          </p:txBody>
        </p:sp>
        <p:sp>
          <p:nvSpPr>
            <p:cNvPr id="85" name="Oval 21"/>
            <p:cNvSpPr/>
            <p:nvPr/>
          </p:nvSpPr>
          <p:spPr>
            <a:xfrm>
              <a:off x="6562725" y="1179619"/>
              <a:ext cx="183305" cy="183307"/>
            </a:xfrm>
            <a:prstGeom prst="ellipse">
              <a:avLst/>
            </a:prstGeom>
            <a:solidFill>
              <a:srgbClr val="03A0DB"/>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86" name="Rectangle 20"/>
            <p:cNvSpPr txBox="1"/>
            <p:nvPr/>
          </p:nvSpPr>
          <p:spPr>
            <a:xfrm>
              <a:off x="6797182" y="1104901"/>
              <a:ext cx="3251666"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ctr">
              <a:spAutoFit/>
            </a:bodyPr>
            <a:lstStyle/>
            <a:p>
              <a:pPr defTabSz="457200">
                <a:defRPr b="1" sz="1400">
                  <a:latin typeface="Verdana"/>
                  <a:ea typeface="Verdana"/>
                  <a:cs typeface="Verdana"/>
                  <a:sym typeface="Verdana"/>
                </a:defRPr>
              </a:pPr>
              <a:r>
                <a:t>Next: Module 3 — </a:t>
              </a:r>
              <a:r>
                <a:rPr sz="1200"/>
                <a:t>AI App Building</a:t>
              </a:r>
            </a:p>
          </p:txBody>
        </p:sp>
        <p:sp>
          <p:nvSpPr>
            <p:cNvPr id="87" name="Text"/>
            <p:cNvSpPr txBox="1"/>
            <p:nvPr/>
          </p:nvSpPr>
          <p:spPr>
            <a:xfrm>
              <a:off x="3829896" y="-1822993"/>
              <a:ext cx="453513" cy="320039"/>
            </a:xfrm>
            <a:prstGeom prst="rect">
              <a:avLst/>
            </a:prstGeom>
            <a:noFill/>
            <a:ln w="12700" cap="flat">
              <a:noFill/>
              <a:miter lim="400000"/>
            </a:ln>
            <a:effectLst/>
          </p:spPr>
          <p:txBody>
            <a:bodyPr wrap="none" lIns="45718" tIns="45718" rIns="45718" bIns="45718" numCol="1" anchor="t">
              <a:spAutoFit/>
            </a:bodyPr>
            <a:lstStyle/>
            <a:p>
              <a:pPr>
                <a:defRPr sz="1500"/>
              </a:pPr>
            </a:p>
          </p:txBody>
        </p:sp>
      </p:grpSp>
      <p:grpSp>
        <p:nvGrpSpPr>
          <p:cNvPr id="92" name="Group 22"/>
          <p:cNvGrpSpPr/>
          <p:nvPr/>
        </p:nvGrpSpPr>
        <p:grpSpPr>
          <a:xfrm>
            <a:off x="1998057" y="6269149"/>
            <a:ext cx="7830137" cy="880321"/>
            <a:chOff x="0" y="0"/>
            <a:chExt cx="7830136" cy="880320"/>
          </a:xfrm>
        </p:grpSpPr>
        <p:sp>
          <p:nvSpPr>
            <p:cNvPr id="89" name="Oval 23"/>
            <p:cNvSpPr/>
            <p:nvPr/>
          </p:nvSpPr>
          <p:spPr>
            <a:xfrm>
              <a:off x="0" y="0"/>
              <a:ext cx="183303" cy="183305"/>
            </a:xfrm>
            <a:prstGeom prst="ellipse">
              <a:avLst/>
            </a:prstGeom>
            <a:solidFill>
              <a:srgbClr val="03A0DB"/>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90" name="Oval 25"/>
            <p:cNvSpPr/>
            <p:nvPr/>
          </p:nvSpPr>
          <p:spPr>
            <a:xfrm>
              <a:off x="3262314" y="0"/>
              <a:ext cx="183307" cy="183305"/>
            </a:xfrm>
            <a:prstGeom prst="ellipse">
              <a:avLst/>
            </a:prstGeom>
            <a:solidFill>
              <a:srgbClr val="7C99B2"/>
            </a:solidFill>
            <a:ln w="25400" cap="flat">
              <a:solidFill>
                <a:srgbClr val="FFFFFF"/>
              </a:solidFill>
              <a:prstDash val="solid"/>
              <a:miter lim="800000"/>
            </a:ln>
            <a:effectLst/>
          </p:spPr>
          <p:txBody>
            <a:bodyPr wrap="square" lIns="45718" tIns="45718" rIns="45718" bIns="45718" numCol="1" anchor="ctr">
              <a:noAutofit/>
            </a:bodyPr>
            <a:lstStyle/>
            <a:p>
              <a:pPr algn="ctr" defTabSz="457200">
                <a:defRPr sz="1200">
                  <a:solidFill>
                    <a:srgbClr val="FFFFFF"/>
                  </a:solidFill>
                  <a:latin typeface="+mj-lt"/>
                  <a:ea typeface="+mj-ea"/>
                  <a:cs typeface="+mj-cs"/>
                  <a:sym typeface="Calibri"/>
                </a:defRPr>
              </a:pPr>
            </a:p>
          </p:txBody>
        </p:sp>
        <p:sp>
          <p:nvSpPr>
            <p:cNvPr id="91" name="Rectangle 26"/>
            <p:cNvSpPr txBox="1"/>
            <p:nvPr/>
          </p:nvSpPr>
          <p:spPr>
            <a:xfrm>
              <a:off x="3521047" y="572984"/>
              <a:ext cx="4309090"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ctr">
              <a:spAutoFit/>
            </a:bodyPr>
            <a:lstStyle>
              <a:lvl1pPr defTabSz="457200">
                <a:defRPr b="1" sz="1400">
                  <a:latin typeface="Verdana"/>
                  <a:ea typeface="Verdana"/>
                  <a:cs typeface="Verdana"/>
                  <a:sym typeface="Verdana"/>
                </a:defRPr>
              </a:lvl1pPr>
            </a:lstStyle>
            <a:p>
              <a:pPr/>
              <a:r>
                <a:t>From “AI is magic” to “AI has a price tag”</a:t>
              </a:r>
            </a:p>
          </p:txBody>
        </p:sp>
      </p:grpSp>
      <p:grpSp>
        <p:nvGrpSpPr>
          <p:cNvPr id="95" name="Group 29"/>
          <p:cNvGrpSpPr/>
          <p:nvPr/>
        </p:nvGrpSpPr>
        <p:grpSpPr>
          <a:xfrm>
            <a:off x="4587274" y="1487193"/>
            <a:ext cx="4274748" cy="1522005"/>
            <a:chOff x="0" y="0"/>
            <a:chExt cx="4274746" cy="1522003"/>
          </a:xfrm>
        </p:grpSpPr>
        <p:sp>
          <p:nvSpPr>
            <p:cNvPr id="93" name="TextBox 30"/>
            <p:cNvSpPr txBox="1"/>
            <p:nvPr/>
          </p:nvSpPr>
          <p:spPr>
            <a:xfrm>
              <a:off x="-1" y="-1"/>
              <a:ext cx="4274747" cy="1196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lgn="ctr" defTabSz="457200">
                <a:defRPr b="1" sz="7200">
                  <a:solidFill>
                    <a:srgbClr val="FFFFFF"/>
                  </a:solidFill>
                  <a:latin typeface="Verdana"/>
                  <a:ea typeface="Verdana"/>
                  <a:cs typeface="Verdana"/>
                  <a:sym typeface="Verdana"/>
                </a:defRPr>
              </a:lvl1pPr>
            </a:lstStyle>
            <a:p>
              <a:pPr/>
              <a:r>
                <a:t>Agenda </a:t>
              </a:r>
            </a:p>
          </p:txBody>
        </p:sp>
        <p:sp>
          <p:nvSpPr>
            <p:cNvPr id="94" name="Rectangle 31"/>
            <p:cNvSpPr/>
            <p:nvPr/>
          </p:nvSpPr>
          <p:spPr>
            <a:xfrm>
              <a:off x="843420" y="1478072"/>
              <a:ext cx="1317907" cy="43932"/>
            </a:xfrm>
            <a:prstGeom prst="rect">
              <a:avLst/>
            </a:prstGeom>
            <a:solidFill>
              <a:srgbClr val="01506E"/>
            </a:solidFill>
            <a:ln w="12700" cap="flat">
              <a:noFill/>
              <a:miter lim="400000"/>
            </a:ln>
            <a:effectLst/>
          </p:spPr>
          <p:txBody>
            <a:bodyPr wrap="square" lIns="45718" tIns="45718" rIns="45718" bIns="45718" numCol="1" anchor="ctr">
              <a:noAutofit/>
            </a:bodyPr>
            <a:lstStyle/>
            <a:p>
              <a:pPr algn="ctr" defTabSz="457200">
                <a:defRPr sz="2000">
                  <a:solidFill>
                    <a:srgbClr val="FFFFFF"/>
                  </a:solidFill>
                  <a:latin typeface="+mj-lt"/>
                  <a:ea typeface="+mj-ea"/>
                  <a:cs typeface="+mj-cs"/>
                  <a:sym typeface="Calibri"/>
                </a:defRPr>
              </a:pPr>
            </a:p>
          </p:txBody>
        </p:sp>
      </p:grpSp>
      <p:sp>
        <p:nvSpPr>
          <p:cNvPr id="96" name="Slide Number Placeholder 2"/>
          <p:cNvSpPr txBox="1"/>
          <p:nvPr>
            <p:ph type="sldNum" sz="quarter" idx="4294967295"/>
          </p:nvPr>
        </p:nvSpPr>
        <p:spPr>
          <a:xfrm>
            <a:off x="1868691" y="277679"/>
            <a:ext cx="174768" cy="226983"/>
          </a:xfrm>
          <a:prstGeom prst="rect">
            <a:avLst/>
          </a:prstGeom>
          <a:extLst>
            <a:ext uri="{C572A759-6A51-4108-AA02-DFA0A04FC94B}">
              <ma14:wrappingTextBoxFlag xmlns:ma14="http://schemas.microsoft.com/office/mac/drawingml/2011/main" val="1"/>
            </a:ext>
          </a:extLst>
        </p:spPr>
        <p:txBody>
          <a:bodyPr lIns="45718" tIns="45718" rIns="45718" bIns="45718"/>
          <a:lstStyle>
            <a:lvl1pPr algn="ctr" defTabSz="457200">
              <a:defRPr sz="1000">
                <a:solidFill>
                  <a:srgbClr val="FFFFFF"/>
                </a:solidFill>
                <a:latin typeface="Arial"/>
                <a:ea typeface="Arial"/>
                <a:cs typeface="Arial"/>
                <a:sym typeface="Arial"/>
              </a:defRPr>
            </a:lvl1pPr>
          </a:lstStyle>
          <a:p>
            <a:pPr/>
            <a:fld id="{86CB4B4D-7CA3-9044-876B-883B54F8677D}" type="slidenum"/>
          </a:p>
        </p:txBody>
      </p:sp>
      <p:sp>
        <p:nvSpPr>
          <p:cNvPr id="97" name="Rectangle 24"/>
          <p:cNvSpPr txBox="1"/>
          <p:nvPr/>
        </p:nvSpPr>
        <p:spPr>
          <a:xfrm>
            <a:off x="2256792" y="6207132"/>
            <a:ext cx="1413154"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nchor="ctr">
            <a:spAutoFit/>
          </a:bodyPr>
          <a:lstStyle>
            <a:lvl1pPr defTabSz="685800">
              <a:defRPr b="1" sz="1400">
                <a:latin typeface="Verdana"/>
                <a:ea typeface="Verdana"/>
                <a:cs typeface="Verdana"/>
                <a:sym typeface="Verdana"/>
              </a:defRPr>
            </a:lvl1pPr>
          </a:lstStyle>
          <a:p>
            <a:pPr/>
            <a:r>
              <a:t>What it costs</a:t>
            </a:r>
          </a:p>
        </p:txBody>
      </p:sp>
      <p:sp>
        <p:nvSpPr>
          <p:cNvPr id="98" name="Rectangle 11"/>
          <p:cNvSpPr txBox="1"/>
          <p:nvPr/>
        </p:nvSpPr>
        <p:spPr>
          <a:xfrm>
            <a:off x="5480448" y="4451677"/>
            <a:ext cx="2578318"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nchor="ctr">
            <a:spAutoFit/>
          </a:bodyPr>
          <a:lstStyle>
            <a:lvl1pPr defTabSz="457200">
              <a:defRPr b="1" sz="1400">
                <a:latin typeface="Verdana"/>
                <a:ea typeface="Verdana"/>
                <a:cs typeface="Verdana"/>
                <a:sym typeface="Verdana"/>
              </a:defRPr>
            </a:lvl1pPr>
          </a:lstStyle>
          <a:p>
            <a:pPr/>
            <a:r>
              <a:t>The 3 industry questions</a:t>
            </a:r>
          </a:p>
        </p:txBody>
      </p:sp>
      <p:sp>
        <p:nvSpPr>
          <p:cNvPr id="99" name="Rectangle 26"/>
          <p:cNvSpPr txBox="1"/>
          <p:nvPr/>
        </p:nvSpPr>
        <p:spPr>
          <a:xfrm>
            <a:off x="5462258" y="6156332"/>
            <a:ext cx="2850530"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nchor="ctr">
            <a:spAutoFit/>
          </a:bodyPr>
          <a:lstStyle/>
          <a:p>
            <a:pPr defTabSz="457200">
              <a:defRPr b="1" sz="1400">
                <a:latin typeface="Verdana"/>
                <a:ea typeface="Verdana"/>
                <a:cs typeface="Verdana"/>
                <a:sym typeface="Verdana"/>
              </a:defRPr>
            </a:pPr>
            <a:r>
              <a:t>Then: </a:t>
            </a:r>
            <a:r>
              <a:rPr sz="1100"/>
              <a:t>AI Studio &amp; Colab, free tier</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Rectangle 1"/>
          <p:cNvSpPr/>
          <p:nvPr/>
        </p:nvSpPr>
        <p:spPr>
          <a:xfrm>
            <a:off x="1398777" y="164592"/>
            <a:ext cx="256033" cy="438912"/>
          </a:xfrm>
          <a:prstGeom prst="rect">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02" name="Rectangle 2"/>
          <p:cNvSpPr/>
          <p:nvPr/>
        </p:nvSpPr>
        <p:spPr>
          <a:xfrm>
            <a:off x="1700528" y="164592"/>
            <a:ext cx="502920" cy="438912"/>
          </a:xfrm>
          <a:prstGeom prst="rect">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03" name="TextBox 3"/>
          <p:cNvSpPr txBox="1"/>
          <p:nvPr/>
        </p:nvSpPr>
        <p:spPr>
          <a:xfrm>
            <a:off x="2294889" y="265174"/>
            <a:ext cx="3840483" cy="3456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latin typeface="Arial"/>
                <a:ea typeface="Arial"/>
                <a:cs typeface="Arial"/>
                <a:sym typeface="Arial"/>
              </a:defRPr>
            </a:lvl1pPr>
          </a:lstStyle>
          <a:p>
            <a:pPr/>
            <a:r>
              <a:t>Career Progression</a:t>
            </a:r>
          </a:p>
        </p:txBody>
      </p:sp>
      <p:sp>
        <p:nvSpPr>
          <p:cNvPr id="104" name="TextBox 4"/>
          <p:cNvSpPr txBox="1"/>
          <p:nvPr/>
        </p:nvSpPr>
        <p:spPr>
          <a:xfrm>
            <a:off x="1678051" y="746617"/>
            <a:ext cx="4803777"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a:solidFill>
                  <a:srgbClr val="3CAA00"/>
                </a:solidFill>
                <a:latin typeface="Arial"/>
                <a:ea typeface="Arial"/>
                <a:cs typeface="Arial"/>
                <a:sym typeface="Arial"/>
              </a:defRPr>
            </a:lvl1pPr>
          </a:lstStyle>
          <a:p>
            <a:pPr/>
            <a:r>
              <a:t>Consulting</a:t>
            </a:r>
          </a:p>
        </p:txBody>
      </p:sp>
      <p:sp>
        <p:nvSpPr>
          <p:cNvPr id="105" name="TextBox 5"/>
          <p:cNvSpPr txBox="1"/>
          <p:nvPr/>
        </p:nvSpPr>
        <p:spPr>
          <a:xfrm>
            <a:off x="6541768" y="746617"/>
            <a:ext cx="3935096"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a:solidFill>
                  <a:srgbClr val="0000FF"/>
                </a:solidFill>
                <a:latin typeface="Arial"/>
                <a:ea typeface="Arial"/>
                <a:cs typeface="Arial"/>
                <a:sym typeface="Arial"/>
              </a:defRPr>
            </a:lvl1pPr>
          </a:lstStyle>
          <a:p>
            <a:pPr/>
            <a:r>
              <a:t>Product Development</a:t>
            </a:r>
          </a:p>
        </p:txBody>
      </p:sp>
      <p:sp>
        <p:nvSpPr>
          <p:cNvPr id="106" name="Rectangle 6"/>
          <p:cNvSpPr/>
          <p:nvPr/>
        </p:nvSpPr>
        <p:spPr>
          <a:xfrm>
            <a:off x="1682242" y="1078991"/>
            <a:ext cx="4800602" cy="2057401"/>
          </a:xfrm>
          <a:prstGeom prst="rect">
            <a:avLst/>
          </a:prstGeom>
          <a:solidFill>
            <a:srgbClr val="FFFFFF"/>
          </a:solidFill>
          <a:ln w="3175">
            <a:solidFill>
              <a:srgbClr val="009DCC"/>
            </a:solidFill>
            <a:miter/>
          </a:ln>
        </p:spPr>
        <p:txBody>
          <a:bodyPr lIns="45718" tIns="45718" rIns="45718" bIns="45718" anchor="ctr"/>
          <a:lstStyle/>
          <a:p>
            <a:pPr algn="ctr">
              <a:defRPr>
                <a:solidFill>
                  <a:srgbClr val="FFFFFF"/>
                </a:solidFill>
                <a:latin typeface="Arial"/>
                <a:ea typeface="Arial"/>
                <a:cs typeface="Arial"/>
                <a:sym typeface="Arial"/>
              </a:defRPr>
            </a:pPr>
          </a:p>
        </p:txBody>
      </p:sp>
      <p:sp>
        <p:nvSpPr>
          <p:cNvPr id="107" name="Rectangle 7"/>
          <p:cNvSpPr/>
          <p:nvPr/>
        </p:nvSpPr>
        <p:spPr>
          <a:xfrm>
            <a:off x="6519416" y="1078991"/>
            <a:ext cx="3931921" cy="2057401"/>
          </a:xfrm>
          <a:prstGeom prst="rect">
            <a:avLst/>
          </a:prstGeom>
          <a:solidFill>
            <a:srgbClr val="A4A0A0"/>
          </a:solidFill>
          <a:ln w="3175">
            <a:solidFill>
              <a:srgbClr val="4B4B4B"/>
            </a:solidFill>
            <a:miter/>
          </a:ln>
        </p:spPr>
        <p:txBody>
          <a:bodyPr lIns="45718" tIns="45718" rIns="45718" bIns="45718" anchor="ctr"/>
          <a:lstStyle/>
          <a:p>
            <a:pPr algn="ctr">
              <a:defRPr>
                <a:solidFill>
                  <a:srgbClr val="FFFFFF"/>
                </a:solidFill>
                <a:latin typeface="Arial"/>
                <a:ea typeface="Arial"/>
                <a:cs typeface="Arial"/>
                <a:sym typeface="Arial"/>
              </a:defRPr>
            </a:pPr>
          </a:p>
        </p:txBody>
      </p:sp>
      <p:pic>
        <p:nvPicPr>
          <p:cNvPr id="108" name="Picture 8" descr="Picture 8"/>
          <p:cNvPicPr>
            <a:picLocks noChangeAspect="1"/>
          </p:cNvPicPr>
          <p:nvPr/>
        </p:nvPicPr>
        <p:blipFill>
          <a:blip r:embed="rId2">
            <a:extLst/>
          </a:blip>
          <a:stretch>
            <a:fillRect/>
          </a:stretch>
        </p:blipFill>
        <p:spPr>
          <a:xfrm>
            <a:off x="1974850" y="1207008"/>
            <a:ext cx="530352" cy="530352"/>
          </a:xfrm>
          <a:prstGeom prst="rect">
            <a:avLst/>
          </a:prstGeom>
          <a:ln w="12700">
            <a:miter lim="400000"/>
          </a:ln>
        </p:spPr>
      </p:pic>
      <p:sp>
        <p:nvSpPr>
          <p:cNvPr id="109" name="Rectangle 9"/>
          <p:cNvSpPr/>
          <p:nvPr/>
        </p:nvSpPr>
        <p:spPr>
          <a:xfrm>
            <a:off x="1837688" y="1975104"/>
            <a:ext cx="804675" cy="530354"/>
          </a:xfrm>
          <a:prstGeom prst="rect">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10" name="TextBox 10"/>
          <p:cNvSpPr txBox="1"/>
          <p:nvPr/>
        </p:nvSpPr>
        <p:spPr>
          <a:xfrm>
            <a:off x="1837688" y="2048255"/>
            <a:ext cx="804675"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FFFF"/>
                </a:solidFill>
                <a:latin typeface="Arial"/>
                <a:ea typeface="Arial"/>
                <a:cs typeface="Arial"/>
                <a:sym typeface="Arial"/>
              </a:defRPr>
            </a:lvl1pPr>
          </a:lstStyle>
          <a:p>
            <a:pPr/>
            <a:r>
              <a:t>2008</a:t>
            </a:r>
          </a:p>
        </p:txBody>
      </p:sp>
      <p:sp>
        <p:nvSpPr>
          <p:cNvPr id="111" name="Isosceles Triangle 11"/>
          <p:cNvSpPr/>
          <p:nvPr/>
        </p:nvSpPr>
        <p:spPr>
          <a:xfrm rot="10800000">
            <a:off x="2020570" y="2487166"/>
            <a:ext cx="237746" cy="502923"/>
          </a:xfrm>
          <a:prstGeom prst="triangle">
            <a:avLst/>
          </a:prstGeom>
          <a:solidFill>
            <a:srgbClr val="00506A"/>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12" name="Oval 12"/>
          <p:cNvSpPr/>
          <p:nvPr/>
        </p:nvSpPr>
        <p:spPr>
          <a:xfrm>
            <a:off x="2157728"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13" name="Oval 13"/>
          <p:cNvSpPr/>
          <p:nvPr/>
        </p:nvSpPr>
        <p:spPr>
          <a:xfrm>
            <a:off x="2212594" y="2843783"/>
            <a:ext cx="109731" cy="109731"/>
          </a:xfrm>
          <a:prstGeom prst="ellipse">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14" name="Connector 14"/>
          <p:cNvSpPr/>
          <p:nvPr/>
        </p:nvSpPr>
        <p:spPr>
          <a:xfrm>
            <a:off x="2272028" y="3017519"/>
            <a:ext cx="3" cy="685802"/>
          </a:xfrm>
          <a:prstGeom prst="line">
            <a:avLst/>
          </a:prstGeom>
          <a:ln w="3175">
            <a:solidFill>
              <a:srgbClr val="CDCDCD"/>
            </a:solidFill>
            <a:miter/>
          </a:ln>
        </p:spPr>
        <p:txBody>
          <a:bodyPr lIns="45718" tIns="45718" rIns="45718" bIns="45718"/>
          <a:lstStyle/>
          <a:p>
            <a:pPr/>
          </a:p>
        </p:txBody>
      </p:sp>
      <p:sp>
        <p:nvSpPr>
          <p:cNvPr id="115" name="Down Arrow 15"/>
          <p:cNvSpPr/>
          <p:nvPr/>
        </p:nvSpPr>
        <p:spPr>
          <a:xfrm>
            <a:off x="2217165" y="365760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16" name="TextBox 16"/>
          <p:cNvSpPr txBox="1"/>
          <p:nvPr/>
        </p:nvSpPr>
        <p:spPr>
          <a:xfrm>
            <a:off x="1746249" y="3858767"/>
            <a:ext cx="960122" cy="11134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Joined Wipro as an undergrad campus hire; trained in DWH/BI, data modeling, analytics and statistics.</a:t>
            </a:r>
          </a:p>
        </p:txBody>
      </p:sp>
      <p:pic>
        <p:nvPicPr>
          <p:cNvPr id="117" name="Picture 17" descr="Picture 17"/>
          <p:cNvPicPr>
            <a:picLocks noChangeAspect="1"/>
          </p:cNvPicPr>
          <p:nvPr/>
        </p:nvPicPr>
        <p:blipFill>
          <a:blip r:embed="rId3">
            <a:extLst/>
          </a:blip>
          <a:stretch>
            <a:fillRect/>
          </a:stretch>
        </p:blipFill>
        <p:spPr>
          <a:xfrm>
            <a:off x="2816096" y="1245869"/>
            <a:ext cx="804674" cy="452630"/>
          </a:xfrm>
          <a:prstGeom prst="rect">
            <a:avLst/>
          </a:prstGeom>
          <a:ln w="12700">
            <a:miter lim="400000"/>
          </a:ln>
        </p:spPr>
      </p:pic>
      <p:sp>
        <p:nvSpPr>
          <p:cNvPr id="118" name="Rectangle 18"/>
          <p:cNvSpPr/>
          <p:nvPr/>
        </p:nvSpPr>
        <p:spPr>
          <a:xfrm>
            <a:off x="2816096" y="1975104"/>
            <a:ext cx="804674" cy="530354"/>
          </a:xfrm>
          <a:prstGeom prst="rect">
            <a:avLst/>
          </a:prstGeom>
          <a:solidFill>
            <a:srgbClr val="7694AB"/>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19" name="TextBox 19"/>
          <p:cNvSpPr txBox="1"/>
          <p:nvPr/>
        </p:nvSpPr>
        <p:spPr>
          <a:xfrm>
            <a:off x="2816096" y="2048255"/>
            <a:ext cx="804674"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FFFF"/>
                </a:solidFill>
                <a:latin typeface="Arial"/>
                <a:ea typeface="Arial"/>
                <a:cs typeface="Arial"/>
                <a:sym typeface="Arial"/>
              </a:defRPr>
            </a:lvl1pPr>
          </a:lstStyle>
          <a:p>
            <a:pPr/>
            <a:r>
              <a:t>2009</a:t>
            </a:r>
          </a:p>
        </p:txBody>
      </p:sp>
      <p:sp>
        <p:nvSpPr>
          <p:cNvPr id="120" name="Isosceles Triangle 20"/>
          <p:cNvSpPr/>
          <p:nvPr/>
        </p:nvSpPr>
        <p:spPr>
          <a:xfrm rot="10800000">
            <a:off x="2998977" y="2487166"/>
            <a:ext cx="237746" cy="502923"/>
          </a:xfrm>
          <a:prstGeom prst="triangle">
            <a:avLst/>
          </a:prstGeom>
          <a:solidFill>
            <a:srgbClr val="2F4658"/>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21" name="Oval 21"/>
          <p:cNvSpPr/>
          <p:nvPr/>
        </p:nvSpPr>
        <p:spPr>
          <a:xfrm>
            <a:off x="3136138"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22" name="Oval 22"/>
          <p:cNvSpPr/>
          <p:nvPr/>
        </p:nvSpPr>
        <p:spPr>
          <a:xfrm>
            <a:off x="3190999" y="2843783"/>
            <a:ext cx="109731" cy="109731"/>
          </a:xfrm>
          <a:prstGeom prst="ellipse">
            <a:avLst/>
          </a:prstGeom>
          <a:solidFill>
            <a:srgbClr val="7694AB"/>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23" name="Connector 23"/>
          <p:cNvSpPr/>
          <p:nvPr/>
        </p:nvSpPr>
        <p:spPr>
          <a:xfrm flipH="1">
            <a:off x="3250437" y="3017520"/>
            <a:ext cx="1" cy="1691641"/>
          </a:xfrm>
          <a:prstGeom prst="line">
            <a:avLst/>
          </a:prstGeom>
          <a:ln w="3175">
            <a:solidFill>
              <a:srgbClr val="CDCDCD"/>
            </a:solidFill>
            <a:miter/>
          </a:ln>
        </p:spPr>
        <p:txBody>
          <a:bodyPr lIns="45718" tIns="45718" rIns="45718" bIns="45718"/>
          <a:lstStyle/>
          <a:p>
            <a:pPr/>
          </a:p>
        </p:txBody>
      </p:sp>
      <p:sp>
        <p:nvSpPr>
          <p:cNvPr id="124" name="Down Arrow 24"/>
          <p:cNvSpPr/>
          <p:nvPr/>
        </p:nvSpPr>
        <p:spPr>
          <a:xfrm>
            <a:off x="3195572" y="466344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25" name="TextBox 25"/>
          <p:cNvSpPr txBox="1"/>
          <p:nvPr/>
        </p:nvSpPr>
        <p:spPr>
          <a:xfrm>
            <a:off x="2724655" y="4846320"/>
            <a:ext cx="960123" cy="8340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Implemented logistics data warehouse for large transactional POS datasets.</a:t>
            </a:r>
          </a:p>
        </p:txBody>
      </p:sp>
      <p:pic>
        <p:nvPicPr>
          <p:cNvPr id="126" name="Picture 26" descr="Picture 26"/>
          <p:cNvPicPr>
            <a:picLocks noChangeAspect="1"/>
          </p:cNvPicPr>
          <p:nvPr/>
        </p:nvPicPr>
        <p:blipFill>
          <a:blip r:embed="rId4">
            <a:extLst/>
          </a:blip>
          <a:stretch>
            <a:fillRect/>
          </a:stretch>
        </p:blipFill>
        <p:spPr>
          <a:xfrm>
            <a:off x="3794504" y="1267171"/>
            <a:ext cx="804674" cy="410025"/>
          </a:xfrm>
          <a:prstGeom prst="rect">
            <a:avLst/>
          </a:prstGeom>
          <a:ln w="12700">
            <a:miter lim="400000"/>
          </a:ln>
        </p:spPr>
      </p:pic>
      <p:sp>
        <p:nvSpPr>
          <p:cNvPr id="127" name="Rectangle 27"/>
          <p:cNvSpPr/>
          <p:nvPr/>
        </p:nvSpPr>
        <p:spPr>
          <a:xfrm>
            <a:off x="3794504" y="1975104"/>
            <a:ext cx="804674" cy="530354"/>
          </a:xfrm>
          <a:prstGeom prst="rect">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28" name="TextBox 28"/>
          <p:cNvSpPr txBox="1"/>
          <p:nvPr/>
        </p:nvSpPr>
        <p:spPr>
          <a:xfrm>
            <a:off x="3794504" y="2048255"/>
            <a:ext cx="804674"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FFFF"/>
                </a:solidFill>
                <a:latin typeface="Arial"/>
                <a:ea typeface="Arial"/>
                <a:cs typeface="Arial"/>
                <a:sym typeface="Arial"/>
              </a:defRPr>
            </a:lvl1pPr>
          </a:lstStyle>
          <a:p>
            <a:pPr/>
            <a:r>
              <a:t>2011</a:t>
            </a:r>
          </a:p>
        </p:txBody>
      </p:sp>
      <p:sp>
        <p:nvSpPr>
          <p:cNvPr id="129" name="Isosceles Triangle 29"/>
          <p:cNvSpPr/>
          <p:nvPr/>
        </p:nvSpPr>
        <p:spPr>
          <a:xfrm rot="10800000">
            <a:off x="3977385" y="2487166"/>
            <a:ext cx="237746" cy="502923"/>
          </a:xfrm>
          <a:prstGeom prst="triangle">
            <a:avLst/>
          </a:prstGeom>
          <a:solidFill>
            <a:srgbClr val="00506A"/>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30" name="Oval 30"/>
          <p:cNvSpPr/>
          <p:nvPr/>
        </p:nvSpPr>
        <p:spPr>
          <a:xfrm>
            <a:off x="4114544"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31" name="Oval 31"/>
          <p:cNvSpPr/>
          <p:nvPr/>
        </p:nvSpPr>
        <p:spPr>
          <a:xfrm>
            <a:off x="4169409" y="2843783"/>
            <a:ext cx="109731" cy="109731"/>
          </a:xfrm>
          <a:prstGeom prst="ellipse">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32" name="Connector 32"/>
          <p:cNvSpPr/>
          <p:nvPr/>
        </p:nvSpPr>
        <p:spPr>
          <a:xfrm>
            <a:off x="4228844" y="3017519"/>
            <a:ext cx="3" cy="685802"/>
          </a:xfrm>
          <a:prstGeom prst="line">
            <a:avLst/>
          </a:prstGeom>
          <a:ln w="3175">
            <a:solidFill>
              <a:srgbClr val="CDCDCD"/>
            </a:solidFill>
            <a:miter/>
          </a:ln>
        </p:spPr>
        <p:txBody>
          <a:bodyPr lIns="45718" tIns="45718" rIns="45718" bIns="45718"/>
          <a:lstStyle/>
          <a:p>
            <a:pPr/>
          </a:p>
        </p:txBody>
      </p:sp>
      <p:sp>
        <p:nvSpPr>
          <p:cNvPr id="133" name="Down Arrow 33"/>
          <p:cNvSpPr/>
          <p:nvPr/>
        </p:nvSpPr>
        <p:spPr>
          <a:xfrm>
            <a:off x="4173982" y="365760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34" name="TextBox 34"/>
          <p:cNvSpPr txBox="1"/>
          <p:nvPr/>
        </p:nvSpPr>
        <p:spPr>
          <a:xfrm>
            <a:off x="3703065" y="3858767"/>
            <a:ext cx="960122" cy="11134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Worked on UK retail platform transformation: ETL and data modeling for Oracle Retail Sales Audit and Retalix.</a:t>
            </a:r>
          </a:p>
        </p:txBody>
      </p:sp>
      <p:pic>
        <p:nvPicPr>
          <p:cNvPr id="135" name="Picture 35" descr="Picture 35"/>
          <p:cNvPicPr>
            <a:picLocks noChangeAspect="1"/>
          </p:cNvPicPr>
          <p:nvPr/>
        </p:nvPicPr>
        <p:blipFill>
          <a:blip r:embed="rId5">
            <a:extLst/>
          </a:blip>
          <a:stretch>
            <a:fillRect/>
          </a:stretch>
        </p:blipFill>
        <p:spPr>
          <a:xfrm>
            <a:off x="4772914" y="1328796"/>
            <a:ext cx="804674" cy="286773"/>
          </a:xfrm>
          <a:prstGeom prst="rect">
            <a:avLst/>
          </a:prstGeom>
          <a:ln w="12700">
            <a:miter lim="400000"/>
          </a:ln>
        </p:spPr>
      </p:pic>
      <p:sp>
        <p:nvSpPr>
          <p:cNvPr id="136" name="Rectangle 36"/>
          <p:cNvSpPr/>
          <p:nvPr/>
        </p:nvSpPr>
        <p:spPr>
          <a:xfrm>
            <a:off x="4772914" y="1975104"/>
            <a:ext cx="804674" cy="530354"/>
          </a:xfrm>
          <a:prstGeom prst="rect">
            <a:avLst/>
          </a:prstGeom>
          <a:solidFill>
            <a:srgbClr val="7694AB"/>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37" name="TextBox 37"/>
          <p:cNvSpPr txBox="1"/>
          <p:nvPr/>
        </p:nvSpPr>
        <p:spPr>
          <a:xfrm>
            <a:off x="4772914" y="2048255"/>
            <a:ext cx="804674"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FFFF"/>
                </a:solidFill>
                <a:latin typeface="Arial"/>
                <a:ea typeface="Arial"/>
                <a:cs typeface="Arial"/>
                <a:sym typeface="Arial"/>
              </a:defRPr>
            </a:lvl1pPr>
          </a:lstStyle>
          <a:p>
            <a:pPr/>
            <a:r>
              <a:t>2012</a:t>
            </a:r>
          </a:p>
        </p:txBody>
      </p:sp>
      <p:sp>
        <p:nvSpPr>
          <p:cNvPr id="138" name="Isosceles Triangle 38"/>
          <p:cNvSpPr/>
          <p:nvPr/>
        </p:nvSpPr>
        <p:spPr>
          <a:xfrm rot="10800000">
            <a:off x="4955794" y="2487166"/>
            <a:ext cx="237746" cy="502923"/>
          </a:xfrm>
          <a:prstGeom prst="triangle">
            <a:avLst/>
          </a:prstGeom>
          <a:solidFill>
            <a:srgbClr val="2F4658"/>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39" name="Oval 39"/>
          <p:cNvSpPr/>
          <p:nvPr/>
        </p:nvSpPr>
        <p:spPr>
          <a:xfrm>
            <a:off x="5092953"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40" name="Oval 40"/>
          <p:cNvSpPr/>
          <p:nvPr/>
        </p:nvSpPr>
        <p:spPr>
          <a:xfrm>
            <a:off x="5147817" y="2843783"/>
            <a:ext cx="109731" cy="109731"/>
          </a:xfrm>
          <a:prstGeom prst="ellipse">
            <a:avLst/>
          </a:prstGeom>
          <a:solidFill>
            <a:srgbClr val="7694AB"/>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41" name="Connector 41"/>
          <p:cNvSpPr/>
          <p:nvPr/>
        </p:nvSpPr>
        <p:spPr>
          <a:xfrm>
            <a:off x="5207252" y="3017520"/>
            <a:ext cx="2" cy="1691641"/>
          </a:xfrm>
          <a:prstGeom prst="line">
            <a:avLst/>
          </a:prstGeom>
          <a:ln w="3175">
            <a:solidFill>
              <a:srgbClr val="CDCDCD"/>
            </a:solidFill>
            <a:miter/>
          </a:ln>
        </p:spPr>
        <p:txBody>
          <a:bodyPr lIns="45718" tIns="45718" rIns="45718" bIns="45718"/>
          <a:lstStyle/>
          <a:p>
            <a:pPr/>
          </a:p>
        </p:txBody>
      </p:sp>
      <p:sp>
        <p:nvSpPr>
          <p:cNvPr id="142" name="Down Arrow 42"/>
          <p:cNvSpPr/>
          <p:nvPr/>
        </p:nvSpPr>
        <p:spPr>
          <a:xfrm>
            <a:off x="5152390" y="466344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43" name="TextBox 43"/>
          <p:cNvSpPr txBox="1"/>
          <p:nvPr/>
        </p:nvSpPr>
        <p:spPr>
          <a:xfrm>
            <a:off x="4681473" y="4846320"/>
            <a:ext cx="960122" cy="9737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Built data warehouse and BI for planning/digital business; early Hadoop and MapReduce adoption.</a:t>
            </a:r>
          </a:p>
        </p:txBody>
      </p:sp>
      <p:pic>
        <p:nvPicPr>
          <p:cNvPr id="144" name="Picture 44" descr="Picture 44"/>
          <p:cNvPicPr>
            <a:picLocks noChangeAspect="1"/>
          </p:cNvPicPr>
          <p:nvPr/>
        </p:nvPicPr>
        <p:blipFill>
          <a:blip r:embed="rId6">
            <a:extLst/>
          </a:blip>
          <a:stretch>
            <a:fillRect/>
          </a:stretch>
        </p:blipFill>
        <p:spPr>
          <a:xfrm>
            <a:off x="5888482" y="1207008"/>
            <a:ext cx="530354" cy="530352"/>
          </a:xfrm>
          <a:prstGeom prst="rect">
            <a:avLst/>
          </a:prstGeom>
          <a:ln w="12700">
            <a:miter lim="400000"/>
          </a:ln>
        </p:spPr>
      </p:pic>
      <p:sp>
        <p:nvSpPr>
          <p:cNvPr id="145" name="Rectangle 45"/>
          <p:cNvSpPr/>
          <p:nvPr/>
        </p:nvSpPr>
        <p:spPr>
          <a:xfrm>
            <a:off x="5751321" y="1975104"/>
            <a:ext cx="804674" cy="530354"/>
          </a:xfrm>
          <a:prstGeom prst="rect">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46" name="TextBox 46"/>
          <p:cNvSpPr txBox="1"/>
          <p:nvPr/>
        </p:nvSpPr>
        <p:spPr>
          <a:xfrm>
            <a:off x="5751321" y="2048255"/>
            <a:ext cx="804674"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FFFF"/>
                </a:solidFill>
                <a:latin typeface="Arial"/>
                <a:ea typeface="Arial"/>
                <a:cs typeface="Arial"/>
                <a:sym typeface="Arial"/>
              </a:defRPr>
            </a:lvl1pPr>
          </a:lstStyle>
          <a:p>
            <a:pPr/>
            <a:r>
              <a:t>2014</a:t>
            </a:r>
          </a:p>
        </p:txBody>
      </p:sp>
      <p:sp>
        <p:nvSpPr>
          <p:cNvPr id="147" name="Isosceles Triangle 47"/>
          <p:cNvSpPr/>
          <p:nvPr/>
        </p:nvSpPr>
        <p:spPr>
          <a:xfrm rot="10800000">
            <a:off x="5934202" y="2487166"/>
            <a:ext cx="237746" cy="502923"/>
          </a:xfrm>
          <a:prstGeom prst="triangle">
            <a:avLst/>
          </a:prstGeom>
          <a:solidFill>
            <a:srgbClr val="00506A"/>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48" name="Oval 48"/>
          <p:cNvSpPr/>
          <p:nvPr/>
        </p:nvSpPr>
        <p:spPr>
          <a:xfrm>
            <a:off x="6071360"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49" name="Oval 49"/>
          <p:cNvSpPr/>
          <p:nvPr/>
        </p:nvSpPr>
        <p:spPr>
          <a:xfrm>
            <a:off x="6126226" y="2843783"/>
            <a:ext cx="109731" cy="109731"/>
          </a:xfrm>
          <a:prstGeom prst="ellipse">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50" name="Connector 50"/>
          <p:cNvSpPr/>
          <p:nvPr/>
        </p:nvSpPr>
        <p:spPr>
          <a:xfrm>
            <a:off x="6185660" y="3017519"/>
            <a:ext cx="2" cy="685802"/>
          </a:xfrm>
          <a:prstGeom prst="line">
            <a:avLst/>
          </a:prstGeom>
          <a:ln w="3175">
            <a:solidFill>
              <a:srgbClr val="CDCDCD"/>
            </a:solidFill>
            <a:miter/>
          </a:ln>
        </p:spPr>
        <p:txBody>
          <a:bodyPr lIns="45718" tIns="45718" rIns="45718" bIns="45718"/>
          <a:lstStyle/>
          <a:p>
            <a:pPr/>
          </a:p>
        </p:txBody>
      </p:sp>
      <p:sp>
        <p:nvSpPr>
          <p:cNvPr id="151" name="Down Arrow 51"/>
          <p:cNvSpPr/>
          <p:nvPr/>
        </p:nvSpPr>
        <p:spPr>
          <a:xfrm>
            <a:off x="6130797" y="365760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52" name="TextBox 52"/>
          <p:cNvSpPr txBox="1"/>
          <p:nvPr/>
        </p:nvSpPr>
        <p:spPr>
          <a:xfrm>
            <a:off x="5659882" y="3858767"/>
            <a:ext cx="960122" cy="9737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Implemented MapR Hadoop data warehouse for CDR analytics at AT&amp;T edge network.</a:t>
            </a:r>
          </a:p>
        </p:txBody>
      </p:sp>
      <p:sp>
        <p:nvSpPr>
          <p:cNvPr id="153" name="Rectangle 53"/>
          <p:cNvSpPr/>
          <p:nvPr/>
        </p:nvSpPr>
        <p:spPr>
          <a:xfrm>
            <a:off x="6711440" y="1207008"/>
            <a:ext cx="877826" cy="566930"/>
          </a:xfrm>
          <a:prstGeom prst="rect">
            <a:avLst/>
          </a:prstGeom>
          <a:solidFill>
            <a:srgbClr val="FFFFFF"/>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pic>
        <p:nvPicPr>
          <p:cNvPr id="154" name="Picture 54" descr="Picture 54"/>
          <p:cNvPicPr>
            <a:picLocks noChangeAspect="1"/>
          </p:cNvPicPr>
          <p:nvPr/>
        </p:nvPicPr>
        <p:blipFill>
          <a:blip r:embed="rId7">
            <a:extLst/>
          </a:blip>
          <a:stretch>
            <a:fillRect/>
          </a:stretch>
        </p:blipFill>
        <p:spPr>
          <a:xfrm>
            <a:off x="6791748" y="1207008"/>
            <a:ext cx="717213" cy="530352"/>
          </a:xfrm>
          <a:prstGeom prst="rect">
            <a:avLst/>
          </a:prstGeom>
          <a:ln w="12700">
            <a:miter lim="400000"/>
          </a:ln>
        </p:spPr>
      </p:pic>
      <p:sp>
        <p:nvSpPr>
          <p:cNvPr id="155" name="Rectangle 55"/>
          <p:cNvSpPr/>
          <p:nvPr/>
        </p:nvSpPr>
        <p:spPr>
          <a:xfrm>
            <a:off x="6748016" y="1975104"/>
            <a:ext cx="804674" cy="530354"/>
          </a:xfrm>
          <a:prstGeom prst="rect">
            <a:avLst/>
          </a:prstGeom>
          <a:solidFill>
            <a:srgbClr val="7694AB"/>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56" name="TextBox 56"/>
          <p:cNvSpPr txBox="1"/>
          <p:nvPr/>
        </p:nvSpPr>
        <p:spPr>
          <a:xfrm>
            <a:off x="6748016" y="2048255"/>
            <a:ext cx="804674"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FFFF"/>
                </a:solidFill>
                <a:latin typeface="Arial"/>
                <a:ea typeface="Arial"/>
                <a:cs typeface="Arial"/>
                <a:sym typeface="Arial"/>
              </a:defRPr>
            </a:lvl1pPr>
          </a:lstStyle>
          <a:p>
            <a:pPr/>
            <a:r>
              <a:t>2015</a:t>
            </a:r>
          </a:p>
        </p:txBody>
      </p:sp>
      <p:sp>
        <p:nvSpPr>
          <p:cNvPr id="157" name="Isosceles Triangle 57"/>
          <p:cNvSpPr/>
          <p:nvPr/>
        </p:nvSpPr>
        <p:spPr>
          <a:xfrm rot="10800000">
            <a:off x="6930897" y="2487166"/>
            <a:ext cx="237746" cy="502923"/>
          </a:xfrm>
          <a:prstGeom prst="triangle">
            <a:avLst/>
          </a:prstGeom>
          <a:solidFill>
            <a:srgbClr val="2F4658"/>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58" name="Oval 58"/>
          <p:cNvSpPr/>
          <p:nvPr/>
        </p:nvSpPr>
        <p:spPr>
          <a:xfrm>
            <a:off x="7068056"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59" name="Oval 59"/>
          <p:cNvSpPr/>
          <p:nvPr/>
        </p:nvSpPr>
        <p:spPr>
          <a:xfrm>
            <a:off x="7122921" y="2843783"/>
            <a:ext cx="109731" cy="109731"/>
          </a:xfrm>
          <a:prstGeom prst="ellipse">
            <a:avLst/>
          </a:prstGeom>
          <a:solidFill>
            <a:srgbClr val="7694AB"/>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60" name="Connector 60"/>
          <p:cNvSpPr/>
          <p:nvPr/>
        </p:nvSpPr>
        <p:spPr>
          <a:xfrm>
            <a:off x="7182356" y="3017520"/>
            <a:ext cx="1" cy="1691641"/>
          </a:xfrm>
          <a:prstGeom prst="line">
            <a:avLst/>
          </a:prstGeom>
          <a:ln w="3175">
            <a:solidFill>
              <a:srgbClr val="CDCDCD"/>
            </a:solidFill>
            <a:miter/>
          </a:ln>
        </p:spPr>
        <p:txBody>
          <a:bodyPr lIns="45718" tIns="45718" rIns="45718" bIns="45718"/>
          <a:lstStyle/>
          <a:p>
            <a:pPr/>
          </a:p>
        </p:txBody>
      </p:sp>
      <p:sp>
        <p:nvSpPr>
          <p:cNvPr id="161" name="Down Arrow 61"/>
          <p:cNvSpPr/>
          <p:nvPr/>
        </p:nvSpPr>
        <p:spPr>
          <a:xfrm>
            <a:off x="7127492" y="466344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62" name="TextBox 62"/>
          <p:cNvSpPr txBox="1"/>
          <p:nvPr/>
        </p:nvSpPr>
        <p:spPr>
          <a:xfrm>
            <a:off x="6656578" y="4846320"/>
            <a:ext cx="960122" cy="11134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Transformed analytics platform from vendor tools to open-source technologies on large Hadoop clusters.</a:t>
            </a:r>
          </a:p>
        </p:txBody>
      </p:sp>
      <p:sp>
        <p:nvSpPr>
          <p:cNvPr id="163" name="Rectangle 63"/>
          <p:cNvSpPr/>
          <p:nvPr/>
        </p:nvSpPr>
        <p:spPr>
          <a:xfrm>
            <a:off x="7689850" y="1207008"/>
            <a:ext cx="877824" cy="566930"/>
          </a:xfrm>
          <a:prstGeom prst="rect">
            <a:avLst/>
          </a:prstGeom>
          <a:solidFill>
            <a:srgbClr val="FFFFFF"/>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pic>
        <p:nvPicPr>
          <p:cNvPr id="164" name="Picture 64" descr="Picture 64"/>
          <p:cNvPicPr>
            <a:picLocks noChangeAspect="1"/>
          </p:cNvPicPr>
          <p:nvPr/>
        </p:nvPicPr>
        <p:blipFill>
          <a:blip r:embed="rId8">
            <a:extLst/>
          </a:blip>
          <a:stretch>
            <a:fillRect/>
          </a:stretch>
        </p:blipFill>
        <p:spPr>
          <a:xfrm>
            <a:off x="7726426" y="1246873"/>
            <a:ext cx="804674" cy="450619"/>
          </a:xfrm>
          <a:prstGeom prst="rect">
            <a:avLst/>
          </a:prstGeom>
          <a:ln w="12700">
            <a:miter lim="400000"/>
          </a:ln>
        </p:spPr>
      </p:pic>
      <p:sp>
        <p:nvSpPr>
          <p:cNvPr id="165" name="Rectangle 65"/>
          <p:cNvSpPr/>
          <p:nvPr/>
        </p:nvSpPr>
        <p:spPr>
          <a:xfrm>
            <a:off x="7726426" y="1975104"/>
            <a:ext cx="804674" cy="530354"/>
          </a:xfrm>
          <a:prstGeom prst="rect">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66" name="TextBox 66"/>
          <p:cNvSpPr txBox="1"/>
          <p:nvPr/>
        </p:nvSpPr>
        <p:spPr>
          <a:xfrm>
            <a:off x="7726426" y="2048255"/>
            <a:ext cx="804674"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FFFF"/>
                </a:solidFill>
                <a:latin typeface="Arial"/>
                <a:ea typeface="Arial"/>
                <a:cs typeface="Arial"/>
                <a:sym typeface="Arial"/>
              </a:defRPr>
            </a:lvl1pPr>
          </a:lstStyle>
          <a:p>
            <a:pPr/>
            <a:r>
              <a:t>2020</a:t>
            </a:r>
          </a:p>
        </p:txBody>
      </p:sp>
      <p:sp>
        <p:nvSpPr>
          <p:cNvPr id="167" name="Isosceles Triangle 67"/>
          <p:cNvSpPr/>
          <p:nvPr/>
        </p:nvSpPr>
        <p:spPr>
          <a:xfrm rot="10800000">
            <a:off x="7909304" y="2487166"/>
            <a:ext cx="237747" cy="502923"/>
          </a:xfrm>
          <a:prstGeom prst="triangle">
            <a:avLst/>
          </a:prstGeom>
          <a:solidFill>
            <a:srgbClr val="00506A"/>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68" name="Oval 68"/>
          <p:cNvSpPr/>
          <p:nvPr/>
        </p:nvSpPr>
        <p:spPr>
          <a:xfrm>
            <a:off x="8046466"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69" name="Oval 69"/>
          <p:cNvSpPr/>
          <p:nvPr/>
        </p:nvSpPr>
        <p:spPr>
          <a:xfrm>
            <a:off x="8101330" y="2843783"/>
            <a:ext cx="109731" cy="109731"/>
          </a:xfrm>
          <a:prstGeom prst="ellipse">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70" name="Connector 70"/>
          <p:cNvSpPr/>
          <p:nvPr/>
        </p:nvSpPr>
        <p:spPr>
          <a:xfrm>
            <a:off x="8160766" y="3017519"/>
            <a:ext cx="2" cy="685802"/>
          </a:xfrm>
          <a:prstGeom prst="line">
            <a:avLst/>
          </a:prstGeom>
          <a:ln w="3175">
            <a:solidFill>
              <a:srgbClr val="CDCDCD"/>
            </a:solidFill>
            <a:miter/>
          </a:ln>
        </p:spPr>
        <p:txBody>
          <a:bodyPr lIns="45718" tIns="45718" rIns="45718" bIns="45718"/>
          <a:lstStyle/>
          <a:p>
            <a:pPr/>
          </a:p>
        </p:txBody>
      </p:sp>
      <p:sp>
        <p:nvSpPr>
          <p:cNvPr id="171" name="Down Arrow 71"/>
          <p:cNvSpPr/>
          <p:nvPr/>
        </p:nvSpPr>
        <p:spPr>
          <a:xfrm>
            <a:off x="8105902" y="365760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72" name="TextBox 72"/>
          <p:cNvSpPr txBox="1"/>
          <p:nvPr/>
        </p:nvSpPr>
        <p:spPr>
          <a:xfrm>
            <a:off x="7634985" y="3858767"/>
            <a:ext cx="960122" cy="9737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Built cloud data warehouse solutions using OCI and Autonomous Data Warehouse.</a:t>
            </a:r>
          </a:p>
        </p:txBody>
      </p:sp>
      <p:sp>
        <p:nvSpPr>
          <p:cNvPr id="173" name="Rectangle 73"/>
          <p:cNvSpPr/>
          <p:nvPr/>
        </p:nvSpPr>
        <p:spPr>
          <a:xfrm>
            <a:off x="8668256" y="1207008"/>
            <a:ext cx="877826" cy="566930"/>
          </a:xfrm>
          <a:prstGeom prst="rect">
            <a:avLst/>
          </a:prstGeom>
          <a:solidFill>
            <a:srgbClr val="FFFFFF"/>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pic>
        <p:nvPicPr>
          <p:cNvPr id="174" name="Picture 74" descr="Picture 74"/>
          <p:cNvPicPr>
            <a:picLocks noChangeAspect="1"/>
          </p:cNvPicPr>
          <p:nvPr/>
        </p:nvPicPr>
        <p:blipFill>
          <a:blip r:embed="rId9">
            <a:extLst/>
          </a:blip>
          <a:stretch>
            <a:fillRect/>
          </a:stretch>
        </p:blipFill>
        <p:spPr>
          <a:xfrm>
            <a:off x="8560741" y="1185309"/>
            <a:ext cx="1092859" cy="573751"/>
          </a:xfrm>
          <a:prstGeom prst="rect">
            <a:avLst/>
          </a:prstGeom>
          <a:ln w="12700">
            <a:miter lim="400000"/>
          </a:ln>
        </p:spPr>
      </p:pic>
      <p:sp>
        <p:nvSpPr>
          <p:cNvPr id="175" name="Rectangle 75"/>
          <p:cNvSpPr/>
          <p:nvPr/>
        </p:nvSpPr>
        <p:spPr>
          <a:xfrm>
            <a:off x="8704833" y="1975104"/>
            <a:ext cx="804674" cy="530354"/>
          </a:xfrm>
          <a:prstGeom prst="rect">
            <a:avLst/>
          </a:prstGeom>
          <a:solidFill>
            <a:srgbClr val="7694AB"/>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76" name="TextBox 76"/>
          <p:cNvSpPr txBox="1"/>
          <p:nvPr/>
        </p:nvSpPr>
        <p:spPr>
          <a:xfrm>
            <a:off x="8704833" y="2048255"/>
            <a:ext cx="804674"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FFFF"/>
                </a:solidFill>
                <a:latin typeface="Arial"/>
                <a:ea typeface="Arial"/>
                <a:cs typeface="Arial"/>
                <a:sym typeface="Arial"/>
              </a:defRPr>
            </a:lvl1pPr>
          </a:lstStyle>
          <a:p>
            <a:pPr/>
            <a:r>
              <a:t>2021</a:t>
            </a:r>
          </a:p>
        </p:txBody>
      </p:sp>
      <p:sp>
        <p:nvSpPr>
          <p:cNvPr id="177" name="Isosceles Triangle 77"/>
          <p:cNvSpPr/>
          <p:nvPr/>
        </p:nvSpPr>
        <p:spPr>
          <a:xfrm rot="10800000">
            <a:off x="8887714" y="2487166"/>
            <a:ext cx="237744" cy="502923"/>
          </a:xfrm>
          <a:prstGeom prst="triangle">
            <a:avLst/>
          </a:prstGeom>
          <a:solidFill>
            <a:srgbClr val="2F4658"/>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78" name="Oval 78"/>
          <p:cNvSpPr/>
          <p:nvPr/>
        </p:nvSpPr>
        <p:spPr>
          <a:xfrm>
            <a:off x="9024873"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79" name="Oval 79"/>
          <p:cNvSpPr/>
          <p:nvPr/>
        </p:nvSpPr>
        <p:spPr>
          <a:xfrm>
            <a:off x="9079738" y="2843783"/>
            <a:ext cx="109731" cy="109731"/>
          </a:xfrm>
          <a:prstGeom prst="ellipse">
            <a:avLst/>
          </a:prstGeom>
          <a:solidFill>
            <a:srgbClr val="7694AB"/>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80" name="Connector 80"/>
          <p:cNvSpPr/>
          <p:nvPr/>
        </p:nvSpPr>
        <p:spPr>
          <a:xfrm>
            <a:off x="9139173" y="3017520"/>
            <a:ext cx="2" cy="1691641"/>
          </a:xfrm>
          <a:prstGeom prst="line">
            <a:avLst/>
          </a:prstGeom>
          <a:ln w="3175">
            <a:solidFill>
              <a:srgbClr val="CDCDCD"/>
            </a:solidFill>
            <a:miter/>
          </a:ln>
        </p:spPr>
        <p:txBody>
          <a:bodyPr lIns="45718" tIns="45718" rIns="45718" bIns="45718"/>
          <a:lstStyle/>
          <a:p>
            <a:pPr/>
          </a:p>
        </p:txBody>
      </p:sp>
      <p:sp>
        <p:nvSpPr>
          <p:cNvPr id="181" name="Down Arrow 81"/>
          <p:cNvSpPr/>
          <p:nvPr/>
        </p:nvSpPr>
        <p:spPr>
          <a:xfrm>
            <a:off x="9084309" y="466344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82" name="TextBox 82"/>
          <p:cNvSpPr txBox="1"/>
          <p:nvPr/>
        </p:nvSpPr>
        <p:spPr>
          <a:xfrm>
            <a:off x="8727541" y="4663440"/>
            <a:ext cx="1092859" cy="8340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Architected AWS-based Data Lake for SaaS solutions and led engineering delivery.</a:t>
            </a:r>
          </a:p>
        </p:txBody>
      </p:sp>
      <p:sp>
        <p:nvSpPr>
          <p:cNvPr id="183" name="Rectangle 83"/>
          <p:cNvSpPr/>
          <p:nvPr/>
        </p:nvSpPr>
        <p:spPr>
          <a:xfrm>
            <a:off x="9646666" y="1207008"/>
            <a:ext cx="877826" cy="566930"/>
          </a:xfrm>
          <a:prstGeom prst="rect">
            <a:avLst/>
          </a:prstGeom>
          <a:solidFill>
            <a:srgbClr val="FFFFFF"/>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pic>
        <p:nvPicPr>
          <p:cNvPr id="184" name="Picture 84" descr="Picture 84"/>
          <p:cNvPicPr>
            <a:picLocks noChangeAspect="1"/>
          </p:cNvPicPr>
          <p:nvPr/>
        </p:nvPicPr>
        <p:blipFill>
          <a:blip r:embed="rId10">
            <a:extLst/>
          </a:blip>
          <a:stretch>
            <a:fillRect/>
          </a:stretch>
        </p:blipFill>
        <p:spPr>
          <a:xfrm>
            <a:off x="9655809" y="1088136"/>
            <a:ext cx="859538" cy="859537"/>
          </a:xfrm>
          <a:prstGeom prst="rect">
            <a:avLst/>
          </a:prstGeom>
          <a:ln w="12700">
            <a:miter lim="400000"/>
          </a:ln>
        </p:spPr>
      </p:pic>
      <p:sp>
        <p:nvSpPr>
          <p:cNvPr id="185" name="Rectangle 85"/>
          <p:cNvSpPr/>
          <p:nvPr/>
        </p:nvSpPr>
        <p:spPr>
          <a:xfrm>
            <a:off x="9683242" y="1975104"/>
            <a:ext cx="804674" cy="530354"/>
          </a:xfrm>
          <a:prstGeom prst="rect">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86" name="TextBox 86"/>
          <p:cNvSpPr txBox="1"/>
          <p:nvPr/>
        </p:nvSpPr>
        <p:spPr>
          <a:xfrm>
            <a:off x="9683242" y="2048255"/>
            <a:ext cx="804674"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solidFill>
                  <a:srgbClr val="FFFFFF"/>
                </a:solidFill>
                <a:latin typeface="Arial"/>
                <a:ea typeface="Arial"/>
                <a:cs typeface="Arial"/>
                <a:sym typeface="Arial"/>
              </a:defRPr>
            </a:pPr>
            <a:r>
              <a:t>2022–</a:t>
            </a:r>
            <a:br/>
            <a:r>
              <a:t>Present</a:t>
            </a:r>
          </a:p>
        </p:txBody>
      </p:sp>
      <p:sp>
        <p:nvSpPr>
          <p:cNvPr id="187" name="Isosceles Triangle 87"/>
          <p:cNvSpPr/>
          <p:nvPr/>
        </p:nvSpPr>
        <p:spPr>
          <a:xfrm rot="10800000">
            <a:off x="9866121" y="2487166"/>
            <a:ext cx="237744" cy="502923"/>
          </a:xfrm>
          <a:prstGeom prst="triangle">
            <a:avLst/>
          </a:prstGeom>
          <a:solidFill>
            <a:srgbClr val="00506A"/>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88" name="Oval 88"/>
          <p:cNvSpPr/>
          <p:nvPr/>
        </p:nvSpPr>
        <p:spPr>
          <a:xfrm>
            <a:off x="10003280" y="2788920"/>
            <a:ext cx="228603" cy="228603"/>
          </a:xfrm>
          <a:prstGeom prst="ellipse">
            <a:avLst/>
          </a:prstGeom>
          <a:solidFill>
            <a:schemeClr val="accent3">
              <a:lumOff val="17647"/>
            </a:schemeClr>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89" name="Oval 89"/>
          <p:cNvSpPr/>
          <p:nvPr/>
        </p:nvSpPr>
        <p:spPr>
          <a:xfrm>
            <a:off x="10058144" y="2843783"/>
            <a:ext cx="109731" cy="109731"/>
          </a:xfrm>
          <a:prstGeom prst="ellipse">
            <a:avLst/>
          </a:prstGeom>
          <a:solidFill>
            <a:srgbClr val="009DCC"/>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90" name="Connector 90"/>
          <p:cNvSpPr/>
          <p:nvPr/>
        </p:nvSpPr>
        <p:spPr>
          <a:xfrm>
            <a:off x="10117580" y="3017519"/>
            <a:ext cx="2" cy="685802"/>
          </a:xfrm>
          <a:prstGeom prst="line">
            <a:avLst/>
          </a:prstGeom>
          <a:ln w="3175">
            <a:solidFill>
              <a:srgbClr val="CDCDCD"/>
            </a:solidFill>
            <a:miter/>
          </a:ln>
        </p:spPr>
        <p:txBody>
          <a:bodyPr lIns="45718" tIns="45718" rIns="45718" bIns="45718"/>
          <a:lstStyle/>
          <a:p>
            <a:pPr/>
          </a:p>
        </p:txBody>
      </p:sp>
      <p:sp>
        <p:nvSpPr>
          <p:cNvPr id="191" name="Down Arrow 91"/>
          <p:cNvSpPr/>
          <p:nvPr/>
        </p:nvSpPr>
        <p:spPr>
          <a:xfrm>
            <a:off x="10062716" y="3657600"/>
            <a:ext cx="109730" cy="1645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400"/>
                </a:moveTo>
                <a:lnTo>
                  <a:pt x="5400" y="14400"/>
                </a:lnTo>
                <a:lnTo>
                  <a:pt x="5400" y="0"/>
                </a:lnTo>
                <a:lnTo>
                  <a:pt x="16200" y="0"/>
                </a:lnTo>
                <a:lnTo>
                  <a:pt x="16200" y="14400"/>
                </a:lnTo>
                <a:lnTo>
                  <a:pt x="21600" y="14400"/>
                </a:lnTo>
                <a:lnTo>
                  <a:pt x="10800" y="21600"/>
                </a:lnTo>
                <a:close/>
              </a:path>
            </a:pathLst>
          </a:custGeom>
          <a:solidFill>
            <a:srgbClr val="CDCDCD"/>
          </a:solidFill>
          <a:ln w="12700">
            <a:miter lim="400000"/>
          </a:ln>
        </p:spPr>
        <p:txBody>
          <a:bodyPr lIns="45718" tIns="45718" rIns="45718" bIns="45718" anchor="ctr"/>
          <a:lstStyle/>
          <a:p>
            <a:pPr algn="ctr">
              <a:defRPr>
                <a:solidFill>
                  <a:srgbClr val="FFFFFF"/>
                </a:solidFill>
                <a:latin typeface="Arial"/>
                <a:ea typeface="Arial"/>
                <a:cs typeface="Arial"/>
                <a:sym typeface="Arial"/>
              </a:defRPr>
            </a:pPr>
          </a:p>
        </p:txBody>
      </p:sp>
      <p:sp>
        <p:nvSpPr>
          <p:cNvPr id="192" name="TextBox 92"/>
          <p:cNvSpPr txBox="1"/>
          <p:nvPr/>
        </p:nvSpPr>
        <p:spPr>
          <a:xfrm>
            <a:off x="9856975" y="3863340"/>
            <a:ext cx="960122" cy="8340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282828"/>
                </a:solidFill>
                <a:latin typeface="Arial"/>
                <a:ea typeface="Arial"/>
                <a:cs typeface="Arial"/>
                <a:sym typeface="Arial"/>
              </a:defRPr>
            </a:lvl1pPr>
          </a:lstStyle>
          <a:p>
            <a:pPr/>
            <a:r>
              <a:t>Leads DataOps, AI/GenAI/LLM, GraphDB and data engineering initiatives at Dell Technologies.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A2E"/>
        </a:solidFill>
      </p:bgPr>
    </p:bg>
    <p:spTree>
      <p:nvGrpSpPr>
        <p:cNvPr id="1" name=""/>
        <p:cNvGrpSpPr/>
        <p:nvPr/>
      </p:nvGrpSpPr>
      <p:grpSpPr>
        <a:xfrm>
          <a:off x="0" y="0"/>
          <a:ext cx="0" cy="0"/>
          <a:chOff x="0" y="0"/>
          <a:chExt cx="0" cy="0"/>
        </a:xfrm>
      </p:grpSpPr>
      <p:sp>
        <p:nvSpPr>
          <p:cNvPr id="194" name="Shape 0"/>
          <p:cNvSpPr/>
          <p:nvPr/>
        </p:nvSpPr>
        <p:spPr>
          <a:xfrm>
            <a:off x="8778240" y="-1280162"/>
            <a:ext cx="5669283" cy="5669284"/>
          </a:xfrm>
          <a:prstGeom prst="ellipse">
            <a:avLst/>
          </a:prstGeom>
          <a:solidFill>
            <a:srgbClr val="0D9488">
              <a:alpha val="12000"/>
            </a:srgbClr>
          </a:solidFill>
          <a:ln w="12700">
            <a:miter lim="400000"/>
          </a:ln>
        </p:spPr>
        <p:txBody>
          <a:bodyPr lIns="45718" tIns="45718" rIns="45718" bIns="45718"/>
          <a:lstStyle/>
          <a:p>
            <a:pPr>
              <a:defRPr>
                <a:latin typeface="+mj-lt"/>
                <a:ea typeface="+mj-ea"/>
                <a:cs typeface="+mj-cs"/>
                <a:sym typeface="Calibri"/>
              </a:defRPr>
            </a:pPr>
          </a:p>
        </p:txBody>
      </p:sp>
      <p:sp>
        <p:nvSpPr>
          <p:cNvPr id="195" name="Shape 1"/>
          <p:cNvSpPr/>
          <p:nvPr/>
        </p:nvSpPr>
        <p:spPr>
          <a:xfrm>
            <a:off x="10058400" y="3291840"/>
            <a:ext cx="4206243" cy="4206243"/>
          </a:xfrm>
          <a:prstGeom prst="ellipse">
            <a:avLst/>
          </a:prstGeom>
          <a:solidFill>
            <a:srgbClr val="F4A338">
              <a:alpha val="10000"/>
            </a:srgbClr>
          </a:solidFill>
          <a:ln w="12700">
            <a:miter lim="400000"/>
          </a:ln>
        </p:spPr>
        <p:txBody>
          <a:bodyPr lIns="45718" tIns="45718" rIns="45718" bIns="45718"/>
          <a:lstStyle/>
          <a:p>
            <a:pPr>
              <a:defRPr>
                <a:latin typeface="+mj-lt"/>
                <a:ea typeface="+mj-ea"/>
                <a:cs typeface="+mj-cs"/>
                <a:sym typeface="Calibri"/>
              </a:defRPr>
            </a:pPr>
          </a:p>
        </p:txBody>
      </p:sp>
      <p:pic>
        <p:nvPicPr>
          <p:cNvPr id="196" name="Image 0" descr="Image 0"/>
          <p:cNvPicPr>
            <a:picLocks noChangeAspect="1"/>
          </p:cNvPicPr>
          <p:nvPr/>
        </p:nvPicPr>
        <p:blipFill>
          <a:blip r:embed="rId3">
            <a:extLst/>
          </a:blip>
          <a:stretch>
            <a:fillRect/>
          </a:stretch>
        </p:blipFill>
        <p:spPr>
          <a:xfrm>
            <a:off x="685800" y="960119"/>
            <a:ext cx="868681" cy="868681"/>
          </a:xfrm>
          <a:prstGeom prst="rect">
            <a:avLst/>
          </a:prstGeom>
          <a:ln w="12700">
            <a:miter lim="400000"/>
          </a:ln>
        </p:spPr>
      </p:pic>
      <p:sp>
        <p:nvSpPr>
          <p:cNvPr id="197" name="Text 2"/>
          <p:cNvSpPr txBox="1"/>
          <p:nvPr/>
        </p:nvSpPr>
        <p:spPr>
          <a:xfrm>
            <a:off x="1783079" y="1013146"/>
            <a:ext cx="4480561"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400" sz="1500">
                <a:solidFill>
                  <a:srgbClr val="5EEAD4"/>
                </a:solidFill>
                <a:latin typeface="+mj-lt"/>
                <a:ea typeface="+mj-ea"/>
                <a:cs typeface="+mj-cs"/>
                <a:sym typeface="Calibri"/>
              </a:defRPr>
            </a:lvl1pPr>
          </a:lstStyle>
          <a:p>
            <a:pPr/>
            <a:r>
              <a:t>MODULE 1</a:t>
            </a:r>
          </a:p>
        </p:txBody>
      </p:sp>
      <p:sp>
        <p:nvSpPr>
          <p:cNvPr id="198" name="Text 3"/>
          <p:cNvSpPr txBox="1"/>
          <p:nvPr/>
        </p:nvSpPr>
        <p:spPr>
          <a:xfrm>
            <a:off x="704087" y="1887219"/>
            <a:ext cx="10698482" cy="980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6000">
                <a:solidFill>
                  <a:srgbClr val="FFFFFF"/>
                </a:solidFill>
                <a:latin typeface="Cambria"/>
                <a:ea typeface="Cambria"/>
                <a:cs typeface="Cambria"/>
                <a:sym typeface="Cambria"/>
              </a:defRPr>
            </a:lvl1pPr>
          </a:lstStyle>
          <a:p>
            <a:pPr/>
            <a:r>
              <a:t>Demystifying AI</a:t>
            </a:r>
          </a:p>
        </p:txBody>
      </p:sp>
      <p:sp>
        <p:nvSpPr>
          <p:cNvPr id="199" name="Text 4"/>
          <p:cNvSpPr txBox="1"/>
          <p:nvPr/>
        </p:nvSpPr>
        <p:spPr>
          <a:xfrm>
            <a:off x="731519" y="3054833"/>
            <a:ext cx="10698482" cy="38257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300">
                <a:solidFill>
                  <a:srgbClr val="5EEAD4"/>
                </a:solidFill>
                <a:latin typeface="+mj-lt"/>
                <a:ea typeface="+mj-ea"/>
                <a:cs typeface="+mj-cs"/>
                <a:sym typeface="Calibri"/>
              </a:defRPr>
            </a:lvl1pPr>
          </a:lstStyle>
          <a:p>
            <a:pPr/>
            <a:r>
              <a:t>What It Is · What It Costs · What It Can't Do</a:t>
            </a:r>
          </a:p>
        </p:txBody>
      </p:sp>
      <p:sp>
        <p:nvSpPr>
          <p:cNvPr id="200" name="Text 5"/>
          <p:cNvSpPr txBox="1"/>
          <p:nvPr/>
        </p:nvSpPr>
        <p:spPr>
          <a:xfrm>
            <a:off x="731519" y="4039697"/>
            <a:ext cx="9966961"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defRPr b="1">
                <a:solidFill>
                  <a:srgbClr val="FFFFFF"/>
                </a:solidFill>
                <a:latin typeface="+mj-lt"/>
                <a:ea typeface="+mj-ea"/>
                <a:cs typeface="+mj-cs"/>
                <a:sym typeface="Calibri"/>
              </a:defRPr>
            </a:pPr>
            <a:r>
              <a:t>The ₹0 AI Engineer</a:t>
            </a:r>
            <a:r>
              <a:rPr b="0">
                <a:solidFill>
                  <a:srgbClr val="9FBEC0"/>
                </a:solidFill>
              </a:rPr>
              <a:t>  —  Building Real Things Before You Graduate</a:t>
            </a:r>
          </a:p>
        </p:txBody>
      </p:sp>
      <p:sp>
        <p:nvSpPr>
          <p:cNvPr id="201" name="Shape 6"/>
          <p:cNvSpPr/>
          <p:nvPr/>
        </p:nvSpPr>
        <p:spPr>
          <a:xfrm>
            <a:off x="713230" y="4709158"/>
            <a:ext cx="2194563" cy="3"/>
          </a:xfrm>
          <a:prstGeom prst="line">
            <a:avLst/>
          </a:prstGeom>
          <a:ln w="31750">
            <a:solidFill>
              <a:srgbClr val="F4A338"/>
            </a:solidFill>
          </a:ln>
        </p:spPr>
        <p:txBody>
          <a:bodyPr lIns="45718" tIns="45718" rIns="45718" bIns="45718"/>
          <a:lstStyle/>
          <a:p>
            <a:pPr/>
          </a:p>
        </p:txBody>
      </p:sp>
      <p:sp>
        <p:nvSpPr>
          <p:cNvPr id="202" name="Text 7"/>
          <p:cNvSpPr txBox="1"/>
          <p:nvPr/>
        </p:nvSpPr>
        <p:spPr>
          <a:xfrm>
            <a:off x="731519" y="4980240"/>
            <a:ext cx="9966961"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9FBEC0"/>
                </a:solidFill>
                <a:latin typeface="+mj-lt"/>
                <a:ea typeface="+mj-ea"/>
                <a:cs typeface="+mj-cs"/>
                <a:sym typeface="Calibri"/>
              </a:defRPr>
            </a:lvl1pPr>
          </a:lstStyle>
          <a:p>
            <a:pPr/>
            <a:r>
              <a:t>Pramit Mitra  ·  Principal Engineer, Data Science Platform — Dell Technologies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0D9488"/>
                </a:solidFill>
                <a:latin typeface="+mj-lt"/>
                <a:ea typeface="+mj-ea"/>
                <a:cs typeface="+mj-cs"/>
                <a:sym typeface="Calibri"/>
              </a:defRPr>
            </a:lvl1pPr>
          </a:lstStyle>
          <a:p>
            <a:pPr/>
            <a:r>
              <a:t>WHERE THIS HOUR GOES</a:t>
            </a:r>
          </a:p>
        </p:txBody>
      </p:sp>
      <p:sp>
        <p:nvSpPr>
          <p:cNvPr id="207" name="Text 1"/>
          <p:cNvSpPr txBox="1"/>
          <p:nvPr/>
        </p:nvSpPr>
        <p:spPr>
          <a:xfrm>
            <a:off x="685800" y="960120"/>
            <a:ext cx="10881360"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100">
                <a:solidFill>
                  <a:srgbClr val="1E293B"/>
                </a:solidFill>
                <a:latin typeface="Cambria"/>
                <a:ea typeface="Cambria"/>
                <a:cs typeface="Cambria"/>
                <a:sym typeface="Cambria"/>
              </a:defRPr>
            </a:lvl1pPr>
          </a:lstStyle>
          <a:p>
            <a:pPr/>
            <a:r>
              <a:t>From “AI is magic” to “AI has a price tag”</a:t>
            </a:r>
          </a:p>
        </p:txBody>
      </p:sp>
      <p:sp>
        <p:nvSpPr>
          <p:cNvPr id="208" name="Shape 2"/>
          <p:cNvSpPr/>
          <p:nvPr/>
        </p:nvSpPr>
        <p:spPr>
          <a:xfrm>
            <a:off x="640080" y="1783078"/>
            <a:ext cx="10881360" cy="960122"/>
          </a:xfrm>
          <a:prstGeom prst="roundRect">
            <a:avLst>
              <a:gd name="adj" fmla="val 9524"/>
            </a:avLst>
          </a:prstGeom>
          <a:solidFill>
            <a:srgbClr val="E8F4F2"/>
          </a:solidFill>
          <a:ln w="12700">
            <a:miter lim="400000"/>
          </a:ln>
          <a:effectLst>
            <a:outerShdw sx="100000" sy="100000" kx="0" ky="0" algn="b" rotWithShape="0" blurRad="88900" dist="38100" dir="2700000">
              <a:srgbClr val="000000">
                <a:alpha val="10000"/>
              </a:srgbClr>
            </a:outerShdw>
          </a:effectLst>
        </p:spPr>
        <p:txBody>
          <a:bodyPr lIns="45718" tIns="45718" rIns="45718" bIns="45718"/>
          <a:lstStyle/>
          <a:p>
            <a:pPr>
              <a:defRPr>
                <a:latin typeface="+mj-lt"/>
                <a:ea typeface="+mj-ea"/>
                <a:cs typeface="+mj-cs"/>
                <a:sym typeface="Calibri"/>
              </a:defRPr>
            </a:pPr>
          </a:p>
        </p:txBody>
      </p:sp>
      <p:sp>
        <p:nvSpPr>
          <p:cNvPr id="209" name="Shape 3"/>
          <p:cNvSpPr/>
          <p:nvPr/>
        </p:nvSpPr>
        <p:spPr>
          <a:xfrm>
            <a:off x="914400" y="1965960"/>
            <a:ext cx="594360" cy="59436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210" name="Image 0" descr="Image 0"/>
          <p:cNvPicPr>
            <a:picLocks noChangeAspect="1"/>
          </p:cNvPicPr>
          <p:nvPr/>
        </p:nvPicPr>
        <p:blipFill>
          <a:blip r:embed="rId3">
            <a:extLst/>
          </a:blip>
          <a:stretch>
            <a:fillRect/>
          </a:stretch>
        </p:blipFill>
        <p:spPr>
          <a:xfrm>
            <a:off x="1033272" y="2084832"/>
            <a:ext cx="356617" cy="356618"/>
          </a:xfrm>
          <a:prstGeom prst="rect">
            <a:avLst/>
          </a:prstGeom>
          <a:ln w="12700">
            <a:miter lim="400000"/>
          </a:ln>
        </p:spPr>
      </p:pic>
      <p:sp>
        <p:nvSpPr>
          <p:cNvPr id="211" name="Text 4"/>
          <p:cNvSpPr txBox="1"/>
          <p:nvPr/>
        </p:nvSpPr>
        <p:spPr>
          <a:xfrm>
            <a:off x="1828799" y="1993391"/>
            <a:ext cx="731522"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14B8A6"/>
                </a:solidFill>
                <a:latin typeface="Cambria"/>
                <a:ea typeface="Cambria"/>
                <a:cs typeface="Cambria"/>
                <a:sym typeface="Cambria"/>
              </a:defRPr>
            </a:lvl1pPr>
          </a:lstStyle>
          <a:p>
            <a:pPr/>
            <a:r>
              <a:t>01</a:t>
            </a:r>
          </a:p>
        </p:txBody>
      </p:sp>
      <p:sp>
        <p:nvSpPr>
          <p:cNvPr id="212" name="Text 5"/>
          <p:cNvSpPr txBox="1"/>
          <p:nvPr/>
        </p:nvSpPr>
        <p:spPr>
          <a:xfrm>
            <a:off x="2743200" y="2092024"/>
            <a:ext cx="3291841" cy="3330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1E293B"/>
                </a:solidFill>
                <a:latin typeface="+mj-lt"/>
                <a:ea typeface="+mj-ea"/>
                <a:cs typeface="+mj-cs"/>
                <a:sym typeface="Calibri"/>
              </a:defRPr>
            </a:lvl1pPr>
          </a:lstStyle>
          <a:p>
            <a:pPr/>
            <a:r>
              <a:t>What AI actually is</a:t>
            </a:r>
          </a:p>
        </p:txBody>
      </p:sp>
      <p:sp>
        <p:nvSpPr>
          <p:cNvPr id="213" name="Text 6"/>
          <p:cNvSpPr txBox="1"/>
          <p:nvPr/>
        </p:nvSpPr>
        <p:spPr>
          <a:xfrm>
            <a:off x="6172200" y="2118168"/>
            <a:ext cx="5120641"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64748B"/>
                </a:solidFill>
                <a:latin typeface="+mj-lt"/>
                <a:ea typeface="+mj-ea"/>
                <a:cs typeface="+mj-cs"/>
                <a:sym typeface="Calibri"/>
              </a:defRPr>
            </a:lvl1pPr>
          </a:lstStyle>
          <a:p>
            <a:pPr/>
            <a:r>
              <a:t>A product you rent by the API call — not a model you train</a:t>
            </a:r>
          </a:p>
        </p:txBody>
      </p:sp>
      <p:sp>
        <p:nvSpPr>
          <p:cNvPr id="214" name="Shape 7"/>
          <p:cNvSpPr/>
          <p:nvPr/>
        </p:nvSpPr>
        <p:spPr>
          <a:xfrm>
            <a:off x="640080" y="2862072"/>
            <a:ext cx="10881360" cy="960120"/>
          </a:xfrm>
          <a:prstGeom prst="roundRect">
            <a:avLst>
              <a:gd name="adj" fmla="val 9524"/>
            </a:avLst>
          </a:prstGeom>
          <a:solidFill>
            <a:srgbClr val="F1F5F9"/>
          </a:solidFill>
          <a:ln w="12700">
            <a:miter lim="400000"/>
          </a:ln>
          <a:effectLst>
            <a:outerShdw sx="100000" sy="100000" kx="0" ky="0" algn="b" rotWithShape="0" blurRad="88900" dist="38100" dir="2700000">
              <a:srgbClr val="000000">
                <a:alpha val="10000"/>
              </a:srgbClr>
            </a:outerShdw>
          </a:effectLst>
        </p:spPr>
        <p:txBody>
          <a:bodyPr lIns="45718" tIns="45718" rIns="45718" bIns="45718"/>
          <a:lstStyle/>
          <a:p>
            <a:pPr>
              <a:defRPr>
                <a:latin typeface="+mj-lt"/>
                <a:ea typeface="+mj-ea"/>
                <a:cs typeface="+mj-cs"/>
                <a:sym typeface="Calibri"/>
              </a:defRPr>
            </a:pPr>
          </a:p>
        </p:txBody>
      </p:sp>
      <p:sp>
        <p:nvSpPr>
          <p:cNvPr id="215" name="Shape 8"/>
          <p:cNvSpPr/>
          <p:nvPr/>
        </p:nvSpPr>
        <p:spPr>
          <a:xfrm>
            <a:off x="914400" y="3044950"/>
            <a:ext cx="594360" cy="59436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216" name="Image 1" descr="Image 1"/>
          <p:cNvPicPr>
            <a:picLocks noChangeAspect="1"/>
          </p:cNvPicPr>
          <p:nvPr/>
        </p:nvPicPr>
        <p:blipFill>
          <a:blip r:embed="rId4">
            <a:extLst/>
          </a:blip>
          <a:stretch>
            <a:fillRect/>
          </a:stretch>
        </p:blipFill>
        <p:spPr>
          <a:xfrm>
            <a:off x="1033272" y="3163822"/>
            <a:ext cx="356617" cy="356618"/>
          </a:xfrm>
          <a:prstGeom prst="rect">
            <a:avLst/>
          </a:prstGeom>
          <a:ln w="12700">
            <a:miter lim="400000"/>
          </a:ln>
        </p:spPr>
      </p:pic>
      <p:sp>
        <p:nvSpPr>
          <p:cNvPr id="217" name="Text 9"/>
          <p:cNvSpPr txBox="1"/>
          <p:nvPr/>
        </p:nvSpPr>
        <p:spPr>
          <a:xfrm>
            <a:off x="1828799" y="3072383"/>
            <a:ext cx="731522"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14B8A6"/>
                </a:solidFill>
                <a:latin typeface="Cambria"/>
                <a:ea typeface="Cambria"/>
                <a:cs typeface="Cambria"/>
                <a:sym typeface="Cambria"/>
              </a:defRPr>
            </a:lvl1pPr>
          </a:lstStyle>
          <a:p>
            <a:pPr/>
            <a:r>
              <a:t>02</a:t>
            </a:r>
          </a:p>
        </p:txBody>
      </p:sp>
      <p:sp>
        <p:nvSpPr>
          <p:cNvPr id="218" name="Text 10"/>
          <p:cNvSpPr txBox="1"/>
          <p:nvPr/>
        </p:nvSpPr>
        <p:spPr>
          <a:xfrm>
            <a:off x="2743200" y="3171016"/>
            <a:ext cx="3291841" cy="3330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1E293B"/>
                </a:solidFill>
                <a:latin typeface="+mj-lt"/>
                <a:ea typeface="+mj-ea"/>
                <a:cs typeface="+mj-cs"/>
                <a:sym typeface="Calibri"/>
              </a:defRPr>
            </a:lvl1pPr>
          </a:lstStyle>
          <a:p>
            <a:pPr/>
            <a:r>
              <a:t>What it costs</a:t>
            </a:r>
          </a:p>
        </p:txBody>
      </p:sp>
      <p:sp>
        <p:nvSpPr>
          <p:cNvPr id="219" name="Text 11"/>
          <p:cNvSpPr txBox="1"/>
          <p:nvPr/>
        </p:nvSpPr>
        <p:spPr>
          <a:xfrm>
            <a:off x="6172200" y="3197161"/>
            <a:ext cx="5120641"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64748B"/>
                </a:solidFill>
                <a:latin typeface="+mj-lt"/>
                <a:ea typeface="+mj-ea"/>
                <a:cs typeface="+mj-cs"/>
                <a:sym typeface="Calibri"/>
              </a:defRPr>
            </a:lvl1pPr>
          </a:lstStyle>
          <a:p>
            <a:pPr/>
            <a:r>
              <a:t>Tokens are the unit of billing. Learn to read the meter</a:t>
            </a:r>
          </a:p>
        </p:txBody>
      </p:sp>
      <p:sp>
        <p:nvSpPr>
          <p:cNvPr id="220" name="Shape 12"/>
          <p:cNvSpPr/>
          <p:nvPr/>
        </p:nvSpPr>
        <p:spPr>
          <a:xfrm>
            <a:off x="640080" y="3941064"/>
            <a:ext cx="10881360" cy="960122"/>
          </a:xfrm>
          <a:prstGeom prst="roundRect">
            <a:avLst>
              <a:gd name="adj" fmla="val 9524"/>
            </a:avLst>
          </a:prstGeom>
          <a:solidFill>
            <a:srgbClr val="E8F4F2"/>
          </a:solidFill>
          <a:ln w="12700">
            <a:miter lim="400000"/>
          </a:ln>
          <a:effectLst>
            <a:outerShdw sx="100000" sy="100000" kx="0" ky="0" algn="b" rotWithShape="0" blurRad="88900" dist="38100" dir="2700000">
              <a:srgbClr val="000000">
                <a:alpha val="10000"/>
              </a:srgbClr>
            </a:outerShdw>
          </a:effectLst>
        </p:spPr>
        <p:txBody>
          <a:bodyPr lIns="45718" tIns="45718" rIns="45718" bIns="45718"/>
          <a:lstStyle/>
          <a:p>
            <a:pPr>
              <a:defRPr>
                <a:latin typeface="+mj-lt"/>
                <a:ea typeface="+mj-ea"/>
                <a:cs typeface="+mj-cs"/>
                <a:sym typeface="Calibri"/>
              </a:defRPr>
            </a:pPr>
          </a:p>
        </p:txBody>
      </p:sp>
      <p:sp>
        <p:nvSpPr>
          <p:cNvPr id="221" name="Shape 13"/>
          <p:cNvSpPr/>
          <p:nvPr/>
        </p:nvSpPr>
        <p:spPr>
          <a:xfrm>
            <a:off x="914400" y="4123944"/>
            <a:ext cx="594360" cy="59436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222" name="Image 2" descr="Image 2"/>
          <p:cNvPicPr>
            <a:picLocks noChangeAspect="1"/>
          </p:cNvPicPr>
          <p:nvPr/>
        </p:nvPicPr>
        <p:blipFill>
          <a:blip r:embed="rId5">
            <a:extLst/>
          </a:blip>
          <a:stretch>
            <a:fillRect/>
          </a:stretch>
        </p:blipFill>
        <p:spPr>
          <a:xfrm>
            <a:off x="1033272" y="4242815"/>
            <a:ext cx="356617" cy="356618"/>
          </a:xfrm>
          <a:prstGeom prst="rect">
            <a:avLst/>
          </a:prstGeom>
          <a:ln w="12700">
            <a:miter lim="400000"/>
          </a:ln>
        </p:spPr>
      </p:pic>
      <p:sp>
        <p:nvSpPr>
          <p:cNvPr id="223" name="Text 14"/>
          <p:cNvSpPr txBox="1"/>
          <p:nvPr/>
        </p:nvSpPr>
        <p:spPr>
          <a:xfrm>
            <a:off x="1828799" y="4151375"/>
            <a:ext cx="731522"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14B8A6"/>
                </a:solidFill>
                <a:latin typeface="Cambria"/>
                <a:ea typeface="Cambria"/>
                <a:cs typeface="Cambria"/>
                <a:sym typeface="Cambria"/>
              </a:defRPr>
            </a:lvl1pPr>
          </a:lstStyle>
          <a:p>
            <a:pPr/>
            <a:r>
              <a:t>03</a:t>
            </a:r>
          </a:p>
        </p:txBody>
      </p:sp>
      <p:sp>
        <p:nvSpPr>
          <p:cNvPr id="224" name="Text 15"/>
          <p:cNvSpPr txBox="1"/>
          <p:nvPr/>
        </p:nvSpPr>
        <p:spPr>
          <a:xfrm>
            <a:off x="2743200" y="4250009"/>
            <a:ext cx="3291841"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1E293B"/>
                </a:solidFill>
                <a:latin typeface="+mj-lt"/>
                <a:ea typeface="+mj-ea"/>
                <a:cs typeface="+mj-cs"/>
                <a:sym typeface="Calibri"/>
              </a:defRPr>
            </a:lvl1pPr>
          </a:lstStyle>
          <a:p>
            <a:pPr/>
            <a:r>
              <a:t>The 3 industry questions</a:t>
            </a:r>
          </a:p>
        </p:txBody>
      </p:sp>
      <p:sp>
        <p:nvSpPr>
          <p:cNvPr id="225" name="Text 16"/>
          <p:cNvSpPr txBox="1"/>
          <p:nvPr/>
        </p:nvSpPr>
        <p:spPr>
          <a:xfrm>
            <a:off x="6172200" y="4276153"/>
            <a:ext cx="5120641"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64748B"/>
                </a:solidFill>
                <a:latin typeface="+mj-lt"/>
                <a:ea typeface="+mj-ea"/>
                <a:cs typeface="+mj-cs"/>
                <a:sym typeface="Calibri"/>
              </a:defRPr>
            </a:lvl1pPr>
          </a:lstStyle>
          <a:p>
            <a:pPr/>
            <a:r>
              <a:t>How accurate? How fast? How much per 1,000 calls?</a:t>
            </a:r>
          </a:p>
        </p:txBody>
      </p:sp>
      <p:sp>
        <p:nvSpPr>
          <p:cNvPr id="226" name="Shape 17"/>
          <p:cNvSpPr/>
          <p:nvPr/>
        </p:nvSpPr>
        <p:spPr>
          <a:xfrm>
            <a:off x="640080" y="5020054"/>
            <a:ext cx="10881360" cy="960122"/>
          </a:xfrm>
          <a:prstGeom prst="roundRect">
            <a:avLst>
              <a:gd name="adj" fmla="val 9524"/>
            </a:avLst>
          </a:prstGeom>
          <a:solidFill>
            <a:srgbClr val="F1F5F9"/>
          </a:solidFill>
          <a:ln w="12700">
            <a:miter lim="400000"/>
          </a:ln>
          <a:effectLst>
            <a:outerShdw sx="100000" sy="100000" kx="0" ky="0" algn="b" rotWithShape="0" blurRad="88900" dist="38100" dir="2700000">
              <a:srgbClr val="000000">
                <a:alpha val="10000"/>
              </a:srgbClr>
            </a:outerShdw>
          </a:effectLst>
        </p:spPr>
        <p:txBody>
          <a:bodyPr lIns="45718" tIns="45718" rIns="45718" bIns="45718"/>
          <a:lstStyle/>
          <a:p>
            <a:pPr>
              <a:defRPr>
                <a:latin typeface="+mj-lt"/>
                <a:ea typeface="+mj-ea"/>
                <a:cs typeface="+mj-cs"/>
                <a:sym typeface="Calibri"/>
              </a:defRPr>
            </a:pPr>
          </a:p>
        </p:txBody>
      </p:sp>
      <p:sp>
        <p:nvSpPr>
          <p:cNvPr id="227" name="Shape 18"/>
          <p:cNvSpPr/>
          <p:nvPr/>
        </p:nvSpPr>
        <p:spPr>
          <a:xfrm>
            <a:off x="914400" y="5202935"/>
            <a:ext cx="594360" cy="59436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228" name="Image 3" descr="Image 3"/>
          <p:cNvPicPr>
            <a:picLocks noChangeAspect="1"/>
          </p:cNvPicPr>
          <p:nvPr/>
        </p:nvPicPr>
        <p:blipFill>
          <a:blip r:embed="rId6">
            <a:extLst/>
          </a:blip>
          <a:stretch>
            <a:fillRect/>
          </a:stretch>
        </p:blipFill>
        <p:spPr>
          <a:xfrm>
            <a:off x="1033272" y="5321808"/>
            <a:ext cx="356617" cy="356618"/>
          </a:xfrm>
          <a:prstGeom prst="rect">
            <a:avLst/>
          </a:prstGeom>
          <a:ln w="12700">
            <a:miter lim="400000"/>
          </a:ln>
        </p:spPr>
      </p:pic>
      <p:sp>
        <p:nvSpPr>
          <p:cNvPr id="229" name="Text 19"/>
          <p:cNvSpPr txBox="1"/>
          <p:nvPr/>
        </p:nvSpPr>
        <p:spPr>
          <a:xfrm>
            <a:off x="1828799" y="5230368"/>
            <a:ext cx="731522"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14B8A6"/>
                </a:solidFill>
                <a:latin typeface="Cambria"/>
                <a:ea typeface="Cambria"/>
                <a:cs typeface="Cambria"/>
                <a:sym typeface="Cambria"/>
              </a:defRPr>
            </a:lvl1pPr>
          </a:lstStyle>
          <a:p>
            <a:pPr/>
            <a:r>
              <a:t>04</a:t>
            </a:r>
          </a:p>
        </p:txBody>
      </p:sp>
      <p:sp>
        <p:nvSpPr>
          <p:cNvPr id="230" name="Text 20"/>
          <p:cNvSpPr txBox="1"/>
          <p:nvPr/>
        </p:nvSpPr>
        <p:spPr>
          <a:xfrm>
            <a:off x="2743200" y="5329001"/>
            <a:ext cx="3291841"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1E293B"/>
                </a:solidFill>
                <a:latin typeface="+mj-lt"/>
                <a:ea typeface="+mj-ea"/>
                <a:cs typeface="+mj-cs"/>
                <a:sym typeface="Calibri"/>
              </a:defRPr>
            </a:lvl1pPr>
          </a:lstStyle>
          <a:p>
            <a:pPr/>
            <a:r>
              <a:t>What it can't do</a:t>
            </a:r>
          </a:p>
        </p:txBody>
      </p:sp>
      <p:sp>
        <p:nvSpPr>
          <p:cNvPr id="231" name="Text 21"/>
          <p:cNvSpPr txBox="1"/>
          <p:nvPr/>
        </p:nvSpPr>
        <p:spPr>
          <a:xfrm>
            <a:off x="6172200" y="5355145"/>
            <a:ext cx="5120641" cy="2807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64748B"/>
                </a:solidFill>
                <a:latin typeface="+mj-lt"/>
                <a:ea typeface="+mj-ea"/>
                <a:cs typeface="+mj-cs"/>
                <a:sym typeface="Calibri"/>
              </a:defRPr>
            </a:lvl1pPr>
          </a:lstStyle>
          <a:p>
            <a:pPr/>
            <a:r>
              <a:t>The limits every team hits — and plans around</a:t>
            </a:r>
          </a:p>
        </p:txBody>
      </p:sp>
      <p:sp>
        <p:nvSpPr>
          <p:cNvPr id="232" name="Text 22"/>
          <p:cNvSpPr txBox="1"/>
          <p:nvPr/>
        </p:nvSpPr>
        <p:spPr>
          <a:xfrm>
            <a:off x="502919" y="6480723"/>
            <a:ext cx="53949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64748B"/>
                </a:solidFill>
                <a:latin typeface="+mj-lt"/>
                <a:ea typeface="+mj-ea"/>
                <a:cs typeface="+mj-cs"/>
                <a:sym typeface="Calibri"/>
              </a:defRPr>
            </a:lvl1pPr>
          </a:lstStyle>
          <a:p>
            <a:pPr/>
            <a:r>
              <a:t>The ₹0 AI Engineer  ·  Module 1</a:t>
            </a:r>
          </a:p>
        </p:txBody>
      </p:sp>
      <p:sp>
        <p:nvSpPr>
          <p:cNvPr id="233" name="Text 23"/>
          <p:cNvSpPr txBox="1"/>
          <p:nvPr/>
        </p:nvSpPr>
        <p:spPr>
          <a:xfrm>
            <a:off x="11323015" y="6480723"/>
            <a:ext cx="3657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900">
                <a:solidFill>
                  <a:srgbClr val="64748B"/>
                </a:solidFill>
                <a:latin typeface="+mj-lt"/>
                <a:ea typeface="+mj-ea"/>
                <a:cs typeface="+mj-cs"/>
                <a:sym typeface="Calibri"/>
              </a:defRPr>
            </a:lvl1pPr>
          </a:lstStyle>
          <a:p>
            <a:pPr/>
            <a:r>
              <a:t>2</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E05252"/>
                </a:solidFill>
                <a:latin typeface="+mj-lt"/>
                <a:ea typeface="+mj-ea"/>
                <a:cs typeface="+mj-cs"/>
                <a:sym typeface="Calibri"/>
              </a:defRPr>
            </a:lvl1pPr>
          </a:lstStyle>
          <a:p>
            <a:pPr/>
            <a:r>
              <a:t>THE GAP NOBODY MENTIONED</a:t>
            </a:r>
          </a:p>
        </p:txBody>
      </p:sp>
      <p:sp>
        <p:nvSpPr>
          <p:cNvPr id="238" name="Text 1"/>
          <p:cNvSpPr txBox="1"/>
          <p:nvPr/>
        </p:nvSpPr>
        <p:spPr>
          <a:xfrm>
            <a:off x="685800" y="914400"/>
            <a:ext cx="10881360" cy="5486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1E293B"/>
                </a:solidFill>
                <a:latin typeface="Cambria"/>
                <a:ea typeface="Cambria"/>
                <a:cs typeface="Cambria"/>
                <a:sym typeface="Cambria"/>
              </a:defRPr>
            </a:lvl1pPr>
          </a:lstStyle>
          <a:p>
            <a:pPr/>
            <a:r>
              <a:t>What you were taught  vs.  what the job needs</a:t>
            </a:r>
          </a:p>
        </p:txBody>
      </p:sp>
      <p:sp>
        <p:nvSpPr>
          <p:cNvPr id="239" name="Shape 2"/>
          <p:cNvSpPr/>
          <p:nvPr/>
        </p:nvSpPr>
        <p:spPr>
          <a:xfrm>
            <a:off x="640080" y="1691638"/>
            <a:ext cx="5349241" cy="566931"/>
          </a:xfrm>
          <a:prstGeom prst="roundRect">
            <a:avLst>
              <a:gd name="adj" fmla="val 12903"/>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240" name="Image 0" descr="Image 0"/>
          <p:cNvPicPr>
            <a:picLocks noChangeAspect="1"/>
          </p:cNvPicPr>
          <p:nvPr/>
        </p:nvPicPr>
        <p:blipFill>
          <a:blip r:embed="rId3">
            <a:extLst/>
          </a:blip>
          <a:stretch>
            <a:fillRect/>
          </a:stretch>
        </p:blipFill>
        <p:spPr>
          <a:xfrm>
            <a:off x="868680" y="1801366"/>
            <a:ext cx="347474" cy="347474"/>
          </a:xfrm>
          <a:prstGeom prst="rect">
            <a:avLst/>
          </a:prstGeom>
          <a:ln w="12700">
            <a:miter lim="400000"/>
          </a:ln>
        </p:spPr>
      </p:pic>
      <p:sp>
        <p:nvSpPr>
          <p:cNvPr id="241" name="Text 3"/>
          <p:cNvSpPr txBox="1"/>
          <p:nvPr/>
        </p:nvSpPr>
        <p:spPr>
          <a:xfrm>
            <a:off x="1371600" y="1836106"/>
            <a:ext cx="4480560"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200" sz="1500">
                <a:solidFill>
                  <a:srgbClr val="5EEAD4"/>
                </a:solidFill>
                <a:latin typeface="+mj-lt"/>
                <a:ea typeface="+mj-ea"/>
                <a:cs typeface="+mj-cs"/>
                <a:sym typeface="Calibri"/>
              </a:defRPr>
            </a:lvl1pPr>
          </a:lstStyle>
          <a:p>
            <a:pPr/>
            <a:r>
              <a:t>IN THE CLASSROOM</a:t>
            </a:r>
          </a:p>
        </p:txBody>
      </p:sp>
      <p:sp>
        <p:nvSpPr>
          <p:cNvPr id="242" name="Shape 4"/>
          <p:cNvSpPr/>
          <p:nvPr/>
        </p:nvSpPr>
        <p:spPr>
          <a:xfrm>
            <a:off x="6172200" y="1691638"/>
            <a:ext cx="5349241" cy="566931"/>
          </a:xfrm>
          <a:prstGeom prst="roundRect">
            <a:avLst>
              <a:gd name="adj" fmla="val 12903"/>
            </a:avLst>
          </a:prstGeom>
          <a:solidFill>
            <a:srgbClr val="F4A338"/>
          </a:solidFill>
          <a:ln w="12700">
            <a:miter lim="400000"/>
          </a:ln>
        </p:spPr>
        <p:txBody>
          <a:bodyPr lIns="45718" tIns="45718" rIns="45718" bIns="45718"/>
          <a:lstStyle/>
          <a:p>
            <a:pPr>
              <a:defRPr>
                <a:latin typeface="+mj-lt"/>
                <a:ea typeface="+mj-ea"/>
                <a:cs typeface="+mj-cs"/>
                <a:sym typeface="Calibri"/>
              </a:defRPr>
            </a:pPr>
          </a:p>
        </p:txBody>
      </p:sp>
      <p:pic>
        <p:nvPicPr>
          <p:cNvPr id="243" name="Image 1" descr="Image 1"/>
          <p:cNvPicPr>
            <a:picLocks noChangeAspect="1"/>
          </p:cNvPicPr>
          <p:nvPr/>
        </p:nvPicPr>
        <p:blipFill>
          <a:blip r:embed="rId4">
            <a:extLst/>
          </a:blip>
          <a:stretch>
            <a:fillRect/>
          </a:stretch>
        </p:blipFill>
        <p:spPr>
          <a:xfrm>
            <a:off x="6400800" y="1801366"/>
            <a:ext cx="347474" cy="347474"/>
          </a:xfrm>
          <a:prstGeom prst="rect">
            <a:avLst/>
          </a:prstGeom>
          <a:ln w="12700">
            <a:miter lim="400000"/>
          </a:ln>
        </p:spPr>
      </p:pic>
      <p:sp>
        <p:nvSpPr>
          <p:cNvPr id="244" name="Text 5"/>
          <p:cNvSpPr txBox="1"/>
          <p:nvPr/>
        </p:nvSpPr>
        <p:spPr>
          <a:xfrm>
            <a:off x="6903718" y="1836106"/>
            <a:ext cx="448056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200" sz="1500">
                <a:solidFill>
                  <a:srgbClr val="0F2A2E"/>
                </a:solidFill>
                <a:latin typeface="+mj-lt"/>
                <a:ea typeface="+mj-ea"/>
                <a:cs typeface="+mj-cs"/>
                <a:sym typeface="Calibri"/>
              </a:defRPr>
            </a:lvl1pPr>
          </a:lstStyle>
          <a:p>
            <a:pPr/>
            <a:r>
              <a:t>IN INDUSTRY</a:t>
            </a:r>
          </a:p>
        </p:txBody>
      </p:sp>
      <p:sp>
        <p:nvSpPr>
          <p:cNvPr id="245" name="Shape 6"/>
          <p:cNvSpPr/>
          <p:nvPr/>
        </p:nvSpPr>
        <p:spPr>
          <a:xfrm>
            <a:off x="640080" y="2395727"/>
            <a:ext cx="5349241" cy="841250"/>
          </a:xfrm>
          <a:prstGeom prst="roundRect">
            <a:avLst>
              <a:gd name="adj" fmla="val 7609"/>
            </a:avLst>
          </a:prstGeom>
          <a:solidFill>
            <a:srgbClr val="F1F5F9"/>
          </a:solidFill>
          <a:ln w="12700">
            <a:miter lim="400000"/>
          </a:ln>
        </p:spPr>
        <p:txBody>
          <a:bodyPr lIns="45718" tIns="45718" rIns="45718" bIns="45718"/>
          <a:lstStyle/>
          <a:p>
            <a:pPr>
              <a:defRPr>
                <a:latin typeface="+mj-lt"/>
                <a:ea typeface="+mj-ea"/>
                <a:cs typeface="+mj-cs"/>
                <a:sym typeface="Calibri"/>
              </a:defRPr>
            </a:pPr>
          </a:p>
        </p:txBody>
      </p:sp>
      <p:sp>
        <p:nvSpPr>
          <p:cNvPr id="246" name="Text 7"/>
          <p:cNvSpPr txBox="1"/>
          <p:nvPr/>
        </p:nvSpPr>
        <p:spPr>
          <a:xfrm>
            <a:off x="914398" y="2677354"/>
            <a:ext cx="4846323"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500">
                <a:solidFill>
                  <a:srgbClr val="1E293B"/>
                </a:solidFill>
                <a:latin typeface="+mj-lt"/>
                <a:ea typeface="+mj-ea"/>
                <a:cs typeface="+mj-cs"/>
                <a:sym typeface="Calibri"/>
              </a:defRPr>
            </a:lvl1pPr>
          </a:lstStyle>
          <a:p>
            <a:pPr/>
            <a:r>
              <a:t>Train models from scratch</a:t>
            </a:r>
          </a:p>
        </p:txBody>
      </p:sp>
      <p:sp>
        <p:nvSpPr>
          <p:cNvPr id="247" name="Shape 8"/>
          <p:cNvSpPr/>
          <p:nvPr/>
        </p:nvSpPr>
        <p:spPr>
          <a:xfrm>
            <a:off x="6172200" y="2395727"/>
            <a:ext cx="5349241" cy="841250"/>
          </a:xfrm>
          <a:prstGeom prst="roundRect">
            <a:avLst>
              <a:gd name="adj" fmla="val 7609"/>
            </a:avLst>
          </a:prstGeom>
          <a:solidFill>
            <a:srgbClr val="E8F4F2"/>
          </a:solidFill>
          <a:ln w="12700">
            <a:miter lim="400000"/>
          </a:ln>
        </p:spPr>
        <p:txBody>
          <a:bodyPr lIns="45718" tIns="45718" rIns="45718" bIns="45718"/>
          <a:lstStyle/>
          <a:p>
            <a:pPr>
              <a:defRPr>
                <a:latin typeface="+mj-lt"/>
                <a:ea typeface="+mj-ea"/>
                <a:cs typeface="+mj-cs"/>
                <a:sym typeface="Calibri"/>
              </a:defRPr>
            </a:pPr>
          </a:p>
        </p:txBody>
      </p:sp>
      <p:sp>
        <p:nvSpPr>
          <p:cNvPr id="248" name="Text 9"/>
          <p:cNvSpPr txBox="1"/>
          <p:nvPr/>
        </p:nvSpPr>
        <p:spPr>
          <a:xfrm>
            <a:off x="6446518" y="2677354"/>
            <a:ext cx="4846323"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0F2A2E"/>
                </a:solidFill>
                <a:latin typeface="+mj-lt"/>
                <a:ea typeface="+mj-ea"/>
                <a:cs typeface="+mj-cs"/>
                <a:sym typeface="Calibri"/>
              </a:defRPr>
            </a:lvl1pPr>
          </a:lstStyle>
          <a:p>
            <a:pPr/>
            <a:r>
              <a:t>Consume pre-trained models via API</a:t>
            </a:r>
          </a:p>
        </p:txBody>
      </p:sp>
      <p:sp>
        <p:nvSpPr>
          <p:cNvPr id="249" name="Shape 10"/>
          <p:cNvSpPr/>
          <p:nvPr/>
        </p:nvSpPr>
        <p:spPr>
          <a:xfrm>
            <a:off x="640080" y="3328415"/>
            <a:ext cx="5349241" cy="841250"/>
          </a:xfrm>
          <a:prstGeom prst="roundRect">
            <a:avLst>
              <a:gd name="adj" fmla="val 7609"/>
            </a:avLst>
          </a:prstGeom>
          <a:solidFill>
            <a:srgbClr val="F1F5F9"/>
          </a:solidFill>
          <a:ln w="12700">
            <a:miter lim="400000"/>
          </a:ln>
        </p:spPr>
        <p:txBody>
          <a:bodyPr lIns="45718" tIns="45718" rIns="45718" bIns="45718"/>
          <a:lstStyle/>
          <a:p>
            <a:pPr>
              <a:defRPr>
                <a:latin typeface="+mj-lt"/>
                <a:ea typeface="+mj-ea"/>
                <a:cs typeface="+mj-cs"/>
                <a:sym typeface="Calibri"/>
              </a:defRPr>
            </a:pPr>
          </a:p>
        </p:txBody>
      </p:sp>
      <p:sp>
        <p:nvSpPr>
          <p:cNvPr id="250" name="Text 11"/>
          <p:cNvSpPr txBox="1"/>
          <p:nvPr/>
        </p:nvSpPr>
        <p:spPr>
          <a:xfrm>
            <a:off x="914398" y="3610041"/>
            <a:ext cx="4846323"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500">
                <a:solidFill>
                  <a:srgbClr val="1E293B"/>
                </a:solidFill>
                <a:latin typeface="+mj-lt"/>
                <a:ea typeface="+mj-ea"/>
                <a:cs typeface="+mj-cs"/>
                <a:sym typeface="Calibri"/>
              </a:defRPr>
            </a:lvl1pPr>
          </a:lstStyle>
          <a:p>
            <a:pPr/>
            <a:r>
              <a:t>Optimise for accuracy</a:t>
            </a:r>
          </a:p>
        </p:txBody>
      </p:sp>
      <p:sp>
        <p:nvSpPr>
          <p:cNvPr id="251" name="Shape 12"/>
          <p:cNvSpPr/>
          <p:nvPr/>
        </p:nvSpPr>
        <p:spPr>
          <a:xfrm>
            <a:off x="6172200" y="3328415"/>
            <a:ext cx="5349241" cy="841250"/>
          </a:xfrm>
          <a:prstGeom prst="roundRect">
            <a:avLst>
              <a:gd name="adj" fmla="val 7609"/>
            </a:avLst>
          </a:prstGeom>
          <a:solidFill>
            <a:srgbClr val="E8F4F2"/>
          </a:solidFill>
          <a:ln w="12700">
            <a:miter lim="400000"/>
          </a:ln>
        </p:spPr>
        <p:txBody>
          <a:bodyPr lIns="45718" tIns="45718" rIns="45718" bIns="45718"/>
          <a:lstStyle/>
          <a:p>
            <a:pPr>
              <a:defRPr>
                <a:latin typeface="+mj-lt"/>
                <a:ea typeface="+mj-ea"/>
                <a:cs typeface="+mj-cs"/>
                <a:sym typeface="Calibri"/>
              </a:defRPr>
            </a:pPr>
          </a:p>
        </p:txBody>
      </p:sp>
      <p:sp>
        <p:nvSpPr>
          <p:cNvPr id="252" name="Text 13"/>
          <p:cNvSpPr txBox="1"/>
          <p:nvPr/>
        </p:nvSpPr>
        <p:spPr>
          <a:xfrm>
            <a:off x="6446518" y="3610041"/>
            <a:ext cx="4846323"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0F2A2E"/>
                </a:solidFill>
                <a:latin typeface="+mj-lt"/>
                <a:ea typeface="+mj-ea"/>
                <a:cs typeface="+mj-cs"/>
                <a:sym typeface="Calibri"/>
              </a:defRPr>
            </a:lvl1pPr>
          </a:lstStyle>
          <a:p>
            <a:pPr/>
            <a:r>
              <a:t>Optimise cost + latency + reliability together</a:t>
            </a:r>
          </a:p>
        </p:txBody>
      </p:sp>
      <p:sp>
        <p:nvSpPr>
          <p:cNvPr id="253" name="Shape 14"/>
          <p:cNvSpPr/>
          <p:nvPr/>
        </p:nvSpPr>
        <p:spPr>
          <a:xfrm>
            <a:off x="640080" y="4261103"/>
            <a:ext cx="5349241" cy="841250"/>
          </a:xfrm>
          <a:prstGeom prst="roundRect">
            <a:avLst>
              <a:gd name="adj" fmla="val 7609"/>
            </a:avLst>
          </a:prstGeom>
          <a:solidFill>
            <a:srgbClr val="F1F5F9"/>
          </a:solidFill>
          <a:ln w="12700">
            <a:miter lim="400000"/>
          </a:ln>
        </p:spPr>
        <p:txBody>
          <a:bodyPr lIns="45718" tIns="45718" rIns="45718" bIns="45718"/>
          <a:lstStyle/>
          <a:p>
            <a:pPr>
              <a:defRPr>
                <a:latin typeface="+mj-lt"/>
                <a:ea typeface="+mj-ea"/>
                <a:cs typeface="+mj-cs"/>
                <a:sym typeface="Calibri"/>
              </a:defRPr>
            </a:pPr>
          </a:p>
        </p:txBody>
      </p:sp>
      <p:sp>
        <p:nvSpPr>
          <p:cNvPr id="254" name="Text 15"/>
          <p:cNvSpPr txBox="1"/>
          <p:nvPr/>
        </p:nvSpPr>
        <p:spPr>
          <a:xfrm>
            <a:off x="914398" y="4542729"/>
            <a:ext cx="4846323"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500">
                <a:solidFill>
                  <a:srgbClr val="1E293B"/>
                </a:solidFill>
                <a:latin typeface="+mj-lt"/>
                <a:ea typeface="+mj-ea"/>
                <a:cs typeface="+mj-cs"/>
                <a:sym typeface="Calibri"/>
              </a:defRPr>
            </a:lvl1pPr>
          </a:lstStyle>
          <a:p>
            <a:pPr/>
            <a:r>
              <a:t>Curated, labelled datasets</a:t>
            </a:r>
          </a:p>
        </p:txBody>
      </p:sp>
      <p:sp>
        <p:nvSpPr>
          <p:cNvPr id="255" name="Shape 16"/>
          <p:cNvSpPr/>
          <p:nvPr/>
        </p:nvSpPr>
        <p:spPr>
          <a:xfrm>
            <a:off x="6172200" y="4261103"/>
            <a:ext cx="5349241" cy="841250"/>
          </a:xfrm>
          <a:prstGeom prst="roundRect">
            <a:avLst>
              <a:gd name="adj" fmla="val 7609"/>
            </a:avLst>
          </a:prstGeom>
          <a:solidFill>
            <a:srgbClr val="E8F4F2"/>
          </a:solidFill>
          <a:ln w="12700">
            <a:miter lim="400000"/>
          </a:ln>
        </p:spPr>
        <p:txBody>
          <a:bodyPr lIns="45718" tIns="45718" rIns="45718" bIns="45718"/>
          <a:lstStyle/>
          <a:p>
            <a:pPr>
              <a:defRPr>
                <a:latin typeface="+mj-lt"/>
                <a:ea typeface="+mj-ea"/>
                <a:cs typeface="+mj-cs"/>
                <a:sym typeface="Calibri"/>
              </a:defRPr>
            </a:pPr>
          </a:p>
        </p:txBody>
      </p:sp>
      <p:sp>
        <p:nvSpPr>
          <p:cNvPr id="256" name="Text 17"/>
          <p:cNvSpPr txBox="1"/>
          <p:nvPr/>
        </p:nvSpPr>
        <p:spPr>
          <a:xfrm>
            <a:off x="6446518" y="4542729"/>
            <a:ext cx="4846323"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0F2A2E"/>
                </a:solidFill>
                <a:latin typeface="+mj-lt"/>
                <a:ea typeface="+mj-ea"/>
                <a:cs typeface="+mj-cs"/>
                <a:sym typeface="Calibri"/>
              </a:defRPr>
            </a:lvl1pPr>
          </a:lstStyle>
          <a:p>
            <a:pPr/>
            <a:r>
              <a:t>Incomplete, drifting, costly-to-label data</a:t>
            </a:r>
          </a:p>
        </p:txBody>
      </p:sp>
      <p:sp>
        <p:nvSpPr>
          <p:cNvPr id="257" name="Shape 18"/>
          <p:cNvSpPr/>
          <p:nvPr/>
        </p:nvSpPr>
        <p:spPr>
          <a:xfrm>
            <a:off x="640080" y="5193791"/>
            <a:ext cx="5349241" cy="841250"/>
          </a:xfrm>
          <a:prstGeom prst="roundRect">
            <a:avLst>
              <a:gd name="adj" fmla="val 7609"/>
            </a:avLst>
          </a:prstGeom>
          <a:solidFill>
            <a:srgbClr val="F1F5F9"/>
          </a:solidFill>
          <a:ln w="12700">
            <a:miter lim="400000"/>
          </a:ln>
        </p:spPr>
        <p:txBody>
          <a:bodyPr lIns="45718" tIns="45718" rIns="45718" bIns="45718"/>
          <a:lstStyle/>
          <a:p>
            <a:pPr>
              <a:defRPr>
                <a:latin typeface="+mj-lt"/>
                <a:ea typeface="+mj-ea"/>
                <a:cs typeface="+mj-cs"/>
                <a:sym typeface="Calibri"/>
              </a:defRPr>
            </a:pPr>
          </a:p>
        </p:txBody>
      </p:sp>
      <p:sp>
        <p:nvSpPr>
          <p:cNvPr id="258" name="Text 19"/>
          <p:cNvSpPr txBox="1"/>
          <p:nvPr/>
        </p:nvSpPr>
        <p:spPr>
          <a:xfrm>
            <a:off x="914398" y="5475417"/>
            <a:ext cx="4846323"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500">
                <a:solidFill>
                  <a:srgbClr val="1E293B"/>
                </a:solidFill>
                <a:latin typeface="+mj-lt"/>
                <a:ea typeface="+mj-ea"/>
                <a:cs typeface="+mj-cs"/>
                <a:sym typeface="Calibri"/>
              </a:defRPr>
            </a:lvl1pPr>
          </a:lstStyle>
          <a:p>
            <a:pPr/>
            <a:r>
              <a:t>Evaluate once on a test set</a:t>
            </a:r>
          </a:p>
        </p:txBody>
      </p:sp>
      <p:sp>
        <p:nvSpPr>
          <p:cNvPr id="259" name="Shape 20"/>
          <p:cNvSpPr/>
          <p:nvPr/>
        </p:nvSpPr>
        <p:spPr>
          <a:xfrm>
            <a:off x="6172200" y="5193791"/>
            <a:ext cx="5349241" cy="841250"/>
          </a:xfrm>
          <a:prstGeom prst="roundRect">
            <a:avLst>
              <a:gd name="adj" fmla="val 7609"/>
            </a:avLst>
          </a:prstGeom>
          <a:solidFill>
            <a:srgbClr val="E8F4F2"/>
          </a:solidFill>
          <a:ln w="12700">
            <a:miter lim="400000"/>
          </a:ln>
        </p:spPr>
        <p:txBody>
          <a:bodyPr lIns="45718" tIns="45718" rIns="45718" bIns="45718"/>
          <a:lstStyle/>
          <a:p>
            <a:pPr>
              <a:defRPr>
                <a:latin typeface="+mj-lt"/>
                <a:ea typeface="+mj-ea"/>
                <a:cs typeface="+mj-cs"/>
                <a:sym typeface="Calibri"/>
              </a:defRPr>
            </a:pPr>
          </a:p>
        </p:txBody>
      </p:sp>
      <p:sp>
        <p:nvSpPr>
          <p:cNvPr id="260" name="Text 21"/>
          <p:cNvSpPr txBox="1"/>
          <p:nvPr/>
        </p:nvSpPr>
        <p:spPr>
          <a:xfrm>
            <a:off x="6446518" y="5475417"/>
            <a:ext cx="4846323"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0F2A2E"/>
                </a:solidFill>
                <a:latin typeface="+mj-lt"/>
                <a:ea typeface="+mj-ea"/>
                <a:cs typeface="+mj-cs"/>
                <a:sym typeface="Calibri"/>
              </a:defRPr>
            </a:lvl1pPr>
          </a:lstStyle>
          <a:p>
            <a:pPr/>
            <a:r>
              <a:t>Monitor behaviour continuously in production</a:t>
            </a:r>
          </a:p>
        </p:txBody>
      </p:sp>
      <p:sp>
        <p:nvSpPr>
          <p:cNvPr id="261" name="Text 22"/>
          <p:cNvSpPr txBox="1"/>
          <p:nvPr/>
        </p:nvSpPr>
        <p:spPr>
          <a:xfrm>
            <a:off x="502919" y="6480723"/>
            <a:ext cx="53949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64748B"/>
                </a:solidFill>
                <a:latin typeface="+mj-lt"/>
                <a:ea typeface="+mj-ea"/>
                <a:cs typeface="+mj-cs"/>
                <a:sym typeface="Calibri"/>
              </a:defRPr>
            </a:lvl1pPr>
          </a:lstStyle>
          <a:p>
            <a:pPr/>
            <a:r>
              <a:t>The ₹0 AI Engineer  ·  Module 1</a:t>
            </a:r>
          </a:p>
        </p:txBody>
      </p:sp>
      <p:sp>
        <p:nvSpPr>
          <p:cNvPr id="262" name="Text 23"/>
          <p:cNvSpPr txBox="1"/>
          <p:nvPr/>
        </p:nvSpPr>
        <p:spPr>
          <a:xfrm>
            <a:off x="11323015" y="6480723"/>
            <a:ext cx="3657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900">
                <a:solidFill>
                  <a:srgbClr val="64748B"/>
                </a:solidFill>
                <a:latin typeface="+mj-lt"/>
                <a:ea typeface="+mj-ea"/>
                <a:cs typeface="+mj-cs"/>
                <a:sym typeface="Calibri"/>
              </a:defRPr>
            </a:lvl1pPr>
          </a:lstStyle>
          <a:p>
            <a:pPr/>
            <a:r>
              <a:t>3</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A2E"/>
        </a:solidFill>
      </p:bgPr>
    </p:bg>
    <p:spTree>
      <p:nvGrpSpPr>
        <p:cNvPr id="1" name=""/>
        <p:cNvGrpSpPr/>
        <p:nvPr/>
      </p:nvGrpSpPr>
      <p:grpSpPr>
        <a:xfrm>
          <a:off x="0" y="0"/>
          <a:ext cx="0" cy="0"/>
          <a:chOff x="0" y="0"/>
          <a:chExt cx="0" cy="0"/>
        </a:xfrm>
      </p:grpSpPr>
      <p:sp>
        <p:nvSpPr>
          <p:cNvPr id="266"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5EEAD4"/>
                </a:solidFill>
                <a:latin typeface="+mj-lt"/>
                <a:ea typeface="+mj-ea"/>
                <a:cs typeface="+mj-cs"/>
                <a:sym typeface="Calibri"/>
              </a:defRPr>
            </a:lvl1pPr>
          </a:lstStyle>
          <a:p>
            <a:pPr/>
            <a:r>
              <a:t>REFRAME</a:t>
            </a:r>
          </a:p>
        </p:txBody>
      </p:sp>
      <p:sp>
        <p:nvSpPr>
          <p:cNvPr id="267" name="Text 1"/>
          <p:cNvSpPr txBox="1"/>
          <p:nvPr/>
        </p:nvSpPr>
        <p:spPr>
          <a:xfrm>
            <a:off x="685800" y="960120"/>
            <a:ext cx="10881360"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FFFFFF"/>
                </a:solidFill>
                <a:latin typeface="Cambria"/>
                <a:ea typeface="Cambria"/>
                <a:cs typeface="Cambria"/>
                <a:sym typeface="Cambria"/>
              </a:defRPr>
            </a:lvl1pPr>
          </a:lstStyle>
          <a:p>
            <a:pPr/>
            <a:r>
              <a:t>AI is something you rent, not something you own</a:t>
            </a:r>
          </a:p>
        </p:txBody>
      </p:sp>
      <p:sp>
        <p:nvSpPr>
          <p:cNvPr id="268" name="Shape 2"/>
          <p:cNvSpPr/>
          <p:nvPr/>
        </p:nvSpPr>
        <p:spPr>
          <a:xfrm>
            <a:off x="640080" y="2011678"/>
            <a:ext cx="3520441" cy="3108962"/>
          </a:xfrm>
          <a:prstGeom prst="roundRect">
            <a:avLst>
              <a:gd name="adj" fmla="val 3529"/>
            </a:avLst>
          </a:prstGeom>
          <a:solidFill>
            <a:srgbClr val="143A40"/>
          </a:solidFill>
          <a:ln w="12700">
            <a:solidFill>
              <a:srgbClr val="21555B"/>
            </a:solidFill>
          </a:ln>
          <a:effectLst>
            <a:outerShdw sx="100000" sy="100000" kx="0" ky="0" algn="b" rotWithShape="0" blurRad="88900" dist="38100" dir="2700000">
              <a:srgbClr val="000000">
                <a:alpha val="25000"/>
              </a:srgbClr>
            </a:outerShdw>
          </a:effectLst>
        </p:spPr>
        <p:txBody>
          <a:bodyPr lIns="45718" tIns="45718" rIns="45718" bIns="45718"/>
          <a:lstStyle/>
          <a:p>
            <a:pPr>
              <a:defRPr>
                <a:latin typeface="+mj-lt"/>
                <a:ea typeface="+mj-ea"/>
                <a:cs typeface="+mj-cs"/>
                <a:sym typeface="Calibri"/>
              </a:defRPr>
            </a:pPr>
          </a:p>
        </p:txBody>
      </p:sp>
      <p:sp>
        <p:nvSpPr>
          <p:cNvPr id="269" name="Shape 3"/>
          <p:cNvSpPr/>
          <p:nvPr/>
        </p:nvSpPr>
        <p:spPr>
          <a:xfrm>
            <a:off x="960119" y="2377438"/>
            <a:ext cx="914402" cy="914403"/>
          </a:xfrm>
          <a:prstGeom prst="ellipse">
            <a:avLst/>
          </a:prstGeom>
          <a:solidFill>
            <a:srgbClr val="0D9488"/>
          </a:solidFill>
          <a:ln w="12700">
            <a:miter lim="400000"/>
          </a:ln>
        </p:spPr>
        <p:txBody>
          <a:bodyPr lIns="45718" tIns="45718" rIns="45718" bIns="45718"/>
          <a:lstStyle/>
          <a:p>
            <a:pPr>
              <a:defRPr>
                <a:latin typeface="+mj-lt"/>
                <a:ea typeface="+mj-ea"/>
                <a:cs typeface="+mj-cs"/>
                <a:sym typeface="Calibri"/>
              </a:defRPr>
            </a:pPr>
          </a:p>
        </p:txBody>
      </p:sp>
      <p:pic>
        <p:nvPicPr>
          <p:cNvPr id="270" name="Image 0" descr="Image 0"/>
          <p:cNvPicPr>
            <a:picLocks noChangeAspect="1"/>
          </p:cNvPicPr>
          <p:nvPr/>
        </p:nvPicPr>
        <p:blipFill>
          <a:blip r:embed="rId3">
            <a:extLst/>
          </a:blip>
          <a:stretch>
            <a:fillRect/>
          </a:stretch>
        </p:blipFill>
        <p:spPr>
          <a:xfrm>
            <a:off x="1188719" y="2606038"/>
            <a:ext cx="457202" cy="457203"/>
          </a:xfrm>
          <a:prstGeom prst="rect">
            <a:avLst/>
          </a:prstGeom>
          <a:ln w="12700">
            <a:miter lim="400000"/>
          </a:ln>
        </p:spPr>
      </p:pic>
      <p:sp>
        <p:nvSpPr>
          <p:cNvPr id="271" name="Text 4"/>
          <p:cNvSpPr txBox="1"/>
          <p:nvPr/>
        </p:nvSpPr>
        <p:spPr>
          <a:xfrm>
            <a:off x="960119" y="3675339"/>
            <a:ext cx="2880362" cy="33028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900">
                <a:solidFill>
                  <a:srgbClr val="FFFFFF"/>
                </a:solidFill>
                <a:latin typeface="+mj-lt"/>
                <a:ea typeface="+mj-ea"/>
                <a:cs typeface="+mj-cs"/>
                <a:sym typeface="Calibri"/>
              </a:defRPr>
            </a:lvl1pPr>
          </a:lstStyle>
          <a:p>
            <a:pPr/>
            <a:r>
              <a:t>Bought by the call</a:t>
            </a:r>
          </a:p>
        </p:txBody>
      </p:sp>
      <p:sp>
        <p:nvSpPr>
          <p:cNvPr id="272" name="Text 5"/>
          <p:cNvSpPr txBox="1"/>
          <p:nvPr/>
        </p:nvSpPr>
        <p:spPr>
          <a:xfrm>
            <a:off x="960119" y="4363021"/>
            <a:ext cx="2926083" cy="5093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B9D4D6"/>
                </a:solidFill>
                <a:latin typeface="+mj-lt"/>
                <a:ea typeface="+mj-ea"/>
                <a:cs typeface="+mj-cs"/>
                <a:sym typeface="Calibri"/>
              </a:defRPr>
            </a:lvl1pPr>
          </a:lstStyle>
          <a:p>
            <a:pPr/>
            <a:r>
              <a:t>You pay per request — like electricity, metered by usage</a:t>
            </a:r>
          </a:p>
        </p:txBody>
      </p:sp>
      <p:sp>
        <p:nvSpPr>
          <p:cNvPr id="273" name="Shape 6"/>
          <p:cNvSpPr/>
          <p:nvPr/>
        </p:nvSpPr>
        <p:spPr>
          <a:xfrm>
            <a:off x="4361688" y="2011678"/>
            <a:ext cx="3520441" cy="3108962"/>
          </a:xfrm>
          <a:prstGeom prst="roundRect">
            <a:avLst>
              <a:gd name="adj" fmla="val 3529"/>
            </a:avLst>
          </a:prstGeom>
          <a:solidFill>
            <a:srgbClr val="143A40"/>
          </a:solidFill>
          <a:ln w="12700">
            <a:solidFill>
              <a:srgbClr val="21555B"/>
            </a:solidFill>
          </a:ln>
          <a:effectLst>
            <a:outerShdw sx="100000" sy="100000" kx="0" ky="0" algn="b" rotWithShape="0" blurRad="88900" dist="38100" dir="2700000">
              <a:srgbClr val="000000">
                <a:alpha val="25000"/>
              </a:srgbClr>
            </a:outerShdw>
          </a:effectLst>
        </p:spPr>
        <p:txBody>
          <a:bodyPr lIns="45718" tIns="45718" rIns="45718" bIns="45718"/>
          <a:lstStyle/>
          <a:p>
            <a:pPr>
              <a:defRPr>
                <a:latin typeface="+mj-lt"/>
                <a:ea typeface="+mj-ea"/>
                <a:cs typeface="+mj-cs"/>
                <a:sym typeface="Calibri"/>
              </a:defRPr>
            </a:pPr>
          </a:p>
        </p:txBody>
      </p:sp>
      <p:sp>
        <p:nvSpPr>
          <p:cNvPr id="274" name="Shape 7"/>
          <p:cNvSpPr/>
          <p:nvPr/>
        </p:nvSpPr>
        <p:spPr>
          <a:xfrm>
            <a:off x="4681728" y="2377438"/>
            <a:ext cx="914403" cy="914403"/>
          </a:xfrm>
          <a:prstGeom prst="ellipse">
            <a:avLst/>
          </a:prstGeom>
          <a:solidFill>
            <a:srgbClr val="0D9488"/>
          </a:solidFill>
          <a:ln w="12700">
            <a:miter lim="400000"/>
          </a:ln>
        </p:spPr>
        <p:txBody>
          <a:bodyPr lIns="45718" tIns="45718" rIns="45718" bIns="45718"/>
          <a:lstStyle/>
          <a:p>
            <a:pPr>
              <a:defRPr>
                <a:latin typeface="+mj-lt"/>
                <a:ea typeface="+mj-ea"/>
                <a:cs typeface="+mj-cs"/>
                <a:sym typeface="Calibri"/>
              </a:defRPr>
            </a:pPr>
          </a:p>
        </p:txBody>
      </p:sp>
      <p:pic>
        <p:nvPicPr>
          <p:cNvPr id="275" name="Image 1" descr="Image 1"/>
          <p:cNvPicPr>
            <a:picLocks noChangeAspect="1"/>
          </p:cNvPicPr>
          <p:nvPr/>
        </p:nvPicPr>
        <p:blipFill>
          <a:blip r:embed="rId4">
            <a:extLst/>
          </a:blip>
          <a:stretch>
            <a:fillRect/>
          </a:stretch>
        </p:blipFill>
        <p:spPr>
          <a:xfrm>
            <a:off x="4910328" y="2606038"/>
            <a:ext cx="457202" cy="457203"/>
          </a:xfrm>
          <a:prstGeom prst="rect">
            <a:avLst/>
          </a:prstGeom>
          <a:ln w="12700">
            <a:miter lim="400000"/>
          </a:ln>
        </p:spPr>
      </p:pic>
      <p:sp>
        <p:nvSpPr>
          <p:cNvPr id="276" name="Text 8"/>
          <p:cNvSpPr txBox="1"/>
          <p:nvPr/>
        </p:nvSpPr>
        <p:spPr>
          <a:xfrm>
            <a:off x="4681728" y="3675339"/>
            <a:ext cx="2880362" cy="33028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900">
                <a:solidFill>
                  <a:srgbClr val="FFFFFF"/>
                </a:solidFill>
                <a:latin typeface="+mj-lt"/>
                <a:ea typeface="+mj-ea"/>
                <a:cs typeface="+mj-cs"/>
                <a:sym typeface="Calibri"/>
              </a:defRPr>
            </a:lvl1pPr>
          </a:lstStyle>
          <a:p>
            <a:pPr/>
            <a:r>
              <a:t>Measured by speed</a:t>
            </a:r>
          </a:p>
        </p:txBody>
      </p:sp>
      <p:sp>
        <p:nvSpPr>
          <p:cNvPr id="277" name="Text 9"/>
          <p:cNvSpPr txBox="1"/>
          <p:nvPr/>
        </p:nvSpPr>
        <p:spPr>
          <a:xfrm>
            <a:off x="4681728" y="4363021"/>
            <a:ext cx="2926082" cy="5093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B9D4D6"/>
                </a:solidFill>
                <a:latin typeface="+mj-lt"/>
                <a:ea typeface="+mj-ea"/>
                <a:cs typeface="+mj-cs"/>
                <a:sym typeface="Calibri"/>
              </a:defRPr>
            </a:lvl1pPr>
          </a:lstStyle>
          <a:p>
            <a:pPr/>
            <a:r>
              <a:t>Latency &amp; throughput decide if it's usable in production</a:t>
            </a:r>
          </a:p>
        </p:txBody>
      </p:sp>
      <p:sp>
        <p:nvSpPr>
          <p:cNvPr id="278" name="Shape 10"/>
          <p:cNvSpPr/>
          <p:nvPr/>
        </p:nvSpPr>
        <p:spPr>
          <a:xfrm>
            <a:off x="8083294" y="2011678"/>
            <a:ext cx="3520442" cy="3108962"/>
          </a:xfrm>
          <a:prstGeom prst="roundRect">
            <a:avLst>
              <a:gd name="adj" fmla="val 3529"/>
            </a:avLst>
          </a:prstGeom>
          <a:solidFill>
            <a:srgbClr val="143A40"/>
          </a:solidFill>
          <a:ln w="12700">
            <a:solidFill>
              <a:srgbClr val="21555B"/>
            </a:solidFill>
          </a:ln>
          <a:effectLst>
            <a:outerShdw sx="100000" sy="100000" kx="0" ky="0" algn="b" rotWithShape="0" blurRad="88900" dist="38100" dir="2700000">
              <a:srgbClr val="000000">
                <a:alpha val="25000"/>
              </a:srgbClr>
            </a:outerShdw>
          </a:effectLst>
        </p:spPr>
        <p:txBody>
          <a:bodyPr lIns="45718" tIns="45718" rIns="45718" bIns="45718"/>
          <a:lstStyle/>
          <a:p>
            <a:pPr>
              <a:defRPr>
                <a:latin typeface="+mj-lt"/>
                <a:ea typeface="+mj-ea"/>
                <a:cs typeface="+mj-cs"/>
                <a:sym typeface="Calibri"/>
              </a:defRPr>
            </a:pPr>
          </a:p>
        </p:txBody>
      </p:sp>
      <p:sp>
        <p:nvSpPr>
          <p:cNvPr id="279" name="Shape 11"/>
          <p:cNvSpPr/>
          <p:nvPr/>
        </p:nvSpPr>
        <p:spPr>
          <a:xfrm>
            <a:off x="8403335" y="2377438"/>
            <a:ext cx="914403" cy="914403"/>
          </a:xfrm>
          <a:prstGeom prst="ellipse">
            <a:avLst/>
          </a:prstGeom>
          <a:solidFill>
            <a:srgbClr val="0D9488"/>
          </a:solidFill>
          <a:ln w="12700">
            <a:miter lim="400000"/>
          </a:ln>
        </p:spPr>
        <p:txBody>
          <a:bodyPr lIns="45718" tIns="45718" rIns="45718" bIns="45718"/>
          <a:lstStyle/>
          <a:p>
            <a:pPr>
              <a:defRPr>
                <a:latin typeface="+mj-lt"/>
                <a:ea typeface="+mj-ea"/>
                <a:cs typeface="+mj-cs"/>
                <a:sym typeface="Calibri"/>
              </a:defRPr>
            </a:pPr>
          </a:p>
        </p:txBody>
      </p:sp>
      <p:pic>
        <p:nvPicPr>
          <p:cNvPr id="280" name="Image 2" descr="Image 2"/>
          <p:cNvPicPr>
            <a:picLocks noChangeAspect="1"/>
          </p:cNvPicPr>
          <p:nvPr/>
        </p:nvPicPr>
        <p:blipFill>
          <a:blip r:embed="rId5">
            <a:extLst/>
          </a:blip>
          <a:stretch>
            <a:fillRect/>
          </a:stretch>
        </p:blipFill>
        <p:spPr>
          <a:xfrm>
            <a:off x="8631935" y="2606038"/>
            <a:ext cx="457202" cy="457203"/>
          </a:xfrm>
          <a:prstGeom prst="rect">
            <a:avLst/>
          </a:prstGeom>
          <a:ln w="12700">
            <a:miter lim="400000"/>
          </a:ln>
        </p:spPr>
      </p:pic>
      <p:sp>
        <p:nvSpPr>
          <p:cNvPr id="281" name="Text 12"/>
          <p:cNvSpPr txBox="1"/>
          <p:nvPr/>
        </p:nvSpPr>
        <p:spPr>
          <a:xfrm>
            <a:off x="8403335" y="3529289"/>
            <a:ext cx="2880362" cy="62238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900">
                <a:solidFill>
                  <a:srgbClr val="FFFFFF"/>
                </a:solidFill>
                <a:latin typeface="+mj-lt"/>
                <a:ea typeface="+mj-ea"/>
                <a:cs typeface="+mj-cs"/>
                <a:sym typeface="Calibri"/>
              </a:defRPr>
            </a:lvl1pPr>
          </a:lstStyle>
          <a:p>
            <a:pPr/>
            <a:r>
              <a:t>Judged on cost-per-outcome</a:t>
            </a:r>
          </a:p>
        </p:txBody>
      </p:sp>
      <p:sp>
        <p:nvSpPr>
          <p:cNvPr id="282" name="Text 13"/>
          <p:cNvSpPr txBox="1"/>
          <p:nvPr/>
        </p:nvSpPr>
        <p:spPr>
          <a:xfrm>
            <a:off x="8403335" y="4363021"/>
            <a:ext cx="2926083" cy="5093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B9D4D6"/>
                </a:solidFill>
                <a:latin typeface="+mj-lt"/>
                <a:ea typeface="+mj-ea"/>
                <a:cs typeface="+mj-cs"/>
                <a:sym typeface="Calibri"/>
              </a:defRPr>
            </a:lvl1pPr>
          </a:lstStyle>
          <a:p>
            <a:pPr/>
            <a:r>
              <a:t>Not 'is it smart?' but 'what does a correct answer cost?'</a:t>
            </a:r>
          </a:p>
        </p:txBody>
      </p:sp>
      <p:sp>
        <p:nvSpPr>
          <p:cNvPr id="283" name="Text 14"/>
          <p:cNvSpPr txBox="1"/>
          <p:nvPr/>
        </p:nvSpPr>
        <p:spPr>
          <a:xfrm>
            <a:off x="685799" y="5652771"/>
            <a:ext cx="10789922" cy="307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500">
                <a:solidFill>
                  <a:srgbClr val="5EEAD4"/>
                </a:solidFill>
                <a:latin typeface="Cambria"/>
                <a:ea typeface="Cambria"/>
                <a:cs typeface="Cambria"/>
                <a:sym typeface="Cambria"/>
              </a:defRPr>
            </a:lvl1pPr>
          </a:lstStyle>
          <a:p>
            <a:pPr/>
            <a:r>
              <a:t>“You don't need a GPU. You need good judgement about which API to call — and how to design the call.”</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0D9488"/>
                </a:solidFill>
                <a:latin typeface="+mj-lt"/>
                <a:ea typeface="+mj-ea"/>
                <a:cs typeface="+mj-cs"/>
                <a:sym typeface="Calibri"/>
              </a:defRPr>
            </a:lvl1pPr>
          </a:lstStyle>
          <a:p>
            <a:pPr/>
            <a:r>
              <a:t>THE UNIT OF EVERYTHING</a:t>
            </a:r>
          </a:p>
        </p:txBody>
      </p:sp>
      <p:sp>
        <p:nvSpPr>
          <p:cNvPr id="288" name="Text 1"/>
          <p:cNvSpPr txBox="1"/>
          <p:nvPr/>
        </p:nvSpPr>
        <p:spPr>
          <a:xfrm>
            <a:off x="685800" y="972820"/>
            <a:ext cx="10881360" cy="523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900">
                <a:solidFill>
                  <a:srgbClr val="1E293B"/>
                </a:solidFill>
                <a:latin typeface="Cambria"/>
                <a:ea typeface="Cambria"/>
                <a:cs typeface="Cambria"/>
                <a:sym typeface="Cambria"/>
              </a:defRPr>
            </a:lvl1pPr>
          </a:lstStyle>
          <a:p>
            <a:pPr/>
            <a:r>
              <a:t>A token is a chunk of text — and the unit of billing</a:t>
            </a:r>
          </a:p>
        </p:txBody>
      </p:sp>
      <p:sp>
        <p:nvSpPr>
          <p:cNvPr id="289" name="Text 2"/>
          <p:cNvSpPr txBox="1"/>
          <p:nvPr/>
        </p:nvSpPr>
        <p:spPr>
          <a:xfrm>
            <a:off x="685800" y="1815664"/>
            <a:ext cx="10881360" cy="3005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600">
                <a:solidFill>
                  <a:srgbClr val="64748B"/>
                </a:solidFill>
                <a:latin typeface="+mj-lt"/>
                <a:ea typeface="+mj-ea"/>
                <a:cs typeface="+mj-cs"/>
                <a:sym typeface="Calibri"/>
              </a:defRPr>
            </a:lvl1pPr>
          </a:lstStyle>
          <a:p>
            <a:pPr/>
            <a:r>
              <a:t>The model never sees words. It sees tokens:</a:t>
            </a:r>
          </a:p>
        </p:txBody>
      </p:sp>
      <p:sp>
        <p:nvSpPr>
          <p:cNvPr id="290" name="Shape 3"/>
          <p:cNvSpPr/>
          <p:nvPr/>
        </p:nvSpPr>
        <p:spPr>
          <a:xfrm>
            <a:off x="640080" y="2240278"/>
            <a:ext cx="1417320" cy="868682"/>
          </a:xfrm>
          <a:prstGeom prst="roundRect">
            <a:avLst>
              <a:gd name="adj" fmla="val 10526"/>
            </a:avLst>
          </a:prstGeom>
          <a:solidFill>
            <a:srgbClr val="0D9488"/>
          </a:solidFill>
          <a:ln w="12700">
            <a:miter lim="400000"/>
          </a:ln>
          <a:effectLst>
            <a:outerShdw sx="100000" sy="100000" kx="0" ky="0" algn="b" rotWithShape="0" blurRad="88900" dist="38100" dir="2700000">
              <a:srgbClr val="000000">
                <a:alpha val="15000"/>
              </a:srgbClr>
            </a:outerShdw>
          </a:effectLst>
        </p:spPr>
        <p:txBody>
          <a:bodyPr lIns="45718" tIns="45718" rIns="45718" bIns="45718"/>
          <a:lstStyle/>
          <a:p>
            <a:pPr>
              <a:defRPr>
                <a:latin typeface="+mj-lt"/>
                <a:ea typeface="+mj-ea"/>
                <a:cs typeface="+mj-cs"/>
                <a:sym typeface="Calibri"/>
              </a:defRPr>
            </a:pPr>
          </a:p>
        </p:txBody>
      </p:sp>
      <p:sp>
        <p:nvSpPr>
          <p:cNvPr id="291" name="Text 4"/>
          <p:cNvSpPr txBox="1"/>
          <p:nvPr/>
        </p:nvSpPr>
        <p:spPr>
          <a:xfrm>
            <a:off x="685800" y="2457450"/>
            <a:ext cx="1325881" cy="434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400">
                <a:solidFill>
                  <a:srgbClr val="FFFFFF"/>
                </a:solidFill>
                <a:latin typeface="Courier New"/>
                <a:ea typeface="Courier New"/>
                <a:cs typeface="Courier New"/>
                <a:sym typeface="Courier New"/>
              </a:defRPr>
            </a:lvl1pPr>
          </a:lstStyle>
          <a:p>
            <a:pPr/>
            <a:r>
              <a:t>Un</a:t>
            </a:r>
          </a:p>
        </p:txBody>
      </p:sp>
      <p:sp>
        <p:nvSpPr>
          <p:cNvPr id="292" name="Shape 5"/>
          <p:cNvSpPr/>
          <p:nvPr/>
        </p:nvSpPr>
        <p:spPr>
          <a:xfrm>
            <a:off x="2194560" y="2240278"/>
            <a:ext cx="1417322" cy="868682"/>
          </a:xfrm>
          <a:prstGeom prst="roundRect">
            <a:avLst>
              <a:gd name="adj" fmla="val 10526"/>
            </a:avLst>
          </a:prstGeom>
          <a:solidFill>
            <a:srgbClr val="14B8A6"/>
          </a:solidFill>
          <a:ln w="12700">
            <a:miter lim="400000"/>
          </a:ln>
          <a:effectLst>
            <a:outerShdw sx="100000" sy="100000" kx="0" ky="0" algn="b" rotWithShape="0" blurRad="88900" dist="38100" dir="2700000">
              <a:srgbClr val="000000">
                <a:alpha val="15000"/>
              </a:srgbClr>
            </a:outerShdw>
          </a:effectLst>
        </p:spPr>
        <p:txBody>
          <a:bodyPr lIns="45718" tIns="45718" rIns="45718" bIns="45718"/>
          <a:lstStyle/>
          <a:p>
            <a:pPr>
              <a:defRPr>
                <a:latin typeface="+mj-lt"/>
                <a:ea typeface="+mj-ea"/>
                <a:cs typeface="+mj-cs"/>
                <a:sym typeface="Calibri"/>
              </a:defRPr>
            </a:pPr>
          </a:p>
        </p:txBody>
      </p:sp>
      <p:sp>
        <p:nvSpPr>
          <p:cNvPr id="293" name="Text 6"/>
          <p:cNvSpPr txBox="1"/>
          <p:nvPr/>
        </p:nvSpPr>
        <p:spPr>
          <a:xfrm>
            <a:off x="2240279" y="2457450"/>
            <a:ext cx="1325882" cy="434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400">
                <a:solidFill>
                  <a:srgbClr val="FFFFFF"/>
                </a:solidFill>
                <a:latin typeface="Courier New"/>
                <a:ea typeface="Courier New"/>
                <a:cs typeface="Courier New"/>
                <a:sym typeface="Courier New"/>
              </a:defRPr>
            </a:lvl1pPr>
          </a:lstStyle>
          <a:p>
            <a:pPr/>
            <a:r>
              <a:t>bel</a:t>
            </a:r>
          </a:p>
        </p:txBody>
      </p:sp>
      <p:sp>
        <p:nvSpPr>
          <p:cNvPr id="294" name="Shape 7"/>
          <p:cNvSpPr/>
          <p:nvPr/>
        </p:nvSpPr>
        <p:spPr>
          <a:xfrm>
            <a:off x="3749040" y="2240278"/>
            <a:ext cx="1417322" cy="868682"/>
          </a:xfrm>
          <a:prstGeom prst="roundRect">
            <a:avLst>
              <a:gd name="adj" fmla="val 10526"/>
            </a:avLst>
          </a:prstGeom>
          <a:solidFill>
            <a:srgbClr val="F4A338"/>
          </a:solidFill>
          <a:ln w="12700">
            <a:miter lim="400000"/>
          </a:ln>
          <a:effectLst>
            <a:outerShdw sx="100000" sy="100000" kx="0" ky="0" algn="b" rotWithShape="0" blurRad="88900" dist="38100" dir="2700000">
              <a:srgbClr val="000000">
                <a:alpha val="15000"/>
              </a:srgbClr>
            </a:outerShdw>
          </a:effectLst>
        </p:spPr>
        <p:txBody>
          <a:bodyPr lIns="45718" tIns="45718" rIns="45718" bIns="45718"/>
          <a:lstStyle/>
          <a:p>
            <a:pPr>
              <a:defRPr>
                <a:latin typeface="+mj-lt"/>
                <a:ea typeface="+mj-ea"/>
                <a:cs typeface="+mj-cs"/>
                <a:sym typeface="Calibri"/>
              </a:defRPr>
            </a:pPr>
          </a:p>
        </p:txBody>
      </p:sp>
      <p:sp>
        <p:nvSpPr>
          <p:cNvPr id="295" name="Text 8"/>
          <p:cNvSpPr txBox="1"/>
          <p:nvPr/>
        </p:nvSpPr>
        <p:spPr>
          <a:xfrm>
            <a:off x="3794759" y="2457450"/>
            <a:ext cx="1325882" cy="434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400">
                <a:solidFill>
                  <a:srgbClr val="FFFFFF"/>
                </a:solidFill>
                <a:latin typeface="Courier New"/>
                <a:ea typeface="Courier New"/>
                <a:cs typeface="Courier New"/>
                <a:sym typeface="Courier New"/>
              </a:defRPr>
            </a:lvl1pPr>
          </a:lstStyle>
          <a:p>
            <a:pPr/>
            <a:r>
              <a:t>iev</a:t>
            </a:r>
          </a:p>
        </p:txBody>
      </p:sp>
      <p:sp>
        <p:nvSpPr>
          <p:cNvPr id="296" name="Shape 9"/>
          <p:cNvSpPr/>
          <p:nvPr/>
        </p:nvSpPr>
        <p:spPr>
          <a:xfrm>
            <a:off x="5303520" y="2240278"/>
            <a:ext cx="1417322" cy="868682"/>
          </a:xfrm>
          <a:prstGeom prst="roundRect">
            <a:avLst>
              <a:gd name="adj" fmla="val 10526"/>
            </a:avLst>
          </a:prstGeom>
          <a:solidFill>
            <a:srgbClr val="0F2A2E"/>
          </a:solidFill>
          <a:ln w="12700">
            <a:miter lim="400000"/>
          </a:ln>
          <a:effectLst>
            <a:outerShdw sx="100000" sy="100000" kx="0" ky="0" algn="b" rotWithShape="0" blurRad="88900" dist="38100" dir="2700000">
              <a:srgbClr val="000000">
                <a:alpha val="15000"/>
              </a:srgbClr>
            </a:outerShdw>
          </a:effectLst>
        </p:spPr>
        <p:txBody>
          <a:bodyPr lIns="45718" tIns="45718" rIns="45718" bIns="45718"/>
          <a:lstStyle/>
          <a:p>
            <a:pPr>
              <a:defRPr>
                <a:latin typeface="+mj-lt"/>
                <a:ea typeface="+mj-ea"/>
                <a:cs typeface="+mj-cs"/>
                <a:sym typeface="Calibri"/>
              </a:defRPr>
            </a:pPr>
          </a:p>
        </p:txBody>
      </p:sp>
      <p:sp>
        <p:nvSpPr>
          <p:cNvPr id="297" name="Text 10"/>
          <p:cNvSpPr txBox="1"/>
          <p:nvPr/>
        </p:nvSpPr>
        <p:spPr>
          <a:xfrm>
            <a:off x="5349240" y="2457450"/>
            <a:ext cx="1325882" cy="434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2400">
                <a:solidFill>
                  <a:srgbClr val="FFFFFF"/>
                </a:solidFill>
                <a:latin typeface="Courier New"/>
                <a:ea typeface="Courier New"/>
                <a:cs typeface="Courier New"/>
                <a:sym typeface="Courier New"/>
              </a:defRPr>
            </a:lvl1pPr>
          </a:lstStyle>
          <a:p>
            <a:pPr/>
            <a:r>
              <a:t>able</a:t>
            </a:r>
          </a:p>
        </p:txBody>
      </p:sp>
      <p:sp>
        <p:nvSpPr>
          <p:cNvPr id="298" name="Text 11"/>
          <p:cNvSpPr txBox="1"/>
          <p:nvPr/>
        </p:nvSpPr>
        <p:spPr>
          <a:xfrm>
            <a:off x="6995159" y="2454911"/>
            <a:ext cx="4480562" cy="4851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600">
                <a:solidFill>
                  <a:srgbClr val="1E293B"/>
                </a:solidFill>
                <a:latin typeface="Cambria"/>
                <a:ea typeface="Cambria"/>
                <a:cs typeface="Cambria"/>
                <a:sym typeface="Cambria"/>
              </a:defRPr>
            </a:lvl1pPr>
          </a:lstStyle>
          <a:p>
            <a:pPr/>
            <a:r>
              <a:t>1 word  →  4 tokens</a:t>
            </a:r>
          </a:p>
        </p:txBody>
      </p:sp>
      <p:sp>
        <p:nvSpPr>
          <p:cNvPr id="299" name="Shape 12"/>
          <p:cNvSpPr/>
          <p:nvPr/>
        </p:nvSpPr>
        <p:spPr>
          <a:xfrm>
            <a:off x="640080" y="3611879"/>
            <a:ext cx="5349241" cy="960122"/>
          </a:xfrm>
          <a:prstGeom prst="roundRect">
            <a:avLst>
              <a:gd name="adj" fmla="val 8571"/>
            </a:avLst>
          </a:prstGeom>
          <a:solidFill>
            <a:srgbClr val="F1F5F9"/>
          </a:solidFill>
          <a:ln w="12700">
            <a:miter lim="400000"/>
          </a:ln>
        </p:spPr>
        <p:txBody>
          <a:bodyPr lIns="45718" tIns="45718" rIns="45718" bIns="45718"/>
          <a:lstStyle/>
          <a:p>
            <a:pPr>
              <a:defRPr>
                <a:latin typeface="+mj-lt"/>
                <a:ea typeface="+mj-ea"/>
                <a:cs typeface="+mj-cs"/>
                <a:sym typeface="Calibri"/>
              </a:defRPr>
            </a:pPr>
          </a:p>
        </p:txBody>
      </p:sp>
      <p:sp>
        <p:nvSpPr>
          <p:cNvPr id="300" name="Text 13"/>
          <p:cNvSpPr txBox="1"/>
          <p:nvPr/>
        </p:nvSpPr>
        <p:spPr>
          <a:xfrm>
            <a:off x="960118" y="3760805"/>
            <a:ext cx="4846323"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0D9488"/>
                </a:solidFill>
                <a:latin typeface="+mj-lt"/>
                <a:ea typeface="+mj-ea"/>
                <a:cs typeface="+mj-cs"/>
                <a:sym typeface="Calibri"/>
              </a:defRPr>
            </a:lvl1pPr>
          </a:lstStyle>
          <a:p>
            <a:pPr/>
            <a:r>
              <a:t>≈ 4 characters</a:t>
            </a:r>
          </a:p>
        </p:txBody>
      </p:sp>
      <p:sp>
        <p:nvSpPr>
          <p:cNvPr id="301" name="Text 14"/>
          <p:cNvSpPr txBox="1"/>
          <p:nvPr/>
        </p:nvSpPr>
        <p:spPr>
          <a:xfrm>
            <a:off x="960118" y="4177723"/>
            <a:ext cx="4846323" cy="2582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4748B"/>
                </a:solidFill>
                <a:latin typeface="+mj-lt"/>
                <a:ea typeface="+mj-ea"/>
                <a:cs typeface="+mj-cs"/>
                <a:sym typeface="Calibri"/>
              </a:defRPr>
            </a:lvl1pPr>
          </a:lstStyle>
          <a:p>
            <a:pPr/>
            <a:r>
              <a:t>is roughly one token in English</a:t>
            </a:r>
          </a:p>
        </p:txBody>
      </p:sp>
      <p:sp>
        <p:nvSpPr>
          <p:cNvPr id="302" name="Shape 15"/>
          <p:cNvSpPr/>
          <p:nvPr/>
        </p:nvSpPr>
        <p:spPr>
          <a:xfrm>
            <a:off x="6172200" y="3611879"/>
            <a:ext cx="5349241" cy="960122"/>
          </a:xfrm>
          <a:prstGeom prst="roundRect">
            <a:avLst>
              <a:gd name="adj" fmla="val 8571"/>
            </a:avLst>
          </a:prstGeom>
          <a:solidFill>
            <a:srgbClr val="F1F5F9"/>
          </a:solidFill>
          <a:ln w="12700">
            <a:miter lim="400000"/>
          </a:ln>
        </p:spPr>
        <p:txBody>
          <a:bodyPr lIns="45718" tIns="45718" rIns="45718" bIns="45718"/>
          <a:lstStyle/>
          <a:p>
            <a:pPr>
              <a:defRPr>
                <a:latin typeface="+mj-lt"/>
                <a:ea typeface="+mj-ea"/>
                <a:cs typeface="+mj-cs"/>
                <a:sym typeface="Calibri"/>
              </a:defRPr>
            </a:pPr>
          </a:p>
        </p:txBody>
      </p:sp>
      <p:sp>
        <p:nvSpPr>
          <p:cNvPr id="303" name="Text 16"/>
          <p:cNvSpPr txBox="1"/>
          <p:nvPr/>
        </p:nvSpPr>
        <p:spPr>
          <a:xfrm>
            <a:off x="6492238" y="3760805"/>
            <a:ext cx="4846323"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0D9488"/>
                </a:solidFill>
                <a:latin typeface="+mj-lt"/>
                <a:ea typeface="+mj-ea"/>
                <a:cs typeface="+mj-cs"/>
                <a:sym typeface="Calibri"/>
              </a:defRPr>
            </a:lvl1pPr>
          </a:lstStyle>
          <a:p>
            <a:pPr/>
            <a:r>
              <a:t>≈ ¾ of a word</a:t>
            </a:r>
          </a:p>
        </p:txBody>
      </p:sp>
      <p:sp>
        <p:nvSpPr>
          <p:cNvPr id="304" name="Text 17"/>
          <p:cNvSpPr txBox="1"/>
          <p:nvPr/>
        </p:nvSpPr>
        <p:spPr>
          <a:xfrm>
            <a:off x="6492238" y="4177723"/>
            <a:ext cx="4846323" cy="2582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4748B"/>
                </a:solidFill>
                <a:latin typeface="+mj-lt"/>
                <a:ea typeface="+mj-ea"/>
                <a:cs typeface="+mj-cs"/>
                <a:sym typeface="Calibri"/>
              </a:defRPr>
            </a:lvl1pPr>
          </a:lstStyle>
          <a:p>
            <a:pPr/>
            <a:r>
              <a:t>100 tokens ≈ 75 words ≈ a short paragraph</a:t>
            </a:r>
          </a:p>
        </p:txBody>
      </p:sp>
      <p:sp>
        <p:nvSpPr>
          <p:cNvPr id="305" name="Shape 18"/>
          <p:cNvSpPr/>
          <p:nvPr/>
        </p:nvSpPr>
        <p:spPr>
          <a:xfrm>
            <a:off x="640080" y="4754879"/>
            <a:ext cx="5349241" cy="960122"/>
          </a:xfrm>
          <a:prstGeom prst="roundRect">
            <a:avLst>
              <a:gd name="adj" fmla="val 8571"/>
            </a:avLst>
          </a:prstGeom>
          <a:solidFill>
            <a:srgbClr val="F1F5F9"/>
          </a:solidFill>
          <a:ln w="12700">
            <a:miter lim="400000"/>
          </a:ln>
        </p:spPr>
        <p:txBody>
          <a:bodyPr lIns="45718" tIns="45718" rIns="45718" bIns="45718"/>
          <a:lstStyle/>
          <a:p>
            <a:pPr>
              <a:defRPr>
                <a:latin typeface="+mj-lt"/>
                <a:ea typeface="+mj-ea"/>
                <a:cs typeface="+mj-cs"/>
                <a:sym typeface="Calibri"/>
              </a:defRPr>
            </a:pPr>
          </a:p>
        </p:txBody>
      </p:sp>
      <p:sp>
        <p:nvSpPr>
          <p:cNvPr id="306" name="Text 19"/>
          <p:cNvSpPr txBox="1"/>
          <p:nvPr/>
        </p:nvSpPr>
        <p:spPr>
          <a:xfrm>
            <a:off x="960118" y="4903805"/>
            <a:ext cx="4846323"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0D9488"/>
                </a:solidFill>
                <a:latin typeface="+mj-lt"/>
                <a:ea typeface="+mj-ea"/>
                <a:cs typeface="+mj-cs"/>
                <a:sym typeface="Calibri"/>
              </a:defRPr>
            </a:lvl1pPr>
          </a:lstStyle>
          <a:p>
            <a:pPr/>
            <a:r>
              <a:t>Rare &amp; long words</a:t>
            </a:r>
          </a:p>
        </p:txBody>
      </p:sp>
      <p:sp>
        <p:nvSpPr>
          <p:cNvPr id="307" name="Text 20"/>
          <p:cNvSpPr txBox="1"/>
          <p:nvPr/>
        </p:nvSpPr>
        <p:spPr>
          <a:xfrm>
            <a:off x="960118" y="5320723"/>
            <a:ext cx="4846323" cy="2582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4748B"/>
                </a:solidFill>
                <a:latin typeface="+mj-lt"/>
                <a:ea typeface="+mj-ea"/>
                <a:cs typeface="+mj-cs"/>
                <a:sym typeface="Calibri"/>
              </a:defRPr>
            </a:lvl1pPr>
          </a:lstStyle>
          <a:p>
            <a:pPr/>
            <a:r>
              <a:t>split into MORE tokens — they cost more</a:t>
            </a:r>
          </a:p>
        </p:txBody>
      </p:sp>
      <p:sp>
        <p:nvSpPr>
          <p:cNvPr id="308" name="Shape 21"/>
          <p:cNvSpPr/>
          <p:nvPr/>
        </p:nvSpPr>
        <p:spPr>
          <a:xfrm>
            <a:off x="6172200" y="4754879"/>
            <a:ext cx="5349241" cy="960122"/>
          </a:xfrm>
          <a:prstGeom prst="roundRect">
            <a:avLst>
              <a:gd name="adj" fmla="val 8571"/>
            </a:avLst>
          </a:prstGeom>
          <a:solidFill>
            <a:srgbClr val="F1F5F9"/>
          </a:solidFill>
          <a:ln w="12700">
            <a:miter lim="400000"/>
          </a:ln>
        </p:spPr>
        <p:txBody>
          <a:bodyPr lIns="45718" tIns="45718" rIns="45718" bIns="45718"/>
          <a:lstStyle/>
          <a:p>
            <a:pPr>
              <a:defRPr>
                <a:latin typeface="+mj-lt"/>
                <a:ea typeface="+mj-ea"/>
                <a:cs typeface="+mj-cs"/>
                <a:sym typeface="Calibri"/>
              </a:defRPr>
            </a:pPr>
          </a:p>
        </p:txBody>
      </p:sp>
      <p:sp>
        <p:nvSpPr>
          <p:cNvPr id="309" name="Text 22"/>
          <p:cNvSpPr txBox="1"/>
          <p:nvPr/>
        </p:nvSpPr>
        <p:spPr>
          <a:xfrm>
            <a:off x="6492238" y="4903805"/>
            <a:ext cx="4846323"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0D9488"/>
                </a:solidFill>
                <a:latin typeface="+mj-lt"/>
                <a:ea typeface="+mj-ea"/>
                <a:cs typeface="+mj-cs"/>
                <a:sym typeface="Calibri"/>
              </a:defRPr>
            </a:lvl1pPr>
          </a:lstStyle>
          <a:p>
            <a:pPr/>
            <a:r>
              <a:t>Spaces &amp; punctuation</a:t>
            </a:r>
          </a:p>
        </p:txBody>
      </p:sp>
      <p:sp>
        <p:nvSpPr>
          <p:cNvPr id="310" name="Text 23"/>
          <p:cNvSpPr txBox="1"/>
          <p:nvPr/>
        </p:nvSpPr>
        <p:spPr>
          <a:xfrm>
            <a:off x="6492238" y="5320723"/>
            <a:ext cx="4846323" cy="2582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4748B"/>
                </a:solidFill>
                <a:latin typeface="+mj-lt"/>
                <a:ea typeface="+mj-ea"/>
                <a:cs typeface="+mj-cs"/>
                <a:sym typeface="Calibri"/>
              </a:defRPr>
            </a:lvl1pPr>
          </a:lstStyle>
          <a:p>
            <a:pPr/>
            <a:r>
              <a:t>count too — everything is tokenised</a:t>
            </a:r>
          </a:p>
        </p:txBody>
      </p:sp>
      <p:sp>
        <p:nvSpPr>
          <p:cNvPr id="311" name="Text 24"/>
          <p:cNvSpPr txBox="1"/>
          <p:nvPr/>
        </p:nvSpPr>
        <p:spPr>
          <a:xfrm>
            <a:off x="502919" y="6480723"/>
            <a:ext cx="53949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64748B"/>
                </a:solidFill>
                <a:latin typeface="+mj-lt"/>
                <a:ea typeface="+mj-ea"/>
                <a:cs typeface="+mj-cs"/>
                <a:sym typeface="Calibri"/>
              </a:defRPr>
            </a:lvl1pPr>
          </a:lstStyle>
          <a:p>
            <a:pPr/>
            <a:r>
              <a:t>The ₹0 AI Engineer  ·  Module 1</a:t>
            </a:r>
          </a:p>
        </p:txBody>
      </p:sp>
      <p:sp>
        <p:nvSpPr>
          <p:cNvPr id="312" name="Text 25"/>
          <p:cNvSpPr txBox="1"/>
          <p:nvPr/>
        </p:nvSpPr>
        <p:spPr>
          <a:xfrm>
            <a:off x="11323015" y="6480723"/>
            <a:ext cx="3657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900">
                <a:solidFill>
                  <a:srgbClr val="64748B"/>
                </a:solidFill>
                <a:latin typeface="+mj-lt"/>
                <a:ea typeface="+mj-ea"/>
                <a:cs typeface="+mj-cs"/>
                <a:sym typeface="Calibri"/>
              </a:defRPr>
            </a:lvl1pPr>
          </a:lstStyle>
          <a:p>
            <a:pPr/>
            <a:r>
              <a:t>5</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A2E"/>
        </a:solidFill>
      </p:bgPr>
    </p:bg>
    <p:spTree>
      <p:nvGrpSpPr>
        <p:cNvPr id="1" name=""/>
        <p:cNvGrpSpPr/>
        <p:nvPr/>
      </p:nvGrpSpPr>
      <p:grpSpPr>
        <a:xfrm>
          <a:off x="0" y="0"/>
          <a:ext cx="0" cy="0"/>
          <a:chOff x="0" y="0"/>
          <a:chExt cx="0" cy="0"/>
        </a:xfrm>
      </p:grpSpPr>
      <p:sp>
        <p:nvSpPr>
          <p:cNvPr id="316" name="Shape 0"/>
          <p:cNvSpPr/>
          <p:nvPr/>
        </p:nvSpPr>
        <p:spPr>
          <a:xfrm>
            <a:off x="640080" y="502919"/>
            <a:ext cx="3200401" cy="502922"/>
          </a:xfrm>
          <a:prstGeom prst="roundRect">
            <a:avLst>
              <a:gd name="adj" fmla="val 49091"/>
            </a:avLst>
          </a:prstGeom>
          <a:solidFill>
            <a:srgbClr val="E05252"/>
          </a:solidFill>
          <a:ln w="12700">
            <a:miter lim="400000"/>
          </a:ln>
        </p:spPr>
        <p:txBody>
          <a:bodyPr lIns="45718" tIns="45718" rIns="45718" bIns="45718"/>
          <a:lstStyle/>
          <a:p>
            <a:pPr>
              <a:defRPr>
                <a:latin typeface="+mj-lt"/>
                <a:ea typeface="+mj-ea"/>
                <a:cs typeface="+mj-cs"/>
                <a:sym typeface="Calibri"/>
              </a:defRPr>
            </a:pPr>
          </a:p>
        </p:txBody>
      </p:sp>
      <p:sp>
        <p:nvSpPr>
          <p:cNvPr id="317" name="Shape 1"/>
          <p:cNvSpPr/>
          <p:nvPr/>
        </p:nvSpPr>
        <p:spPr>
          <a:xfrm>
            <a:off x="841247" y="640080"/>
            <a:ext cx="219458" cy="219459"/>
          </a:xfrm>
          <a:prstGeom prst="ellipse">
            <a:avLst/>
          </a:prstGeom>
          <a:solidFill>
            <a:srgbClr val="FFFFFF"/>
          </a:solidFill>
          <a:ln w="12700">
            <a:miter lim="400000"/>
          </a:ln>
        </p:spPr>
        <p:txBody>
          <a:bodyPr lIns="45718" tIns="45718" rIns="45718" bIns="45718"/>
          <a:lstStyle/>
          <a:p>
            <a:pPr>
              <a:defRPr>
                <a:latin typeface="+mj-lt"/>
                <a:ea typeface="+mj-ea"/>
                <a:cs typeface="+mj-cs"/>
                <a:sym typeface="Calibri"/>
              </a:defRPr>
            </a:pPr>
          </a:p>
        </p:txBody>
      </p:sp>
      <p:sp>
        <p:nvSpPr>
          <p:cNvPr id="318" name="Text 2"/>
          <p:cNvSpPr txBox="1"/>
          <p:nvPr/>
        </p:nvSpPr>
        <p:spPr>
          <a:xfrm>
            <a:off x="1234438" y="613981"/>
            <a:ext cx="2651762"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200" sz="1400">
                <a:solidFill>
                  <a:srgbClr val="FFFFFF"/>
                </a:solidFill>
                <a:latin typeface="+mj-lt"/>
                <a:ea typeface="+mj-ea"/>
                <a:cs typeface="+mj-cs"/>
                <a:sym typeface="Calibri"/>
              </a:defRPr>
            </a:lvl1pPr>
          </a:lstStyle>
          <a:p>
            <a:pPr/>
            <a:r>
              <a:t>LIVE DEMO  ·  1</a:t>
            </a:r>
          </a:p>
        </p:txBody>
      </p:sp>
      <p:sp>
        <p:nvSpPr>
          <p:cNvPr id="319" name="Text 3"/>
          <p:cNvSpPr txBox="1"/>
          <p:nvPr/>
        </p:nvSpPr>
        <p:spPr>
          <a:xfrm>
            <a:off x="685800" y="1280161"/>
            <a:ext cx="10881360"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100">
                <a:solidFill>
                  <a:srgbClr val="FFFFFF"/>
                </a:solidFill>
                <a:latin typeface="Cambria"/>
                <a:ea typeface="Cambria"/>
                <a:cs typeface="Cambria"/>
                <a:sym typeface="Cambria"/>
              </a:defRPr>
            </a:lvl1pPr>
          </a:lstStyle>
          <a:p>
            <a:pPr/>
            <a:r>
              <a:t>Watch text become tokens — and money</a:t>
            </a:r>
          </a:p>
        </p:txBody>
      </p:sp>
      <p:sp>
        <p:nvSpPr>
          <p:cNvPr id="320" name="Shape 4"/>
          <p:cNvSpPr/>
          <p:nvPr/>
        </p:nvSpPr>
        <p:spPr>
          <a:xfrm>
            <a:off x="640080" y="2194560"/>
            <a:ext cx="6583682" cy="3931921"/>
          </a:xfrm>
          <a:prstGeom prst="roundRect">
            <a:avLst>
              <a:gd name="adj" fmla="val 2326"/>
            </a:avLst>
          </a:prstGeom>
          <a:solidFill>
            <a:srgbClr val="143A40"/>
          </a:solidFill>
          <a:ln w="12700">
            <a:solidFill>
              <a:srgbClr val="21555B"/>
            </a:solidFill>
          </a:ln>
        </p:spPr>
        <p:txBody>
          <a:bodyPr lIns="45718" tIns="45718" rIns="45718" bIns="45718"/>
          <a:lstStyle/>
          <a:p>
            <a:pPr>
              <a:defRPr>
                <a:latin typeface="+mj-lt"/>
                <a:ea typeface="+mj-ea"/>
                <a:cs typeface="+mj-cs"/>
                <a:sym typeface="Calibri"/>
              </a:defRPr>
            </a:pPr>
          </a:p>
        </p:txBody>
      </p:sp>
      <p:sp>
        <p:nvSpPr>
          <p:cNvPr id="321" name="Text 5"/>
          <p:cNvSpPr txBox="1"/>
          <p:nvPr/>
        </p:nvSpPr>
        <p:spPr>
          <a:xfrm>
            <a:off x="960119" y="2408360"/>
            <a:ext cx="539496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200" sz="1300">
                <a:solidFill>
                  <a:srgbClr val="F4A338"/>
                </a:solidFill>
                <a:latin typeface="+mj-lt"/>
                <a:ea typeface="+mj-ea"/>
                <a:cs typeface="+mj-cs"/>
                <a:sym typeface="Calibri"/>
              </a:defRPr>
            </a:lvl1pPr>
          </a:lstStyle>
          <a:p>
            <a:pPr/>
            <a:r>
              <a:t>DO THIS LIVE</a:t>
            </a:r>
          </a:p>
        </p:txBody>
      </p:sp>
      <p:sp>
        <p:nvSpPr>
          <p:cNvPr id="322" name="Text 6"/>
          <p:cNvSpPr txBox="1"/>
          <p:nvPr/>
        </p:nvSpPr>
        <p:spPr>
          <a:xfrm>
            <a:off x="960119" y="2788921"/>
            <a:ext cx="6035042" cy="169306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nSpc>
                <a:spcPct val="145000"/>
              </a:lnSpc>
              <a:defRPr b="1" sz="1600">
                <a:solidFill>
                  <a:srgbClr val="E2F0F0"/>
                </a:solidFill>
                <a:latin typeface="+mj-lt"/>
                <a:ea typeface="+mj-ea"/>
                <a:cs typeface="+mj-cs"/>
                <a:sym typeface="Calibri"/>
              </a:defRPr>
            </a:pPr>
            <a:r>
              <a:t>1.  Open  </a:t>
            </a:r>
            <a:r>
              <a:rPr>
                <a:solidFill>
                  <a:srgbClr val="5EEAD4"/>
                </a:solidFill>
              </a:rPr>
              <a:t>platform.openai.com/tokenizer</a:t>
            </a:r>
          </a:p>
          <a:p>
            <a:pPr>
              <a:lnSpc>
                <a:spcPct val="145000"/>
              </a:lnSpc>
              <a:defRPr sz="1600">
                <a:solidFill>
                  <a:srgbClr val="E2F0F0"/>
                </a:solidFill>
                <a:latin typeface="+mj-lt"/>
                <a:ea typeface="+mj-ea"/>
                <a:cs typeface="+mj-cs"/>
                <a:sym typeface="Calibri"/>
              </a:defRPr>
            </a:pPr>
            <a:r>
              <a:t>2.  Paste a normal sentence — watch the token count</a:t>
            </a:r>
          </a:p>
          <a:p>
            <a:pPr>
              <a:lnSpc>
                <a:spcPct val="145000"/>
              </a:lnSpc>
              <a:defRPr sz="1600">
                <a:solidFill>
                  <a:srgbClr val="E2F0F0"/>
                </a:solidFill>
                <a:latin typeface="+mj-lt"/>
                <a:ea typeface="+mj-ea"/>
                <a:cs typeface="+mj-cs"/>
                <a:sym typeface="Calibri"/>
              </a:defRPr>
            </a:pPr>
            <a:r>
              <a:t>3.  Now paste a chemistry term or a URL — count jumps</a:t>
            </a:r>
          </a:p>
          <a:p>
            <a:pPr>
              <a:lnSpc>
                <a:spcPct val="145000"/>
              </a:lnSpc>
              <a:defRPr sz="1600">
                <a:solidFill>
                  <a:srgbClr val="E2F0F0"/>
                </a:solidFill>
                <a:latin typeface="+mj-lt"/>
                <a:ea typeface="+mj-ea"/>
                <a:cs typeface="+mj-cs"/>
                <a:sym typeface="Calibri"/>
              </a:defRPr>
            </a:pPr>
            <a:r>
              <a:t>4.  Toggle “Token IDs” — every chunk is just a number</a:t>
            </a:r>
          </a:p>
          <a:p>
            <a:pPr>
              <a:lnSpc>
                <a:spcPct val="145000"/>
              </a:lnSpc>
              <a:defRPr sz="1600">
                <a:solidFill>
                  <a:srgbClr val="E2F0F0"/>
                </a:solidFill>
                <a:latin typeface="+mj-lt"/>
                <a:ea typeface="+mj-ea"/>
                <a:cs typeface="+mj-cs"/>
                <a:sym typeface="Calibri"/>
              </a:defRPr>
            </a:pPr>
            <a:r>
              <a:t>5.  Type a whole paragraph — note the total</a:t>
            </a:r>
          </a:p>
        </p:txBody>
      </p:sp>
      <p:sp>
        <p:nvSpPr>
          <p:cNvPr id="323" name="Shape 7"/>
          <p:cNvSpPr/>
          <p:nvPr/>
        </p:nvSpPr>
        <p:spPr>
          <a:xfrm>
            <a:off x="7452359" y="2194560"/>
            <a:ext cx="4069082" cy="3931921"/>
          </a:xfrm>
          <a:prstGeom prst="roundRect">
            <a:avLst>
              <a:gd name="adj" fmla="val 2326"/>
            </a:avLst>
          </a:prstGeom>
          <a:solidFill>
            <a:srgbClr val="0D9488"/>
          </a:solidFill>
          <a:ln w="12700">
            <a:miter lim="400000"/>
          </a:ln>
          <a:effectLst>
            <a:outerShdw sx="100000" sy="100000" kx="0" ky="0" algn="b" rotWithShape="0" blurRad="88900" dist="38100" dir="2700000">
              <a:srgbClr val="000000">
                <a:alpha val="25000"/>
              </a:srgbClr>
            </a:outerShdw>
          </a:effectLst>
        </p:spPr>
        <p:txBody>
          <a:bodyPr lIns="45718" tIns="45718" rIns="45718" bIns="45718"/>
          <a:lstStyle/>
          <a:p>
            <a:pPr>
              <a:defRPr>
                <a:latin typeface="+mj-lt"/>
                <a:ea typeface="+mj-ea"/>
                <a:cs typeface="+mj-cs"/>
                <a:sym typeface="Calibri"/>
              </a:defRPr>
            </a:pPr>
          </a:p>
        </p:txBody>
      </p:sp>
      <p:pic>
        <p:nvPicPr>
          <p:cNvPr id="324" name="Image 0" descr="Image 0"/>
          <p:cNvPicPr>
            <a:picLocks noChangeAspect="1"/>
          </p:cNvPicPr>
          <p:nvPr/>
        </p:nvPicPr>
        <p:blipFill>
          <a:blip r:embed="rId3">
            <a:extLst/>
          </a:blip>
          <a:stretch>
            <a:fillRect/>
          </a:stretch>
        </p:blipFill>
        <p:spPr>
          <a:xfrm>
            <a:off x="7772400" y="2514600"/>
            <a:ext cx="502920" cy="502920"/>
          </a:xfrm>
          <a:prstGeom prst="rect">
            <a:avLst/>
          </a:prstGeom>
          <a:ln w="12700">
            <a:miter lim="400000"/>
          </a:ln>
        </p:spPr>
      </p:pic>
      <p:sp>
        <p:nvSpPr>
          <p:cNvPr id="325" name="Text 8"/>
          <p:cNvSpPr txBox="1"/>
          <p:nvPr/>
        </p:nvSpPr>
        <p:spPr>
          <a:xfrm>
            <a:off x="8458200" y="2620336"/>
            <a:ext cx="2834642" cy="3005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600">
                <a:solidFill>
                  <a:srgbClr val="0F2A2E"/>
                </a:solidFill>
                <a:latin typeface="+mj-lt"/>
                <a:ea typeface="+mj-ea"/>
                <a:cs typeface="+mj-cs"/>
                <a:sym typeface="Calibri"/>
              </a:defRPr>
            </a:lvl1pPr>
          </a:lstStyle>
          <a:p>
            <a:pPr/>
            <a:r>
              <a:t>Point to make</a:t>
            </a:r>
          </a:p>
        </p:txBody>
      </p:sp>
      <p:sp>
        <p:nvSpPr>
          <p:cNvPr id="326" name="Text 9"/>
          <p:cNvSpPr txBox="1"/>
          <p:nvPr/>
        </p:nvSpPr>
        <p:spPr>
          <a:xfrm>
            <a:off x="7818118" y="3421380"/>
            <a:ext cx="3383282" cy="929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900">
                <a:solidFill>
                  <a:srgbClr val="FFFFFF"/>
                </a:solidFill>
                <a:latin typeface="Cambria"/>
                <a:ea typeface="Cambria"/>
                <a:cs typeface="Cambria"/>
                <a:sym typeface="Cambria"/>
              </a:defRPr>
            </a:lvl1pPr>
          </a:lstStyle>
          <a:p>
            <a:pPr/>
            <a:r>
              <a:t>Prompt length is an engineering decision — not just a writing one.</a:t>
            </a:r>
          </a:p>
        </p:txBody>
      </p:sp>
      <p:sp>
        <p:nvSpPr>
          <p:cNvPr id="327" name="Text 10"/>
          <p:cNvSpPr txBox="1"/>
          <p:nvPr/>
        </p:nvSpPr>
        <p:spPr>
          <a:xfrm>
            <a:off x="7818118" y="4957380"/>
            <a:ext cx="3383282" cy="5093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E6FFFB"/>
                </a:solidFill>
                <a:latin typeface="+mj-lt"/>
                <a:ea typeface="+mj-ea"/>
                <a:cs typeface="+mj-cs"/>
                <a:sym typeface="Calibri"/>
              </a:defRPr>
            </a:lvl1pPr>
          </a:lstStyle>
          <a:p>
            <a:pPr/>
            <a:r>
              <a:t>Every extra token you send is billed on every single call, forever.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0D9488"/>
                </a:solidFill>
                <a:latin typeface="+mj-lt"/>
                <a:ea typeface="+mj-ea"/>
                <a:cs typeface="+mj-cs"/>
                <a:sym typeface="Calibri"/>
              </a:defRPr>
            </a:lvl1pPr>
          </a:lstStyle>
          <a:p>
            <a:pPr/>
            <a:r>
              <a:t>TWO METERS, TWO PRICES</a:t>
            </a:r>
          </a:p>
        </p:txBody>
      </p:sp>
      <p:sp>
        <p:nvSpPr>
          <p:cNvPr id="332" name="Text 1"/>
          <p:cNvSpPr txBox="1"/>
          <p:nvPr/>
        </p:nvSpPr>
        <p:spPr>
          <a:xfrm>
            <a:off x="685800" y="960120"/>
            <a:ext cx="10881360"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1E293B"/>
                </a:solidFill>
                <a:latin typeface="Cambria"/>
                <a:ea typeface="Cambria"/>
                <a:cs typeface="Cambria"/>
                <a:sym typeface="Cambria"/>
              </a:defRPr>
            </a:lvl1pPr>
          </a:lstStyle>
          <a:p>
            <a:pPr/>
            <a:r>
              <a:t>Input tokens are cheap. Output tokens are not.</a:t>
            </a:r>
          </a:p>
        </p:txBody>
      </p:sp>
      <p:sp>
        <p:nvSpPr>
          <p:cNvPr id="333" name="Shape 2"/>
          <p:cNvSpPr/>
          <p:nvPr/>
        </p:nvSpPr>
        <p:spPr>
          <a:xfrm>
            <a:off x="640080" y="1828800"/>
            <a:ext cx="5349241" cy="2834640"/>
          </a:xfrm>
          <a:prstGeom prst="roundRect">
            <a:avLst>
              <a:gd name="adj" fmla="val 3871"/>
            </a:avLst>
          </a:prstGeom>
          <a:solidFill>
            <a:srgbClr val="E8F4F2"/>
          </a:solidFill>
          <a:ln w="12700">
            <a:miter lim="400000"/>
          </a:ln>
          <a:effectLst>
            <a:outerShdw sx="100000" sy="100000" kx="0" ky="0" algn="b" rotWithShape="0" blurRad="88900" dist="38100" dir="2700000">
              <a:srgbClr val="000000">
                <a:alpha val="12000"/>
              </a:srgbClr>
            </a:outerShdw>
          </a:effectLst>
        </p:spPr>
        <p:txBody>
          <a:bodyPr lIns="45718" tIns="45718" rIns="45718" bIns="45718"/>
          <a:lstStyle/>
          <a:p>
            <a:pPr>
              <a:defRPr>
                <a:latin typeface="+mj-lt"/>
                <a:ea typeface="+mj-ea"/>
                <a:cs typeface="+mj-cs"/>
                <a:sym typeface="Calibri"/>
              </a:defRPr>
            </a:pPr>
          </a:p>
        </p:txBody>
      </p:sp>
      <p:sp>
        <p:nvSpPr>
          <p:cNvPr id="334" name="Shape 3"/>
          <p:cNvSpPr/>
          <p:nvPr/>
        </p:nvSpPr>
        <p:spPr>
          <a:xfrm>
            <a:off x="960119" y="2148838"/>
            <a:ext cx="731523" cy="731524"/>
          </a:xfrm>
          <a:prstGeom prst="ellipse">
            <a:avLst/>
          </a:prstGeom>
          <a:solidFill>
            <a:srgbClr val="0D9488"/>
          </a:solidFill>
          <a:ln w="12700">
            <a:miter lim="400000"/>
          </a:ln>
        </p:spPr>
        <p:txBody>
          <a:bodyPr lIns="45718" tIns="45718" rIns="45718" bIns="45718"/>
          <a:lstStyle/>
          <a:p>
            <a:pPr>
              <a:defRPr>
                <a:latin typeface="+mj-lt"/>
                <a:ea typeface="+mj-ea"/>
                <a:cs typeface="+mj-cs"/>
                <a:sym typeface="Calibri"/>
              </a:defRPr>
            </a:pPr>
          </a:p>
        </p:txBody>
      </p:sp>
      <p:pic>
        <p:nvPicPr>
          <p:cNvPr id="335" name="Image 0" descr="Image 0"/>
          <p:cNvPicPr>
            <a:picLocks noChangeAspect="1"/>
          </p:cNvPicPr>
          <p:nvPr/>
        </p:nvPicPr>
        <p:blipFill>
          <a:blip r:embed="rId3">
            <a:extLst/>
          </a:blip>
          <a:stretch>
            <a:fillRect/>
          </a:stretch>
        </p:blipFill>
        <p:spPr>
          <a:xfrm>
            <a:off x="1115566" y="2331720"/>
            <a:ext cx="420626" cy="365762"/>
          </a:xfrm>
          <a:prstGeom prst="rect">
            <a:avLst/>
          </a:prstGeom>
          <a:ln w="12700">
            <a:miter lim="400000"/>
          </a:ln>
        </p:spPr>
      </p:pic>
      <p:sp>
        <p:nvSpPr>
          <p:cNvPr id="336" name="Text 4"/>
          <p:cNvSpPr txBox="1"/>
          <p:nvPr/>
        </p:nvSpPr>
        <p:spPr>
          <a:xfrm>
            <a:off x="1874520" y="2348056"/>
            <a:ext cx="3566160" cy="3330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0F2A2E"/>
                </a:solidFill>
                <a:latin typeface="+mj-lt"/>
                <a:ea typeface="+mj-ea"/>
                <a:cs typeface="+mj-cs"/>
                <a:sym typeface="Calibri"/>
              </a:defRPr>
            </a:lvl1pPr>
          </a:lstStyle>
          <a:p>
            <a:pPr/>
            <a:r>
              <a:t>INPUT  (prompt)</a:t>
            </a:r>
          </a:p>
        </p:txBody>
      </p:sp>
      <p:sp>
        <p:nvSpPr>
          <p:cNvPr id="337" name="Text 5"/>
          <p:cNvSpPr txBox="1"/>
          <p:nvPr/>
        </p:nvSpPr>
        <p:spPr>
          <a:xfrm>
            <a:off x="1005839" y="3312861"/>
            <a:ext cx="4663442" cy="5065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500">
                <a:solidFill>
                  <a:srgbClr val="1E293B"/>
                </a:solidFill>
                <a:latin typeface="+mj-lt"/>
                <a:ea typeface="+mj-ea"/>
                <a:cs typeface="+mj-cs"/>
                <a:sym typeface="Calibri"/>
              </a:defRPr>
            </a:lvl1pPr>
          </a:lstStyle>
          <a:p>
            <a:pPr/>
            <a:r>
              <a:t>Everything you SEND: system prompt, instructions, examples, the user's question, any pasted context.</a:t>
            </a:r>
          </a:p>
        </p:txBody>
      </p:sp>
      <p:sp>
        <p:nvSpPr>
          <p:cNvPr id="338" name="Text 6"/>
          <p:cNvSpPr txBox="1"/>
          <p:nvPr/>
        </p:nvSpPr>
        <p:spPr>
          <a:xfrm>
            <a:off x="1005839" y="4157280"/>
            <a:ext cx="4663442"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i="1" sz="1400">
                <a:solidFill>
                  <a:srgbClr val="0D9488"/>
                </a:solidFill>
                <a:latin typeface="+mj-lt"/>
                <a:ea typeface="+mj-ea"/>
                <a:cs typeface="+mj-cs"/>
                <a:sym typeface="Calibri"/>
              </a:defRPr>
            </a:lvl1pPr>
          </a:lstStyle>
          <a:p>
            <a:pPr/>
            <a:r>
              <a:t>Cheaper — the model just reads it</a:t>
            </a:r>
          </a:p>
        </p:txBody>
      </p:sp>
      <p:sp>
        <p:nvSpPr>
          <p:cNvPr id="339" name="Shape 7"/>
          <p:cNvSpPr/>
          <p:nvPr/>
        </p:nvSpPr>
        <p:spPr>
          <a:xfrm>
            <a:off x="6172200" y="1828800"/>
            <a:ext cx="5349241" cy="2834640"/>
          </a:xfrm>
          <a:prstGeom prst="roundRect">
            <a:avLst>
              <a:gd name="adj" fmla="val 3871"/>
            </a:avLst>
          </a:prstGeom>
          <a:solidFill>
            <a:srgbClr val="FDF1E3"/>
          </a:solidFill>
          <a:ln w="12700">
            <a:miter lim="400000"/>
          </a:ln>
          <a:effectLst>
            <a:outerShdw sx="100000" sy="100000" kx="0" ky="0" algn="b" rotWithShape="0" blurRad="88900" dist="38100" dir="2700000">
              <a:srgbClr val="000000">
                <a:alpha val="12000"/>
              </a:srgbClr>
            </a:outerShdw>
          </a:effectLst>
        </p:spPr>
        <p:txBody>
          <a:bodyPr lIns="45718" tIns="45718" rIns="45718" bIns="45718"/>
          <a:lstStyle/>
          <a:p>
            <a:pPr>
              <a:defRPr>
                <a:latin typeface="+mj-lt"/>
                <a:ea typeface="+mj-ea"/>
                <a:cs typeface="+mj-cs"/>
                <a:sym typeface="Calibri"/>
              </a:defRPr>
            </a:pPr>
          </a:p>
        </p:txBody>
      </p:sp>
      <p:sp>
        <p:nvSpPr>
          <p:cNvPr id="340" name="Shape 8"/>
          <p:cNvSpPr/>
          <p:nvPr/>
        </p:nvSpPr>
        <p:spPr>
          <a:xfrm>
            <a:off x="6492240" y="2148838"/>
            <a:ext cx="731523" cy="731524"/>
          </a:xfrm>
          <a:prstGeom prst="ellipse">
            <a:avLst/>
          </a:prstGeom>
          <a:solidFill>
            <a:srgbClr val="F4A338"/>
          </a:solidFill>
          <a:ln w="12700">
            <a:miter lim="400000"/>
          </a:ln>
        </p:spPr>
        <p:txBody>
          <a:bodyPr lIns="45718" tIns="45718" rIns="45718" bIns="45718"/>
          <a:lstStyle/>
          <a:p>
            <a:pPr>
              <a:defRPr>
                <a:latin typeface="+mj-lt"/>
                <a:ea typeface="+mj-ea"/>
                <a:cs typeface="+mj-cs"/>
                <a:sym typeface="Calibri"/>
              </a:defRPr>
            </a:pPr>
          </a:p>
        </p:txBody>
      </p:sp>
      <p:pic>
        <p:nvPicPr>
          <p:cNvPr id="341" name="Image 1" descr="Image 1"/>
          <p:cNvPicPr>
            <a:picLocks noChangeAspect="1"/>
          </p:cNvPicPr>
          <p:nvPr/>
        </p:nvPicPr>
        <p:blipFill>
          <a:blip r:embed="rId4">
            <a:extLst/>
          </a:blip>
          <a:stretch>
            <a:fillRect/>
          </a:stretch>
        </p:blipFill>
        <p:spPr>
          <a:xfrm>
            <a:off x="6675118" y="2331720"/>
            <a:ext cx="365762" cy="365762"/>
          </a:xfrm>
          <a:prstGeom prst="rect">
            <a:avLst/>
          </a:prstGeom>
          <a:ln w="12700">
            <a:miter lim="400000"/>
          </a:ln>
        </p:spPr>
      </p:pic>
      <p:sp>
        <p:nvSpPr>
          <p:cNvPr id="342" name="Text 9"/>
          <p:cNvSpPr txBox="1"/>
          <p:nvPr/>
        </p:nvSpPr>
        <p:spPr>
          <a:xfrm>
            <a:off x="7406639" y="2348056"/>
            <a:ext cx="3749042" cy="3330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a:solidFill>
                  <a:srgbClr val="9A5B12"/>
                </a:solidFill>
                <a:latin typeface="+mj-lt"/>
                <a:ea typeface="+mj-ea"/>
                <a:cs typeface="+mj-cs"/>
                <a:sym typeface="Calibri"/>
              </a:defRPr>
            </a:lvl1pPr>
          </a:lstStyle>
          <a:p>
            <a:pPr/>
            <a:r>
              <a:t>OUTPUT  (completion)</a:t>
            </a:r>
          </a:p>
        </p:txBody>
      </p:sp>
      <p:sp>
        <p:nvSpPr>
          <p:cNvPr id="343" name="Text 10"/>
          <p:cNvSpPr txBox="1"/>
          <p:nvPr/>
        </p:nvSpPr>
        <p:spPr>
          <a:xfrm>
            <a:off x="6537959" y="3312861"/>
            <a:ext cx="4663441" cy="5065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500">
                <a:solidFill>
                  <a:srgbClr val="1E293B"/>
                </a:solidFill>
                <a:latin typeface="+mj-lt"/>
                <a:ea typeface="+mj-ea"/>
                <a:cs typeface="+mj-cs"/>
                <a:sym typeface="Calibri"/>
              </a:defRPr>
            </a:lvl1pPr>
          </a:lstStyle>
          <a:p>
            <a:pPr/>
            <a:r>
              <a:t>Everything the model GENERATES back: the answer, the JSON, the code, the explanation.</a:t>
            </a:r>
          </a:p>
        </p:txBody>
      </p:sp>
      <p:sp>
        <p:nvSpPr>
          <p:cNvPr id="344" name="Text 11"/>
          <p:cNvSpPr txBox="1"/>
          <p:nvPr/>
        </p:nvSpPr>
        <p:spPr>
          <a:xfrm>
            <a:off x="6537959" y="4157280"/>
            <a:ext cx="4663441"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i="1" sz="1400">
                <a:solidFill>
                  <a:srgbClr val="9A5B12"/>
                </a:solidFill>
                <a:latin typeface="+mj-lt"/>
                <a:ea typeface="+mj-ea"/>
                <a:cs typeface="+mj-cs"/>
                <a:sym typeface="Calibri"/>
              </a:defRPr>
            </a:lvl1pPr>
          </a:lstStyle>
          <a:p>
            <a:pPr/>
            <a:r>
              <a:t>Often 3–5× the price of input</a:t>
            </a:r>
          </a:p>
        </p:txBody>
      </p:sp>
      <p:sp>
        <p:nvSpPr>
          <p:cNvPr id="345" name="Shape 12"/>
          <p:cNvSpPr/>
          <p:nvPr/>
        </p:nvSpPr>
        <p:spPr>
          <a:xfrm>
            <a:off x="640080" y="4892040"/>
            <a:ext cx="10881360" cy="1188722"/>
          </a:xfrm>
          <a:prstGeom prst="roundRect">
            <a:avLst>
              <a:gd name="adj" fmla="val 7692"/>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346" name="Image 2" descr="Image 2"/>
          <p:cNvPicPr>
            <a:picLocks noChangeAspect="1"/>
          </p:cNvPicPr>
          <p:nvPr/>
        </p:nvPicPr>
        <p:blipFill>
          <a:blip r:embed="rId5">
            <a:extLst/>
          </a:blip>
          <a:stretch>
            <a:fillRect/>
          </a:stretch>
        </p:blipFill>
        <p:spPr>
          <a:xfrm>
            <a:off x="960119" y="5212079"/>
            <a:ext cx="548641" cy="548642"/>
          </a:xfrm>
          <a:prstGeom prst="rect">
            <a:avLst/>
          </a:prstGeom>
          <a:ln w="12700">
            <a:miter lim="400000"/>
          </a:ln>
        </p:spPr>
      </p:pic>
      <p:sp>
        <p:nvSpPr>
          <p:cNvPr id="347" name="Text 13"/>
          <p:cNvSpPr txBox="1"/>
          <p:nvPr/>
        </p:nvSpPr>
        <p:spPr>
          <a:xfrm>
            <a:off x="1737360" y="5233101"/>
            <a:ext cx="9509760" cy="5065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defRPr b="1" sz="1500">
                <a:solidFill>
                  <a:srgbClr val="F4A338"/>
                </a:solidFill>
                <a:latin typeface="+mj-lt"/>
                <a:ea typeface="+mj-ea"/>
                <a:cs typeface="+mj-cs"/>
                <a:sym typeface="Calibri"/>
              </a:defRPr>
            </a:pPr>
            <a:r>
              <a:t>Why it matters:  </a:t>
            </a:r>
            <a:r>
              <a:rPr b="0">
                <a:solidFill>
                  <a:srgbClr val="E2F0F0"/>
                </a:solidFill>
              </a:rPr>
              <a:t>a chatbot that writes long, chatty answers burns output tokens on every reply. “Be concise” isn't politeness — it's cost control.</a:t>
            </a:r>
          </a:p>
        </p:txBody>
      </p:sp>
      <p:sp>
        <p:nvSpPr>
          <p:cNvPr id="348" name="Text 14"/>
          <p:cNvSpPr txBox="1"/>
          <p:nvPr/>
        </p:nvSpPr>
        <p:spPr>
          <a:xfrm>
            <a:off x="502919" y="6480723"/>
            <a:ext cx="53949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64748B"/>
                </a:solidFill>
                <a:latin typeface="+mj-lt"/>
                <a:ea typeface="+mj-ea"/>
                <a:cs typeface="+mj-cs"/>
                <a:sym typeface="Calibri"/>
              </a:defRPr>
            </a:lvl1pPr>
          </a:lstStyle>
          <a:p>
            <a:pPr/>
            <a:r>
              <a:t>The ₹0 AI Engineer  ·  Module 1</a:t>
            </a:r>
          </a:p>
        </p:txBody>
      </p:sp>
      <p:sp>
        <p:nvSpPr>
          <p:cNvPr id="349" name="Text 15"/>
          <p:cNvSpPr txBox="1"/>
          <p:nvPr/>
        </p:nvSpPr>
        <p:spPr>
          <a:xfrm>
            <a:off x="11323015" y="6480723"/>
            <a:ext cx="3657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900">
                <a:solidFill>
                  <a:srgbClr val="64748B"/>
                </a:solidFill>
                <a:latin typeface="+mj-lt"/>
                <a:ea typeface="+mj-ea"/>
                <a:cs typeface="+mj-cs"/>
                <a:sym typeface="Calibri"/>
              </a:defRPr>
            </a:lvl1pPr>
          </a:lstStyle>
          <a:p>
            <a:pPr/>
            <a:r>
              <a:t>7</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0D9488"/>
                </a:solidFill>
                <a:latin typeface="+mj-lt"/>
                <a:ea typeface="+mj-ea"/>
                <a:cs typeface="+mj-cs"/>
                <a:sym typeface="Calibri"/>
              </a:defRPr>
            </a:lvl1pPr>
          </a:lstStyle>
          <a:p>
            <a:pPr/>
            <a:r>
              <a:t>REAL NUMBERS · JUNE 2026</a:t>
            </a:r>
          </a:p>
        </p:txBody>
      </p:sp>
      <p:sp>
        <p:nvSpPr>
          <p:cNvPr id="354" name="Text 1"/>
          <p:cNvSpPr txBox="1"/>
          <p:nvPr/>
        </p:nvSpPr>
        <p:spPr>
          <a:xfrm>
            <a:off x="685800" y="914400"/>
            <a:ext cx="10881360" cy="5486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1E293B"/>
                </a:solidFill>
                <a:latin typeface="Cambria"/>
                <a:ea typeface="Cambria"/>
                <a:cs typeface="Cambria"/>
                <a:sym typeface="Cambria"/>
              </a:defRPr>
            </a:lvl1pPr>
          </a:lstStyle>
          <a:p>
            <a:pPr/>
            <a:r>
              <a:t>Model tiers: the price spread is enormous</a:t>
            </a:r>
          </a:p>
        </p:txBody>
      </p:sp>
      <p:graphicFrame>
        <p:nvGraphicFramePr>
          <p:cNvPr id="355" name="Table 0"/>
          <p:cNvGraphicFramePr/>
          <p:nvPr/>
        </p:nvGraphicFramePr>
        <p:xfrm>
          <a:off x="640080" y="1600200"/>
          <a:ext cx="10881361" cy="429768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468880"/>
                <a:gridCol w="1143000"/>
                <a:gridCol w="1554480"/>
                <a:gridCol w="1645920"/>
                <a:gridCol w="4069080"/>
              </a:tblGrid>
              <a:tr h="457200">
                <a:tc>
                  <a:txBody>
                    <a:bodyPr/>
                    <a:lstStyle/>
                    <a:p>
                      <a:pPr algn="l">
                        <a:defRPr sz="1800"/>
                      </a:pPr>
                      <a:r>
                        <a:rPr b="1" sz="1300">
                          <a:solidFill>
                            <a:srgbClr val="FFFFFF"/>
                          </a:solidFill>
                        </a:rPr>
                        <a:t>Model</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0F2A2E"/>
                    </a:solidFill>
                  </a:tcPr>
                </a:tc>
                <a:tc>
                  <a:txBody>
                    <a:bodyPr/>
                    <a:lstStyle/>
                    <a:p>
                      <a:pPr algn="l">
                        <a:defRPr sz="1800"/>
                      </a:pPr>
                      <a:r>
                        <a:rPr b="1" sz="1300">
                          <a:solidFill>
                            <a:srgbClr val="FFFFFF"/>
                          </a:solidFill>
                        </a:rPr>
                        <a:t>Tier</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0F2A2E"/>
                    </a:solidFill>
                  </a:tcPr>
                </a:tc>
                <a:tc>
                  <a:txBody>
                    <a:bodyPr/>
                    <a:lstStyle/>
                    <a:p>
                      <a:pPr algn="l">
                        <a:defRPr sz="1800"/>
                      </a:pPr>
                      <a:r>
                        <a:rPr b="1" sz="1300">
                          <a:solidFill>
                            <a:srgbClr val="FFFFFF"/>
                          </a:solidFill>
                        </a:rPr>
                        <a:t>Input  $/1M</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0F2A2E"/>
                    </a:solidFill>
                  </a:tcPr>
                </a:tc>
                <a:tc>
                  <a:txBody>
                    <a:bodyPr/>
                    <a:lstStyle/>
                    <a:p>
                      <a:pPr algn="l">
                        <a:defRPr sz="1800"/>
                      </a:pPr>
                      <a:r>
                        <a:rPr b="1" sz="1300">
                          <a:solidFill>
                            <a:srgbClr val="FFFFFF"/>
                          </a:solidFill>
                        </a:rPr>
                        <a:t>Output  $/1M</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0F2A2E"/>
                    </a:solidFill>
                  </a:tcPr>
                </a:tc>
                <a:tc>
                  <a:txBody>
                    <a:bodyPr/>
                    <a:lstStyle/>
                    <a:p>
                      <a:pPr algn="l">
                        <a:defRPr sz="1800"/>
                      </a:pPr>
                      <a:r>
                        <a:rPr b="1" sz="1300">
                          <a:solidFill>
                            <a:srgbClr val="FFFFFF"/>
                          </a:solidFill>
                        </a:rPr>
                        <a:t>Good for</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0F2A2E"/>
                    </a:solidFill>
                  </a:tcPr>
                </a:tc>
              </a:tr>
              <a:tr h="548640">
                <a:tc>
                  <a:txBody>
                    <a:bodyPr/>
                    <a:lstStyle/>
                    <a:p>
                      <a:pPr algn="l">
                        <a:defRPr sz="1800"/>
                      </a:pPr>
                      <a:r>
                        <a:rPr b="1" sz="1300">
                          <a:solidFill>
                            <a:srgbClr val="1E293B"/>
                          </a:solidFill>
                        </a:rPr>
                        <a:t>Gemini 2.5 Flash-Lite</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ctr">
                        <a:defRPr sz="1800"/>
                      </a:pPr>
                      <a:r>
                        <a:rPr b="1" sz="1300">
                          <a:solidFill>
                            <a:srgbClr val="FFFFFF"/>
                          </a:solidFill>
                        </a:rPr>
                        <a:t>Budget</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1FA971"/>
                    </a:solidFill>
                  </a:tcPr>
                </a:tc>
                <a:tc>
                  <a:txBody>
                    <a:bodyPr/>
                    <a:lstStyle/>
                    <a:p>
                      <a:pPr algn="ctr">
                        <a:defRPr sz="1800"/>
                      </a:pPr>
                      <a:r>
                        <a:rPr sz="1300">
                          <a:solidFill>
                            <a:srgbClr val="1E293B"/>
                          </a:solidFill>
                          <a:latin typeface="Courier New"/>
                          <a:ea typeface="Courier New"/>
                          <a:cs typeface="Courier New"/>
                          <a:sym typeface="Courier New"/>
                        </a:rPr>
                        <a:t>$0.10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ctr">
                        <a:defRPr sz="1800"/>
                      </a:pPr>
                      <a:r>
                        <a:rPr sz="1300">
                          <a:solidFill>
                            <a:srgbClr val="1E293B"/>
                          </a:solidFill>
                          <a:latin typeface="Courier New"/>
                          <a:ea typeface="Courier New"/>
                          <a:cs typeface="Courier New"/>
                          <a:sym typeface="Courier New"/>
                        </a:rPr>
                        <a:t>$0.40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l">
                        <a:defRPr sz="1800"/>
                      </a:pPr>
                      <a:r>
                        <a:rPr sz="1300">
                          <a:solidFill>
                            <a:srgbClr val="64748B"/>
                          </a:solidFill>
                        </a:rPr>
                        <a:t>High-volume extraction, classification</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r>
              <a:tr h="548640">
                <a:tc>
                  <a:txBody>
                    <a:bodyPr/>
                    <a:lstStyle/>
                    <a:p>
                      <a:pPr algn="l">
                        <a:defRPr sz="1800"/>
                      </a:pPr>
                      <a:r>
                        <a:rPr b="1" sz="1300">
                          <a:solidFill>
                            <a:srgbClr val="1E293B"/>
                          </a:solidFill>
                        </a:rPr>
                        <a:t>Claude Haiku 4.5</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ctr">
                        <a:defRPr sz="1800"/>
                      </a:pPr>
                      <a:r>
                        <a:rPr b="1" sz="1300">
                          <a:solidFill>
                            <a:srgbClr val="FFFFFF"/>
                          </a:solidFill>
                        </a:rPr>
                        <a:t>Budget</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1FA971"/>
                    </a:solidFill>
                  </a:tcPr>
                </a:tc>
                <a:tc>
                  <a:txBody>
                    <a:bodyPr/>
                    <a:lstStyle/>
                    <a:p>
                      <a:pPr algn="ctr">
                        <a:defRPr sz="1800"/>
                      </a:pPr>
                      <a:r>
                        <a:rPr sz="1300">
                          <a:solidFill>
                            <a:srgbClr val="1E293B"/>
                          </a:solidFill>
                          <a:latin typeface="Courier New"/>
                          <a:ea typeface="Courier New"/>
                          <a:cs typeface="Courier New"/>
                          <a:sym typeface="Courier New"/>
                        </a:rPr>
                        <a:t>$0.25</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ctr">
                        <a:defRPr sz="1800"/>
                      </a:pPr>
                      <a:r>
                        <a:rPr sz="1300">
                          <a:solidFill>
                            <a:srgbClr val="1E293B"/>
                          </a:solidFill>
                          <a:latin typeface="Courier New"/>
                          <a:ea typeface="Courier New"/>
                          <a:cs typeface="Courier New"/>
                          <a:sym typeface="Courier New"/>
                        </a:rPr>
                        <a:t>$1.25</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l">
                        <a:defRPr sz="1800"/>
                      </a:pPr>
                      <a:r>
                        <a:rPr sz="1300">
                          <a:solidFill>
                            <a:srgbClr val="64748B"/>
                          </a:solidFill>
                        </a:rPr>
                        <a:t>Fast chat, summarisation at scale</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r>
              <a:tr h="548640">
                <a:tc>
                  <a:txBody>
                    <a:bodyPr/>
                    <a:lstStyle/>
                    <a:p>
                      <a:pPr algn="l">
                        <a:defRPr sz="1800"/>
                      </a:pPr>
                      <a:r>
                        <a:rPr b="1" sz="1300">
                          <a:solidFill>
                            <a:srgbClr val="1E293B"/>
                          </a:solidFill>
                        </a:rPr>
                        <a:t>Gemini 3 Flash</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ctr">
                        <a:defRPr sz="1800"/>
                      </a:pPr>
                      <a:r>
                        <a:rPr b="1" sz="1300">
                          <a:solidFill>
                            <a:srgbClr val="FFFFFF"/>
                          </a:solidFill>
                        </a:rPr>
                        <a:t>Mid</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0D9488"/>
                    </a:solidFill>
                  </a:tcPr>
                </a:tc>
                <a:tc>
                  <a:txBody>
                    <a:bodyPr/>
                    <a:lstStyle/>
                    <a:p>
                      <a:pPr algn="ctr">
                        <a:defRPr sz="1800"/>
                      </a:pPr>
                      <a:r>
                        <a:rPr sz="1300">
                          <a:solidFill>
                            <a:srgbClr val="1E293B"/>
                          </a:solidFill>
                          <a:latin typeface="Courier New"/>
                          <a:ea typeface="Courier New"/>
                          <a:cs typeface="Courier New"/>
                          <a:sym typeface="Courier New"/>
                        </a:rPr>
                        <a:t>$0.50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ctr">
                        <a:defRPr sz="1800"/>
                      </a:pPr>
                      <a:r>
                        <a:rPr sz="1300">
                          <a:solidFill>
                            <a:srgbClr val="1E293B"/>
                          </a:solidFill>
                          <a:latin typeface="Courier New"/>
                          <a:ea typeface="Courier New"/>
                          <a:cs typeface="Courier New"/>
                          <a:sym typeface="Courier New"/>
                        </a:rPr>
                        <a:t>$3.00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l">
                        <a:defRPr sz="1800"/>
                      </a:pPr>
                      <a:r>
                        <a:rPr sz="1300">
                          <a:solidFill>
                            <a:srgbClr val="64748B"/>
                          </a:solidFill>
                        </a:rPr>
                        <a:t>Balanced everyday workloads</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r>
              <a:tr h="548640">
                <a:tc>
                  <a:txBody>
                    <a:bodyPr/>
                    <a:lstStyle/>
                    <a:p>
                      <a:pPr algn="l">
                        <a:defRPr sz="1800"/>
                      </a:pPr>
                      <a:r>
                        <a:rPr b="1" sz="1300">
                          <a:solidFill>
                            <a:srgbClr val="1E293B"/>
                          </a:solidFill>
                        </a:rPr>
                        <a:t>GPT-4o</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ctr">
                        <a:defRPr sz="1800"/>
                      </a:pPr>
                      <a:r>
                        <a:rPr b="1" sz="1300">
                          <a:solidFill>
                            <a:srgbClr val="FFFFFF"/>
                          </a:solidFill>
                        </a:rPr>
                        <a:t>Mid</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0D9488"/>
                    </a:solidFill>
                  </a:tcPr>
                </a:tc>
                <a:tc>
                  <a:txBody>
                    <a:bodyPr/>
                    <a:lstStyle/>
                    <a:p>
                      <a:pPr algn="ctr">
                        <a:defRPr sz="1800"/>
                      </a:pPr>
                      <a:r>
                        <a:rPr sz="1300">
                          <a:solidFill>
                            <a:srgbClr val="1E293B"/>
                          </a:solidFill>
                          <a:latin typeface="Courier New"/>
                          <a:ea typeface="Courier New"/>
                          <a:cs typeface="Courier New"/>
                          <a:sym typeface="Courier New"/>
                        </a:rPr>
                        <a:t>$2.50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ctr">
                        <a:defRPr sz="1800"/>
                      </a:pPr>
                      <a:r>
                        <a:rPr sz="1300">
                          <a:solidFill>
                            <a:srgbClr val="1E293B"/>
                          </a:solidFill>
                          <a:latin typeface="Courier New"/>
                          <a:ea typeface="Courier New"/>
                          <a:cs typeface="Courier New"/>
                          <a:sym typeface="Courier New"/>
                        </a:rPr>
                        <a:t>$10.00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l">
                        <a:defRPr sz="1800"/>
                      </a:pPr>
                      <a:r>
                        <a:rPr sz="1300">
                          <a:solidFill>
                            <a:srgbClr val="64748B"/>
                          </a:solidFill>
                        </a:rPr>
                        <a:t>General-purpose production apps</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r>
              <a:tr h="548640">
                <a:tc>
                  <a:txBody>
                    <a:bodyPr/>
                    <a:lstStyle/>
                    <a:p>
                      <a:pPr algn="l">
                        <a:defRPr sz="1800"/>
                      </a:pPr>
                      <a:r>
                        <a:rPr b="1" sz="1300">
                          <a:solidFill>
                            <a:srgbClr val="1E293B"/>
                          </a:solidFill>
                        </a:rPr>
                        <a:t>Claude Sonnet 4.6</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ctr">
                        <a:defRPr sz="1800"/>
                      </a:pPr>
                      <a:r>
                        <a:rPr b="1" sz="1300">
                          <a:solidFill>
                            <a:srgbClr val="FFFFFF"/>
                          </a:solidFill>
                        </a:rPr>
                        <a:t>Mid</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0D9488"/>
                    </a:solidFill>
                  </a:tcPr>
                </a:tc>
                <a:tc>
                  <a:txBody>
                    <a:bodyPr/>
                    <a:lstStyle/>
                    <a:p>
                      <a:pPr algn="ctr">
                        <a:defRPr sz="1800"/>
                      </a:pPr>
                      <a:r>
                        <a:rPr sz="1300">
                          <a:solidFill>
                            <a:srgbClr val="1E293B"/>
                          </a:solidFill>
                          <a:latin typeface="Courier New"/>
                          <a:ea typeface="Courier New"/>
                          <a:cs typeface="Courier New"/>
                          <a:sym typeface="Courier New"/>
                        </a:rPr>
                        <a:t>$3.00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ctr">
                        <a:defRPr sz="1800"/>
                      </a:pPr>
                      <a:r>
                        <a:rPr sz="1300">
                          <a:solidFill>
                            <a:srgbClr val="1E293B"/>
                          </a:solidFill>
                          <a:latin typeface="Courier New"/>
                          <a:ea typeface="Courier New"/>
                          <a:cs typeface="Courier New"/>
                          <a:sym typeface="Courier New"/>
                        </a:rPr>
                        <a:t>$15.00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l">
                        <a:defRPr sz="1800"/>
                      </a:pPr>
                      <a:r>
                        <a:rPr sz="1300">
                          <a:solidFill>
                            <a:srgbClr val="64748B"/>
                          </a:solidFill>
                        </a:rPr>
                        <a:t>Coding, analysis, agents</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r>
              <a:tr h="548640">
                <a:tc>
                  <a:txBody>
                    <a:bodyPr/>
                    <a:lstStyle/>
                    <a:p>
                      <a:pPr algn="l">
                        <a:defRPr sz="1800"/>
                      </a:pPr>
                      <a:r>
                        <a:rPr b="1" sz="1300">
                          <a:solidFill>
                            <a:srgbClr val="1E293B"/>
                          </a:solidFill>
                        </a:rPr>
                        <a:t>Claude Opus 4.6</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ctr">
                        <a:defRPr sz="1800"/>
                      </a:pPr>
                      <a:r>
                        <a:rPr b="1" sz="1300">
                          <a:solidFill>
                            <a:srgbClr val="FFFFFF"/>
                          </a:solidFill>
                        </a:rPr>
                        <a:t>Frontier</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4A338"/>
                    </a:solidFill>
                  </a:tcPr>
                </a:tc>
                <a:tc>
                  <a:txBody>
                    <a:bodyPr/>
                    <a:lstStyle/>
                    <a:p>
                      <a:pPr algn="ctr">
                        <a:defRPr sz="1800"/>
                      </a:pPr>
                      <a:r>
                        <a:rPr sz="1300">
                          <a:solidFill>
                            <a:srgbClr val="1E293B"/>
                          </a:solidFill>
                          <a:latin typeface="Courier New"/>
                          <a:ea typeface="Courier New"/>
                          <a:cs typeface="Courier New"/>
                          <a:sym typeface="Courier New"/>
                        </a:rPr>
                        <a:t>$5.00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ctr">
                        <a:defRPr sz="1800"/>
                      </a:pPr>
                      <a:r>
                        <a:rPr sz="1300">
                          <a:solidFill>
                            <a:srgbClr val="1E293B"/>
                          </a:solidFill>
                          <a:latin typeface="Courier New"/>
                          <a:ea typeface="Courier New"/>
                          <a:cs typeface="Courier New"/>
                          <a:sym typeface="Courier New"/>
                        </a:rPr>
                        <a:t>$25.00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c>
                  <a:txBody>
                    <a:bodyPr/>
                    <a:lstStyle/>
                    <a:p>
                      <a:pPr algn="l">
                        <a:defRPr sz="1800"/>
                      </a:pPr>
                      <a:r>
                        <a:rPr sz="1300">
                          <a:solidFill>
                            <a:srgbClr val="64748B"/>
                          </a:solidFill>
                        </a:rPr>
                        <a:t>Hardest reasoning tasks</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1F5F9"/>
                    </a:solidFill>
                  </a:tcPr>
                </a:tc>
              </a:tr>
              <a:tr h="548640">
                <a:tc>
                  <a:txBody>
                    <a:bodyPr/>
                    <a:lstStyle/>
                    <a:p>
                      <a:pPr algn="l">
                        <a:defRPr sz="1800"/>
                      </a:pPr>
                      <a:r>
                        <a:rPr b="1" sz="1300">
                          <a:solidFill>
                            <a:srgbClr val="1E293B"/>
                          </a:solidFill>
                        </a:rPr>
                        <a:t>GPT-5.4 Pro</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ctr">
                        <a:defRPr sz="1800"/>
                      </a:pPr>
                      <a:r>
                        <a:rPr b="1" sz="1300">
                          <a:solidFill>
                            <a:srgbClr val="FFFFFF"/>
                          </a:solidFill>
                        </a:rPr>
                        <a:t>Frontier</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4A338"/>
                    </a:solidFill>
                  </a:tcPr>
                </a:tc>
                <a:tc>
                  <a:txBody>
                    <a:bodyPr/>
                    <a:lstStyle/>
                    <a:p>
                      <a:pPr algn="ctr">
                        <a:defRPr sz="1800"/>
                      </a:pPr>
                      <a:r>
                        <a:rPr sz="1300">
                          <a:solidFill>
                            <a:srgbClr val="1E293B"/>
                          </a:solidFill>
                          <a:latin typeface="Courier New"/>
                          <a:ea typeface="Courier New"/>
                          <a:cs typeface="Courier New"/>
                          <a:sym typeface="Courier New"/>
                        </a:rPr>
                        <a:t>$30.00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ctr">
                        <a:defRPr sz="1800"/>
                      </a:pPr>
                      <a:r>
                        <a:rPr b="1" sz="1300">
                          <a:solidFill>
                            <a:srgbClr val="E05252"/>
                          </a:solidFill>
                          <a:latin typeface="Courier New"/>
                          <a:ea typeface="Courier New"/>
                          <a:cs typeface="Courier New"/>
                          <a:sym typeface="Courier New"/>
                        </a:rPr>
                        <a:t>$180.00</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c>
                  <a:txBody>
                    <a:bodyPr/>
                    <a:lstStyle/>
                    <a:p>
                      <a:pPr algn="l">
                        <a:defRPr sz="1800"/>
                      </a:pPr>
                      <a:r>
                        <a:rPr sz="1300">
                          <a:solidFill>
                            <a:srgbClr val="64748B"/>
                          </a:solidFill>
                        </a:rPr>
                        <a:t>Only when accuracy is worth it</a:t>
                      </a:r>
                    </a:p>
                  </a:txBody>
                  <a:tcPr marL="25400" marR="25400" marT="25400" marB="25400" anchor="ctr" anchorCtr="0" horzOverflow="overflow">
                    <a:lnL w="6350">
                      <a:solidFill>
                        <a:srgbClr val="E2E8F0"/>
                      </a:solidFill>
                    </a:lnL>
                    <a:lnR w="6350">
                      <a:solidFill>
                        <a:srgbClr val="E2E8F0"/>
                      </a:solidFill>
                    </a:lnR>
                    <a:lnT w="6350">
                      <a:solidFill>
                        <a:srgbClr val="E2E8F0"/>
                      </a:solidFill>
                    </a:lnT>
                    <a:lnB w="6350">
                      <a:solidFill>
                        <a:srgbClr val="E2E8F0"/>
                      </a:solidFill>
                    </a:lnB>
                    <a:solidFill>
                      <a:srgbClr val="FFFFFF"/>
                    </a:solidFill>
                  </a:tcPr>
                </a:tc>
              </a:tr>
            </a:tbl>
          </a:graphicData>
        </a:graphic>
      </p:graphicFrame>
      <p:sp>
        <p:nvSpPr>
          <p:cNvPr id="356" name="Text 2"/>
          <p:cNvSpPr txBox="1"/>
          <p:nvPr/>
        </p:nvSpPr>
        <p:spPr>
          <a:xfrm>
            <a:off x="685799" y="6077521"/>
            <a:ext cx="10789922"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i="1" sz="1400">
                <a:solidFill>
                  <a:srgbClr val="E05252"/>
                </a:solidFill>
                <a:latin typeface="+mj-lt"/>
                <a:ea typeface="+mj-ea"/>
                <a:cs typeface="+mj-cs"/>
                <a:sym typeface="Calibri"/>
              </a:defRPr>
            </a:lvl1pPr>
          </a:lstStyle>
          <a:p>
            <a:pPr/>
            <a:r>
              <a:t>Same task, cheapest vs most expensive output: a 300× difference. Choosing the tier IS the engineering.</a:t>
            </a:r>
          </a:p>
        </p:txBody>
      </p:sp>
      <p:sp>
        <p:nvSpPr>
          <p:cNvPr id="357" name="Text 3"/>
          <p:cNvSpPr txBox="1"/>
          <p:nvPr/>
        </p:nvSpPr>
        <p:spPr>
          <a:xfrm>
            <a:off x="502919" y="6480723"/>
            <a:ext cx="53949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64748B"/>
                </a:solidFill>
                <a:latin typeface="+mj-lt"/>
                <a:ea typeface="+mj-ea"/>
                <a:cs typeface="+mj-cs"/>
                <a:sym typeface="Calibri"/>
              </a:defRPr>
            </a:lvl1pPr>
          </a:lstStyle>
          <a:p>
            <a:pPr/>
            <a:r>
              <a:t>The ₹0 AI Engineer  ·  Module 1</a:t>
            </a:r>
          </a:p>
        </p:txBody>
      </p:sp>
      <p:sp>
        <p:nvSpPr>
          <p:cNvPr id="358" name="Text 4"/>
          <p:cNvSpPr txBox="1"/>
          <p:nvPr/>
        </p:nvSpPr>
        <p:spPr>
          <a:xfrm>
            <a:off x="11323015" y="6480723"/>
            <a:ext cx="3657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900">
                <a:solidFill>
                  <a:srgbClr val="64748B"/>
                </a:solidFill>
                <a:latin typeface="+mj-lt"/>
                <a:ea typeface="+mj-ea"/>
                <a:cs typeface="+mj-cs"/>
                <a:sym typeface="Calibri"/>
              </a:defRPr>
            </a:lvl1pPr>
          </a:lstStyle>
          <a:p>
            <a:pPr/>
            <a:r>
              <a:t>8</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A2E"/>
        </a:solidFill>
      </p:bgPr>
    </p:bg>
    <p:spTree>
      <p:nvGrpSpPr>
        <p:cNvPr id="1" name=""/>
        <p:cNvGrpSpPr/>
        <p:nvPr/>
      </p:nvGrpSpPr>
      <p:grpSpPr>
        <a:xfrm>
          <a:off x="0" y="0"/>
          <a:ext cx="0" cy="0"/>
          <a:chOff x="0" y="0"/>
          <a:chExt cx="0" cy="0"/>
        </a:xfrm>
      </p:grpSpPr>
      <p:sp>
        <p:nvSpPr>
          <p:cNvPr id="362" name="Shape 0"/>
          <p:cNvSpPr/>
          <p:nvPr/>
        </p:nvSpPr>
        <p:spPr>
          <a:xfrm>
            <a:off x="640080" y="502919"/>
            <a:ext cx="3200401" cy="502922"/>
          </a:xfrm>
          <a:prstGeom prst="roundRect">
            <a:avLst>
              <a:gd name="adj" fmla="val 49091"/>
            </a:avLst>
          </a:prstGeom>
          <a:solidFill>
            <a:srgbClr val="E05252"/>
          </a:solidFill>
          <a:ln w="12700">
            <a:miter lim="400000"/>
          </a:ln>
        </p:spPr>
        <p:txBody>
          <a:bodyPr lIns="45718" tIns="45718" rIns="45718" bIns="45718"/>
          <a:lstStyle/>
          <a:p>
            <a:pPr>
              <a:defRPr>
                <a:latin typeface="+mj-lt"/>
                <a:ea typeface="+mj-ea"/>
                <a:cs typeface="+mj-cs"/>
                <a:sym typeface="Calibri"/>
              </a:defRPr>
            </a:pPr>
          </a:p>
        </p:txBody>
      </p:sp>
      <p:sp>
        <p:nvSpPr>
          <p:cNvPr id="363" name="Shape 1"/>
          <p:cNvSpPr/>
          <p:nvPr/>
        </p:nvSpPr>
        <p:spPr>
          <a:xfrm>
            <a:off x="841247" y="640080"/>
            <a:ext cx="219458" cy="219459"/>
          </a:xfrm>
          <a:prstGeom prst="ellipse">
            <a:avLst/>
          </a:prstGeom>
          <a:solidFill>
            <a:srgbClr val="FFFFFF"/>
          </a:solidFill>
          <a:ln w="12700">
            <a:miter lim="400000"/>
          </a:ln>
        </p:spPr>
        <p:txBody>
          <a:bodyPr lIns="45718" tIns="45718" rIns="45718" bIns="45718"/>
          <a:lstStyle/>
          <a:p>
            <a:pPr>
              <a:defRPr>
                <a:latin typeface="+mj-lt"/>
                <a:ea typeface="+mj-ea"/>
                <a:cs typeface="+mj-cs"/>
                <a:sym typeface="Calibri"/>
              </a:defRPr>
            </a:pPr>
          </a:p>
        </p:txBody>
      </p:sp>
      <p:sp>
        <p:nvSpPr>
          <p:cNvPr id="364" name="Text 2"/>
          <p:cNvSpPr txBox="1"/>
          <p:nvPr/>
        </p:nvSpPr>
        <p:spPr>
          <a:xfrm>
            <a:off x="1234438" y="613981"/>
            <a:ext cx="2651762"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200" sz="1400">
                <a:solidFill>
                  <a:srgbClr val="FFFFFF"/>
                </a:solidFill>
                <a:latin typeface="+mj-lt"/>
                <a:ea typeface="+mj-ea"/>
                <a:cs typeface="+mj-cs"/>
                <a:sym typeface="Calibri"/>
              </a:defRPr>
            </a:lvl1pPr>
          </a:lstStyle>
          <a:p>
            <a:pPr/>
            <a:r>
              <a:t>LIVE DEMO  ·  2</a:t>
            </a:r>
          </a:p>
        </p:txBody>
      </p:sp>
      <p:sp>
        <p:nvSpPr>
          <p:cNvPr id="365" name="Text 3"/>
          <p:cNvSpPr txBox="1"/>
          <p:nvPr/>
        </p:nvSpPr>
        <p:spPr>
          <a:xfrm>
            <a:off x="685800" y="1234440"/>
            <a:ext cx="10881360"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FFFFFF"/>
                </a:solidFill>
                <a:latin typeface="Cambria"/>
                <a:ea typeface="Cambria"/>
                <a:cs typeface="Cambria"/>
                <a:sym typeface="Cambria"/>
              </a:defRPr>
            </a:lvl1pPr>
          </a:lstStyle>
          <a:p>
            <a:pPr/>
            <a:r>
              <a:t>Let's price a real feature — on the whiteboard</a:t>
            </a:r>
          </a:p>
        </p:txBody>
      </p:sp>
      <p:sp>
        <p:nvSpPr>
          <p:cNvPr id="366" name="Shape 4"/>
          <p:cNvSpPr/>
          <p:nvPr/>
        </p:nvSpPr>
        <p:spPr>
          <a:xfrm>
            <a:off x="640080" y="2057400"/>
            <a:ext cx="5212080" cy="4023360"/>
          </a:xfrm>
          <a:prstGeom prst="roundRect">
            <a:avLst>
              <a:gd name="adj" fmla="val 2273"/>
            </a:avLst>
          </a:prstGeom>
          <a:solidFill>
            <a:srgbClr val="143A40"/>
          </a:solidFill>
          <a:ln w="12700">
            <a:solidFill>
              <a:srgbClr val="21555B"/>
            </a:solidFill>
          </a:ln>
        </p:spPr>
        <p:txBody>
          <a:bodyPr lIns="45718" tIns="45718" rIns="45718" bIns="45718"/>
          <a:lstStyle/>
          <a:p>
            <a:pPr>
              <a:defRPr>
                <a:latin typeface="+mj-lt"/>
                <a:ea typeface="+mj-ea"/>
                <a:cs typeface="+mj-cs"/>
                <a:sym typeface="Calibri"/>
              </a:defRPr>
            </a:pPr>
          </a:p>
        </p:txBody>
      </p:sp>
      <p:sp>
        <p:nvSpPr>
          <p:cNvPr id="367" name="Text 5"/>
          <p:cNvSpPr txBox="1"/>
          <p:nvPr/>
        </p:nvSpPr>
        <p:spPr>
          <a:xfrm>
            <a:off x="960119" y="2271200"/>
            <a:ext cx="448056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200" sz="1300">
                <a:solidFill>
                  <a:srgbClr val="F4A338"/>
                </a:solidFill>
                <a:latin typeface="+mj-lt"/>
                <a:ea typeface="+mj-ea"/>
                <a:cs typeface="+mj-cs"/>
                <a:sym typeface="Calibri"/>
              </a:defRPr>
            </a:lvl1pPr>
          </a:lstStyle>
          <a:p>
            <a:pPr/>
            <a:r>
              <a:t>THE SCENARIO</a:t>
            </a:r>
          </a:p>
        </p:txBody>
      </p:sp>
      <p:sp>
        <p:nvSpPr>
          <p:cNvPr id="368" name="Text 6"/>
          <p:cNvSpPr txBox="1"/>
          <p:nvPr/>
        </p:nvSpPr>
        <p:spPr>
          <a:xfrm>
            <a:off x="960119" y="3086629"/>
            <a:ext cx="4663442" cy="233066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nSpc>
                <a:spcPct val="115000"/>
              </a:lnSpc>
              <a:defRPr b="1" sz="1500">
                <a:solidFill>
                  <a:srgbClr val="FFFFFF"/>
                </a:solidFill>
                <a:latin typeface="+mj-lt"/>
                <a:ea typeface="+mj-ea"/>
                <a:cs typeface="+mj-cs"/>
                <a:sym typeface="Calibri"/>
              </a:defRPr>
            </a:pPr>
            <a:r>
              <a:t>A résumé-screening feature.</a:t>
            </a:r>
          </a:p>
          <a:p>
            <a:pPr>
              <a:lnSpc>
                <a:spcPct val="115000"/>
              </a:lnSpc>
              <a:defRPr sz="1500">
                <a:latin typeface="+mj-lt"/>
                <a:ea typeface="+mj-ea"/>
                <a:cs typeface="+mj-cs"/>
                <a:sym typeface="Calibri"/>
              </a:defRPr>
            </a:pPr>
          </a:p>
          <a:p>
            <a:pPr>
              <a:lnSpc>
                <a:spcPct val="115000"/>
              </a:lnSpc>
              <a:defRPr b="1" sz="1500">
                <a:solidFill>
                  <a:srgbClr val="5EEAD4"/>
                </a:solidFill>
                <a:latin typeface="+mj-lt"/>
                <a:ea typeface="+mj-ea"/>
                <a:cs typeface="+mj-cs"/>
                <a:sym typeface="Calibri"/>
              </a:defRPr>
            </a:pPr>
            <a:r>
              <a:t>Per résumé:</a:t>
            </a:r>
          </a:p>
          <a:p>
            <a:pPr>
              <a:lnSpc>
                <a:spcPct val="115000"/>
              </a:lnSpc>
              <a:defRPr sz="1500">
                <a:solidFill>
                  <a:srgbClr val="E2F0F0"/>
                </a:solidFill>
                <a:latin typeface="+mj-lt"/>
                <a:ea typeface="+mj-ea"/>
                <a:cs typeface="+mj-cs"/>
                <a:sym typeface="Calibri"/>
              </a:defRPr>
            </a:pPr>
            <a:r>
              <a:t>• Input  ≈ 800 tokens  (résumé + prompt)</a:t>
            </a:r>
          </a:p>
          <a:p>
            <a:pPr>
              <a:lnSpc>
                <a:spcPct val="115000"/>
              </a:lnSpc>
              <a:defRPr sz="1500">
                <a:solidFill>
                  <a:srgbClr val="E2F0F0"/>
                </a:solidFill>
                <a:latin typeface="+mj-lt"/>
                <a:ea typeface="+mj-ea"/>
                <a:cs typeface="+mj-cs"/>
                <a:sym typeface="Calibri"/>
              </a:defRPr>
            </a:pPr>
            <a:r>
              <a:t>• Output ≈ 200 tokens  (the JSON summary)</a:t>
            </a:r>
          </a:p>
          <a:p>
            <a:pPr>
              <a:lnSpc>
                <a:spcPct val="115000"/>
              </a:lnSpc>
              <a:defRPr sz="1500">
                <a:latin typeface="+mj-lt"/>
                <a:ea typeface="+mj-ea"/>
                <a:cs typeface="+mj-cs"/>
                <a:sym typeface="Calibri"/>
              </a:defRPr>
            </a:pPr>
          </a:p>
          <a:p>
            <a:pPr>
              <a:lnSpc>
                <a:spcPct val="115000"/>
              </a:lnSpc>
              <a:defRPr b="1" sz="1500">
                <a:solidFill>
                  <a:srgbClr val="FFFFFF"/>
                </a:solidFill>
                <a:latin typeface="+mj-lt"/>
                <a:ea typeface="+mj-ea"/>
                <a:cs typeface="+mj-cs"/>
                <a:sym typeface="Calibri"/>
              </a:defRPr>
            </a:pPr>
            <a:r>
              <a:t>You process 50,000 résumés / month.</a:t>
            </a:r>
          </a:p>
          <a:p>
            <a:pPr>
              <a:lnSpc>
                <a:spcPct val="115000"/>
              </a:lnSpc>
              <a:defRPr sz="1500">
                <a:latin typeface="+mj-lt"/>
                <a:ea typeface="+mj-ea"/>
                <a:cs typeface="+mj-cs"/>
                <a:sym typeface="Calibri"/>
              </a:defRPr>
            </a:pPr>
          </a:p>
          <a:p>
            <a:pPr>
              <a:lnSpc>
                <a:spcPct val="115000"/>
              </a:lnSpc>
              <a:defRPr b="1" i="1" sz="1500">
                <a:solidFill>
                  <a:srgbClr val="F4A338"/>
                </a:solidFill>
                <a:latin typeface="+mj-lt"/>
                <a:ea typeface="+mj-ea"/>
                <a:cs typeface="+mj-cs"/>
                <a:sym typeface="Calibri"/>
              </a:defRPr>
            </a:pPr>
            <a:r>
              <a:t>Which model do you pick?</a:t>
            </a:r>
          </a:p>
        </p:txBody>
      </p:sp>
      <p:sp>
        <p:nvSpPr>
          <p:cNvPr id="369" name="Shape 7"/>
          <p:cNvSpPr/>
          <p:nvPr/>
        </p:nvSpPr>
        <p:spPr>
          <a:xfrm>
            <a:off x="6035040" y="2057400"/>
            <a:ext cx="5486402" cy="4023360"/>
          </a:xfrm>
          <a:prstGeom prst="roundRect">
            <a:avLst>
              <a:gd name="adj" fmla="val 2273"/>
            </a:avLst>
          </a:prstGeom>
          <a:solidFill>
            <a:srgbClr val="0D9488"/>
          </a:solidFill>
          <a:ln w="12700">
            <a:miter lim="400000"/>
          </a:ln>
          <a:effectLst>
            <a:outerShdw sx="100000" sy="100000" kx="0" ky="0" algn="b" rotWithShape="0" blurRad="88900" dist="38100" dir="2700000">
              <a:srgbClr val="000000">
                <a:alpha val="28000"/>
              </a:srgbClr>
            </a:outerShdw>
          </a:effectLst>
        </p:spPr>
        <p:txBody>
          <a:bodyPr lIns="45718" tIns="45718" rIns="45718" bIns="45718"/>
          <a:lstStyle/>
          <a:p>
            <a:pPr>
              <a:defRPr>
                <a:latin typeface="+mj-lt"/>
                <a:ea typeface="+mj-ea"/>
                <a:cs typeface="+mj-cs"/>
                <a:sym typeface="Calibri"/>
              </a:defRPr>
            </a:pPr>
          </a:p>
        </p:txBody>
      </p:sp>
      <p:pic>
        <p:nvPicPr>
          <p:cNvPr id="370" name="Image 0" descr="Image 0"/>
          <p:cNvPicPr>
            <a:picLocks noChangeAspect="1"/>
          </p:cNvPicPr>
          <p:nvPr/>
        </p:nvPicPr>
        <p:blipFill>
          <a:blip r:embed="rId3">
            <a:extLst/>
          </a:blip>
          <a:stretch>
            <a:fillRect/>
          </a:stretch>
        </p:blipFill>
        <p:spPr>
          <a:xfrm>
            <a:off x="6355079" y="2286000"/>
            <a:ext cx="457202" cy="457200"/>
          </a:xfrm>
          <a:prstGeom prst="rect">
            <a:avLst/>
          </a:prstGeom>
          <a:ln w="12700">
            <a:miter lim="400000"/>
          </a:ln>
        </p:spPr>
      </p:pic>
      <p:sp>
        <p:nvSpPr>
          <p:cNvPr id="371" name="Text 8"/>
          <p:cNvSpPr txBox="1"/>
          <p:nvPr/>
        </p:nvSpPr>
        <p:spPr>
          <a:xfrm>
            <a:off x="6949439" y="2369628"/>
            <a:ext cx="4480562"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400">
                <a:solidFill>
                  <a:srgbClr val="0F2A2E"/>
                </a:solidFill>
                <a:latin typeface="+mj-lt"/>
                <a:ea typeface="+mj-ea"/>
                <a:cs typeface="+mj-cs"/>
                <a:sym typeface="Calibri"/>
              </a:defRPr>
            </a:lvl1pPr>
          </a:lstStyle>
          <a:p>
            <a:pPr/>
            <a:r>
              <a:t>WORK IT THROUGH  (Haiku 4.5)</a:t>
            </a:r>
          </a:p>
        </p:txBody>
      </p:sp>
      <p:sp>
        <p:nvSpPr>
          <p:cNvPr id="372" name="Text 9"/>
          <p:cNvSpPr txBox="1"/>
          <p:nvPr/>
        </p:nvSpPr>
        <p:spPr>
          <a:xfrm>
            <a:off x="6400800" y="3061382"/>
            <a:ext cx="4937761" cy="20153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nSpc>
                <a:spcPct val="110000"/>
              </a:lnSpc>
              <a:defRPr sz="1500">
                <a:solidFill>
                  <a:srgbClr val="FFFFFF"/>
                </a:solidFill>
                <a:latin typeface="Courier New"/>
                <a:ea typeface="Courier New"/>
                <a:cs typeface="Courier New"/>
                <a:sym typeface="Courier New"/>
              </a:defRPr>
            </a:pPr>
            <a:r>
              <a:t>Input:  50,000 × 800 = 40M tokens</a:t>
            </a:r>
          </a:p>
          <a:p>
            <a:pPr>
              <a:lnSpc>
                <a:spcPct val="110000"/>
              </a:lnSpc>
              <a:defRPr b="1" sz="1500">
                <a:solidFill>
                  <a:srgbClr val="E6FFFB"/>
                </a:solidFill>
                <a:latin typeface="Courier New"/>
                <a:ea typeface="Courier New"/>
                <a:cs typeface="Courier New"/>
                <a:sym typeface="Courier New"/>
              </a:defRPr>
            </a:pPr>
            <a:r>
              <a:t>        40 × $0.25  =  $10.00</a:t>
            </a:r>
          </a:p>
          <a:p>
            <a:pPr>
              <a:lnSpc>
                <a:spcPct val="110000"/>
              </a:lnSpc>
              <a:defRPr sz="1500">
                <a:latin typeface="+mj-lt"/>
                <a:ea typeface="+mj-ea"/>
                <a:cs typeface="+mj-cs"/>
                <a:sym typeface="Calibri"/>
              </a:defRPr>
            </a:pPr>
          </a:p>
          <a:p>
            <a:pPr>
              <a:lnSpc>
                <a:spcPct val="110000"/>
              </a:lnSpc>
              <a:defRPr sz="1500">
                <a:solidFill>
                  <a:srgbClr val="FFFFFF"/>
                </a:solidFill>
                <a:latin typeface="Courier New"/>
                <a:ea typeface="Courier New"/>
                <a:cs typeface="Courier New"/>
                <a:sym typeface="Courier New"/>
              </a:defRPr>
            </a:pPr>
            <a:r>
              <a:t>Output: 50,000 × 200 = 10M tokens</a:t>
            </a:r>
          </a:p>
          <a:p>
            <a:pPr>
              <a:lnSpc>
                <a:spcPct val="110000"/>
              </a:lnSpc>
              <a:defRPr b="1" sz="1500">
                <a:solidFill>
                  <a:srgbClr val="E6FFFB"/>
                </a:solidFill>
                <a:latin typeface="Courier New"/>
                <a:ea typeface="Courier New"/>
                <a:cs typeface="Courier New"/>
                <a:sym typeface="Courier New"/>
              </a:defRPr>
            </a:pPr>
            <a:r>
              <a:t>        10 × $1.25  =  $12.50</a:t>
            </a:r>
          </a:p>
          <a:p>
            <a:pPr>
              <a:lnSpc>
                <a:spcPct val="110000"/>
              </a:lnSpc>
              <a:defRPr sz="1500">
                <a:latin typeface="+mj-lt"/>
                <a:ea typeface="+mj-ea"/>
                <a:cs typeface="+mj-cs"/>
                <a:sym typeface="Calibri"/>
              </a:defRPr>
            </a:pPr>
          </a:p>
          <a:p>
            <a:pPr>
              <a:lnSpc>
                <a:spcPct val="110000"/>
              </a:lnSpc>
              <a:defRPr sz="1500">
                <a:solidFill>
                  <a:srgbClr val="7FE8D8"/>
                </a:solidFill>
                <a:latin typeface="Courier New"/>
                <a:ea typeface="Courier New"/>
                <a:cs typeface="Courier New"/>
                <a:sym typeface="Courier New"/>
              </a:defRPr>
            </a:pPr>
            <a:r>
              <a:t>────────────────────────</a:t>
            </a:r>
          </a:p>
          <a:p>
            <a:pPr>
              <a:lnSpc>
                <a:spcPct val="110000"/>
              </a:lnSpc>
              <a:defRPr b="1" sz="1500">
                <a:solidFill>
                  <a:srgbClr val="FFFFFF"/>
                </a:solidFill>
                <a:latin typeface="Courier New"/>
                <a:ea typeface="Courier New"/>
                <a:cs typeface="Courier New"/>
                <a:sym typeface="Courier New"/>
              </a:defRPr>
            </a:pPr>
            <a:r>
              <a:t>TOTAL ≈ $22.50 / month  (~₹1,900)</a:t>
            </a:r>
          </a:p>
        </p:txBody>
      </p:sp>
      <p:sp>
        <p:nvSpPr>
          <p:cNvPr id="373" name="Text 10"/>
          <p:cNvSpPr txBox="1"/>
          <p:nvPr/>
        </p:nvSpPr>
        <p:spPr>
          <a:xfrm>
            <a:off x="6400798" y="5484299"/>
            <a:ext cx="4846323" cy="4614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i="1" sz="1300">
                <a:solidFill>
                  <a:srgbClr val="0F2A2E"/>
                </a:solidFill>
                <a:latin typeface="+mj-lt"/>
                <a:ea typeface="+mj-ea"/>
                <a:cs typeface="+mj-cs"/>
                <a:sym typeface="Calibri"/>
              </a:defRPr>
            </a:lvl1pPr>
          </a:lstStyle>
          <a:p>
            <a:pPr/>
            <a:r>
              <a:t>Same job on GPT-5.4 Pro ≈ $1,560/mo.  Now the tier choice is obvious.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0D9488"/>
                </a:solidFill>
                <a:latin typeface="+mj-lt"/>
                <a:ea typeface="+mj-ea"/>
                <a:cs typeface="+mj-cs"/>
                <a:sym typeface="Calibri"/>
              </a:defRPr>
            </a:lvl1pPr>
          </a:lstStyle>
          <a:p>
            <a:pPr/>
            <a:r>
              <a:t>THE INDUSTRY CHECKLIST</a:t>
            </a:r>
          </a:p>
        </p:txBody>
      </p:sp>
      <p:sp>
        <p:nvSpPr>
          <p:cNvPr id="378" name="Text 1"/>
          <p:cNvSpPr txBox="1"/>
          <p:nvPr/>
        </p:nvSpPr>
        <p:spPr>
          <a:xfrm>
            <a:off x="685800" y="972820"/>
            <a:ext cx="10881360" cy="523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900">
                <a:solidFill>
                  <a:srgbClr val="1E293B"/>
                </a:solidFill>
                <a:latin typeface="Cambria"/>
                <a:ea typeface="Cambria"/>
                <a:cs typeface="Cambria"/>
                <a:sym typeface="Cambria"/>
              </a:defRPr>
            </a:lvl1pPr>
          </a:lstStyle>
          <a:p>
            <a:pPr/>
            <a:r>
              <a:t>Every team asks three questions before shipping AI</a:t>
            </a:r>
          </a:p>
        </p:txBody>
      </p:sp>
      <p:sp>
        <p:nvSpPr>
          <p:cNvPr id="379" name="Shape 2"/>
          <p:cNvSpPr/>
          <p:nvPr/>
        </p:nvSpPr>
        <p:spPr>
          <a:xfrm>
            <a:off x="640080" y="1874520"/>
            <a:ext cx="3520441" cy="3566160"/>
          </a:xfrm>
          <a:prstGeom prst="roundRect">
            <a:avLst>
              <a:gd name="adj" fmla="val 3117"/>
            </a:avLst>
          </a:prstGeom>
          <a:solidFill>
            <a:srgbClr val="F1F5F9"/>
          </a:solidFill>
          <a:ln w="12700">
            <a:miter lim="400000"/>
          </a:ln>
          <a:effectLst>
            <a:outerShdw sx="100000" sy="100000" kx="0" ky="0" algn="b" rotWithShape="0" blurRad="88900" dist="38100" dir="2700000">
              <a:srgbClr val="000000">
                <a:alpha val="12000"/>
              </a:srgbClr>
            </a:outerShdw>
          </a:effectLst>
        </p:spPr>
        <p:txBody>
          <a:bodyPr lIns="45718" tIns="45718" rIns="45718" bIns="45718"/>
          <a:lstStyle/>
          <a:p>
            <a:pPr>
              <a:defRPr>
                <a:latin typeface="+mj-lt"/>
                <a:ea typeface="+mj-ea"/>
                <a:cs typeface="+mj-cs"/>
                <a:sym typeface="Calibri"/>
              </a:defRPr>
            </a:pPr>
          </a:p>
        </p:txBody>
      </p:sp>
      <p:sp>
        <p:nvSpPr>
          <p:cNvPr id="380" name="Shape 3"/>
          <p:cNvSpPr/>
          <p:nvPr/>
        </p:nvSpPr>
        <p:spPr>
          <a:xfrm>
            <a:off x="960119" y="2240278"/>
            <a:ext cx="960123" cy="960123"/>
          </a:xfrm>
          <a:prstGeom prst="ellipse">
            <a:avLst/>
          </a:prstGeom>
          <a:solidFill>
            <a:srgbClr val="0D9488"/>
          </a:solidFill>
          <a:ln w="12700">
            <a:miter lim="400000"/>
          </a:ln>
        </p:spPr>
        <p:txBody>
          <a:bodyPr lIns="45718" tIns="45718" rIns="45718" bIns="45718"/>
          <a:lstStyle/>
          <a:p>
            <a:pPr>
              <a:defRPr>
                <a:latin typeface="+mj-lt"/>
                <a:ea typeface="+mj-ea"/>
                <a:cs typeface="+mj-cs"/>
                <a:sym typeface="Calibri"/>
              </a:defRPr>
            </a:pPr>
          </a:p>
        </p:txBody>
      </p:sp>
      <p:pic>
        <p:nvPicPr>
          <p:cNvPr id="381" name="Image 0" descr="Image 0"/>
          <p:cNvPicPr>
            <a:picLocks noChangeAspect="1"/>
          </p:cNvPicPr>
          <p:nvPr/>
        </p:nvPicPr>
        <p:blipFill>
          <a:blip r:embed="rId3">
            <a:extLst/>
          </a:blip>
          <a:stretch>
            <a:fillRect/>
          </a:stretch>
        </p:blipFill>
        <p:spPr>
          <a:xfrm>
            <a:off x="1188719" y="2468878"/>
            <a:ext cx="502922" cy="502922"/>
          </a:xfrm>
          <a:prstGeom prst="rect">
            <a:avLst/>
          </a:prstGeom>
          <a:ln w="12700">
            <a:miter lim="400000"/>
          </a:ln>
        </p:spPr>
      </p:pic>
      <p:sp>
        <p:nvSpPr>
          <p:cNvPr id="382" name="Text 4"/>
          <p:cNvSpPr txBox="1"/>
          <p:nvPr/>
        </p:nvSpPr>
        <p:spPr>
          <a:xfrm>
            <a:off x="960119" y="3557269"/>
            <a:ext cx="2926083" cy="383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000">
                <a:solidFill>
                  <a:srgbClr val="1E293B"/>
                </a:solidFill>
                <a:latin typeface="Cambria"/>
                <a:ea typeface="Cambria"/>
                <a:cs typeface="Cambria"/>
                <a:sym typeface="Cambria"/>
              </a:defRPr>
            </a:lvl1pPr>
          </a:lstStyle>
          <a:p>
            <a:pPr/>
            <a:r>
              <a:t>How accurate?</a:t>
            </a:r>
          </a:p>
        </p:txBody>
      </p:sp>
      <p:sp>
        <p:nvSpPr>
          <p:cNvPr id="383" name="Text 5"/>
          <p:cNvSpPr txBox="1"/>
          <p:nvPr/>
        </p:nvSpPr>
        <p:spPr>
          <a:xfrm>
            <a:off x="960119" y="4340160"/>
            <a:ext cx="2971801" cy="7379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64748B"/>
                </a:solidFill>
                <a:latin typeface="+mj-lt"/>
                <a:ea typeface="+mj-ea"/>
                <a:cs typeface="+mj-cs"/>
                <a:sym typeface="Calibri"/>
              </a:defRPr>
            </a:lvl1pPr>
          </a:lstStyle>
          <a:p>
            <a:pPr/>
            <a:r>
              <a:t>Is it right often enough for THIS use case? 95% may be fine for tagging, fatal for billing.</a:t>
            </a:r>
          </a:p>
        </p:txBody>
      </p:sp>
      <p:sp>
        <p:nvSpPr>
          <p:cNvPr id="384" name="Shape 6"/>
          <p:cNvSpPr/>
          <p:nvPr/>
        </p:nvSpPr>
        <p:spPr>
          <a:xfrm>
            <a:off x="4361688" y="1874520"/>
            <a:ext cx="3520441" cy="3566160"/>
          </a:xfrm>
          <a:prstGeom prst="roundRect">
            <a:avLst>
              <a:gd name="adj" fmla="val 3117"/>
            </a:avLst>
          </a:prstGeom>
          <a:solidFill>
            <a:srgbClr val="F1F5F9"/>
          </a:solidFill>
          <a:ln w="12700">
            <a:miter lim="400000"/>
          </a:ln>
          <a:effectLst>
            <a:outerShdw sx="100000" sy="100000" kx="0" ky="0" algn="b" rotWithShape="0" blurRad="88900" dist="38100" dir="2700000">
              <a:srgbClr val="000000">
                <a:alpha val="12000"/>
              </a:srgbClr>
            </a:outerShdw>
          </a:effectLst>
        </p:spPr>
        <p:txBody>
          <a:bodyPr lIns="45718" tIns="45718" rIns="45718" bIns="45718"/>
          <a:lstStyle/>
          <a:p>
            <a:pPr>
              <a:defRPr>
                <a:latin typeface="+mj-lt"/>
                <a:ea typeface="+mj-ea"/>
                <a:cs typeface="+mj-cs"/>
                <a:sym typeface="Calibri"/>
              </a:defRPr>
            </a:pPr>
          </a:p>
        </p:txBody>
      </p:sp>
      <p:sp>
        <p:nvSpPr>
          <p:cNvPr id="385" name="Shape 7"/>
          <p:cNvSpPr/>
          <p:nvPr/>
        </p:nvSpPr>
        <p:spPr>
          <a:xfrm>
            <a:off x="4681728" y="2240278"/>
            <a:ext cx="960123" cy="960123"/>
          </a:xfrm>
          <a:prstGeom prst="ellipse">
            <a:avLst/>
          </a:prstGeom>
          <a:solidFill>
            <a:srgbClr val="F4A338"/>
          </a:solidFill>
          <a:ln w="12700">
            <a:miter lim="400000"/>
          </a:ln>
        </p:spPr>
        <p:txBody>
          <a:bodyPr lIns="45718" tIns="45718" rIns="45718" bIns="45718"/>
          <a:lstStyle/>
          <a:p>
            <a:pPr>
              <a:defRPr>
                <a:latin typeface="+mj-lt"/>
                <a:ea typeface="+mj-ea"/>
                <a:cs typeface="+mj-cs"/>
                <a:sym typeface="Calibri"/>
              </a:defRPr>
            </a:pPr>
          </a:p>
        </p:txBody>
      </p:sp>
      <p:pic>
        <p:nvPicPr>
          <p:cNvPr id="386" name="Image 1" descr="Image 1"/>
          <p:cNvPicPr>
            <a:picLocks noChangeAspect="1"/>
          </p:cNvPicPr>
          <p:nvPr/>
        </p:nvPicPr>
        <p:blipFill>
          <a:blip r:embed="rId4">
            <a:extLst/>
          </a:blip>
          <a:stretch>
            <a:fillRect/>
          </a:stretch>
        </p:blipFill>
        <p:spPr>
          <a:xfrm>
            <a:off x="4910328" y="2468878"/>
            <a:ext cx="502922" cy="502922"/>
          </a:xfrm>
          <a:prstGeom prst="rect">
            <a:avLst/>
          </a:prstGeom>
          <a:ln w="12700">
            <a:miter lim="400000"/>
          </a:ln>
        </p:spPr>
      </p:pic>
      <p:sp>
        <p:nvSpPr>
          <p:cNvPr id="387" name="Text 8"/>
          <p:cNvSpPr txBox="1"/>
          <p:nvPr/>
        </p:nvSpPr>
        <p:spPr>
          <a:xfrm>
            <a:off x="4681728" y="3557269"/>
            <a:ext cx="2926082" cy="383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000">
                <a:solidFill>
                  <a:srgbClr val="1E293B"/>
                </a:solidFill>
                <a:latin typeface="Cambria"/>
                <a:ea typeface="Cambria"/>
                <a:cs typeface="Cambria"/>
                <a:sym typeface="Cambria"/>
              </a:defRPr>
            </a:lvl1pPr>
          </a:lstStyle>
          <a:p>
            <a:pPr/>
            <a:r>
              <a:t>How fast?</a:t>
            </a:r>
          </a:p>
        </p:txBody>
      </p:sp>
      <p:sp>
        <p:nvSpPr>
          <p:cNvPr id="388" name="Text 9"/>
          <p:cNvSpPr txBox="1"/>
          <p:nvPr/>
        </p:nvSpPr>
        <p:spPr>
          <a:xfrm>
            <a:off x="4681728" y="4340160"/>
            <a:ext cx="2971802" cy="7379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64748B"/>
                </a:solidFill>
                <a:latin typeface="+mj-lt"/>
                <a:ea typeface="+mj-ea"/>
                <a:cs typeface="+mj-cs"/>
                <a:sym typeface="Calibri"/>
              </a:defRPr>
            </a:lvl1pPr>
          </a:lstStyle>
          <a:p>
            <a:pPr/>
            <a:r>
              <a:t>Latency users will tolerate. A 200ms autocomplete and a 30s report are different products.</a:t>
            </a:r>
          </a:p>
        </p:txBody>
      </p:sp>
      <p:sp>
        <p:nvSpPr>
          <p:cNvPr id="389" name="Shape 10"/>
          <p:cNvSpPr/>
          <p:nvPr/>
        </p:nvSpPr>
        <p:spPr>
          <a:xfrm>
            <a:off x="8083294" y="1874520"/>
            <a:ext cx="3520442" cy="3566160"/>
          </a:xfrm>
          <a:prstGeom prst="roundRect">
            <a:avLst>
              <a:gd name="adj" fmla="val 3117"/>
            </a:avLst>
          </a:prstGeom>
          <a:solidFill>
            <a:srgbClr val="F1F5F9"/>
          </a:solidFill>
          <a:ln w="12700">
            <a:miter lim="400000"/>
          </a:ln>
          <a:effectLst>
            <a:outerShdw sx="100000" sy="100000" kx="0" ky="0" algn="b" rotWithShape="0" blurRad="88900" dist="38100" dir="2700000">
              <a:srgbClr val="000000">
                <a:alpha val="12000"/>
              </a:srgbClr>
            </a:outerShdw>
          </a:effectLst>
        </p:spPr>
        <p:txBody>
          <a:bodyPr lIns="45718" tIns="45718" rIns="45718" bIns="45718"/>
          <a:lstStyle/>
          <a:p>
            <a:pPr>
              <a:defRPr>
                <a:latin typeface="+mj-lt"/>
                <a:ea typeface="+mj-ea"/>
                <a:cs typeface="+mj-cs"/>
                <a:sym typeface="Calibri"/>
              </a:defRPr>
            </a:pPr>
          </a:p>
        </p:txBody>
      </p:sp>
      <p:sp>
        <p:nvSpPr>
          <p:cNvPr id="390" name="Shape 11"/>
          <p:cNvSpPr/>
          <p:nvPr/>
        </p:nvSpPr>
        <p:spPr>
          <a:xfrm>
            <a:off x="8403335" y="2240278"/>
            <a:ext cx="960123" cy="96012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391" name="Image 2" descr="Image 2"/>
          <p:cNvPicPr>
            <a:picLocks noChangeAspect="1"/>
          </p:cNvPicPr>
          <p:nvPr/>
        </p:nvPicPr>
        <p:blipFill>
          <a:blip r:embed="rId5">
            <a:extLst/>
          </a:blip>
          <a:stretch>
            <a:fillRect/>
          </a:stretch>
        </p:blipFill>
        <p:spPr>
          <a:xfrm>
            <a:off x="8631935" y="2468878"/>
            <a:ext cx="502922" cy="502922"/>
          </a:xfrm>
          <a:prstGeom prst="rect">
            <a:avLst/>
          </a:prstGeom>
          <a:ln w="12700">
            <a:miter lim="400000"/>
          </a:ln>
        </p:spPr>
      </p:pic>
      <p:sp>
        <p:nvSpPr>
          <p:cNvPr id="392" name="Text 12"/>
          <p:cNvSpPr txBox="1"/>
          <p:nvPr/>
        </p:nvSpPr>
        <p:spPr>
          <a:xfrm>
            <a:off x="8403335" y="3411219"/>
            <a:ext cx="2926083" cy="675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000">
                <a:solidFill>
                  <a:srgbClr val="1E293B"/>
                </a:solidFill>
                <a:latin typeface="Cambria"/>
                <a:ea typeface="Cambria"/>
                <a:cs typeface="Cambria"/>
                <a:sym typeface="Cambria"/>
              </a:defRPr>
            </a:lvl1pPr>
          </a:lstStyle>
          <a:p>
            <a:pPr/>
            <a:r>
              <a:t>How much per 1,000 calls?</a:t>
            </a:r>
          </a:p>
        </p:txBody>
      </p:sp>
      <p:sp>
        <p:nvSpPr>
          <p:cNvPr id="393" name="Text 13"/>
          <p:cNvSpPr txBox="1"/>
          <p:nvPr/>
        </p:nvSpPr>
        <p:spPr>
          <a:xfrm>
            <a:off x="8403335" y="4454460"/>
            <a:ext cx="2971802" cy="5093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400">
                <a:solidFill>
                  <a:srgbClr val="64748B"/>
                </a:solidFill>
                <a:latin typeface="+mj-lt"/>
                <a:ea typeface="+mj-ea"/>
                <a:cs typeface="+mj-cs"/>
                <a:sym typeface="Calibri"/>
              </a:defRPr>
            </a:lvl1pPr>
          </a:lstStyle>
          <a:p>
            <a:pPr/>
            <a:r>
              <a:t>The number that decides if the feature survives a budget review.</a:t>
            </a:r>
          </a:p>
        </p:txBody>
      </p:sp>
      <p:sp>
        <p:nvSpPr>
          <p:cNvPr id="394" name="Text 14"/>
          <p:cNvSpPr txBox="1"/>
          <p:nvPr/>
        </p:nvSpPr>
        <p:spPr>
          <a:xfrm>
            <a:off x="685799" y="5777230"/>
            <a:ext cx="1078992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600">
                <a:solidFill>
                  <a:srgbClr val="0D9488"/>
                </a:solidFill>
                <a:latin typeface="Cambria"/>
                <a:ea typeface="Cambria"/>
                <a:cs typeface="Cambria"/>
                <a:sym typeface="Cambria"/>
              </a:defRPr>
            </a:lvl1pPr>
          </a:lstStyle>
          <a:p>
            <a:pPr/>
            <a:r>
              <a:t>Academia optimises the first. Industry balances all three — at once.</a:t>
            </a:r>
          </a:p>
        </p:txBody>
      </p:sp>
      <p:sp>
        <p:nvSpPr>
          <p:cNvPr id="395" name="Text 15"/>
          <p:cNvSpPr txBox="1"/>
          <p:nvPr/>
        </p:nvSpPr>
        <p:spPr>
          <a:xfrm>
            <a:off x="502919" y="6480723"/>
            <a:ext cx="53949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64748B"/>
                </a:solidFill>
                <a:latin typeface="+mj-lt"/>
                <a:ea typeface="+mj-ea"/>
                <a:cs typeface="+mj-cs"/>
                <a:sym typeface="Calibri"/>
              </a:defRPr>
            </a:lvl1pPr>
          </a:lstStyle>
          <a:p>
            <a:pPr/>
            <a:r>
              <a:t>The ₹0 AI Engineer  ·  Module 1</a:t>
            </a:r>
          </a:p>
        </p:txBody>
      </p:sp>
      <p:sp>
        <p:nvSpPr>
          <p:cNvPr id="396" name="Text 16"/>
          <p:cNvSpPr txBox="1"/>
          <p:nvPr/>
        </p:nvSpPr>
        <p:spPr>
          <a:xfrm>
            <a:off x="11323015" y="6480723"/>
            <a:ext cx="3657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900">
                <a:solidFill>
                  <a:srgbClr val="64748B"/>
                </a:solidFill>
                <a:latin typeface="+mj-lt"/>
                <a:ea typeface="+mj-ea"/>
                <a:cs typeface="+mj-cs"/>
                <a:sym typeface="Calibri"/>
              </a:defRPr>
            </a:lvl1pPr>
          </a:lstStyle>
          <a:p>
            <a:pPr/>
            <a:r>
              <a:t>10</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E05252"/>
                </a:solidFill>
                <a:latin typeface="+mj-lt"/>
                <a:ea typeface="+mj-ea"/>
                <a:cs typeface="+mj-cs"/>
                <a:sym typeface="Calibri"/>
              </a:defRPr>
            </a:lvl1pPr>
          </a:lstStyle>
          <a:p>
            <a:pPr/>
            <a:r>
              <a:t>THE TRADEOFF, VISUALISED</a:t>
            </a:r>
          </a:p>
        </p:txBody>
      </p:sp>
      <p:sp>
        <p:nvSpPr>
          <p:cNvPr id="401" name="Text 1"/>
          <p:cNvSpPr txBox="1"/>
          <p:nvPr/>
        </p:nvSpPr>
        <p:spPr>
          <a:xfrm>
            <a:off x="685800" y="960120"/>
            <a:ext cx="10881360"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1E293B"/>
                </a:solidFill>
                <a:latin typeface="Cambria"/>
                <a:ea typeface="Cambria"/>
                <a:cs typeface="Cambria"/>
                <a:sym typeface="Cambria"/>
              </a:defRPr>
            </a:lvl1pPr>
          </a:lstStyle>
          <a:p>
            <a:pPr/>
            <a:r>
              <a:t>5% less accurate, 80% cheaper — and it ships</a:t>
            </a:r>
          </a:p>
        </p:txBody>
      </p:sp>
      <p:sp>
        <p:nvSpPr>
          <p:cNvPr id="402" name="Text 2"/>
          <p:cNvSpPr txBox="1"/>
          <p:nvPr/>
        </p:nvSpPr>
        <p:spPr>
          <a:xfrm>
            <a:off x="685799" y="5964622"/>
            <a:ext cx="10789922" cy="2779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500">
                <a:solidFill>
                  <a:srgbClr val="1E293B"/>
                </a:solidFill>
                <a:latin typeface="+mj-lt"/>
                <a:ea typeface="+mj-ea"/>
                <a:cs typeface="+mj-cs"/>
                <a:sym typeface="Calibri"/>
              </a:defRPr>
            </a:lvl1pPr>
          </a:lstStyle>
          <a:p>
            <a:pPr/>
            <a:r>
              <a:t>Accuracy barely moves.  Cost moves 36×.</a:t>
            </a:r>
          </a:p>
        </p:txBody>
      </p:sp>
      <p:sp>
        <p:nvSpPr>
          <p:cNvPr id="403" name="Text 3"/>
          <p:cNvSpPr txBox="1"/>
          <p:nvPr/>
        </p:nvSpPr>
        <p:spPr>
          <a:xfrm>
            <a:off x="502919" y="6480723"/>
            <a:ext cx="53949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64748B"/>
                </a:solidFill>
                <a:latin typeface="+mj-lt"/>
                <a:ea typeface="+mj-ea"/>
                <a:cs typeface="+mj-cs"/>
                <a:sym typeface="Calibri"/>
              </a:defRPr>
            </a:lvl1pPr>
          </a:lstStyle>
          <a:p>
            <a:pPr/>
            <a:r>
              <a:t>The ₹0 AI Engineer  ·  Module 1</a:t>
            </a:r>
          </a:p>
        </p:txBody>
      </p:sp>
      <p:sp>
        <p:nvSpPr>
          <p:cNvPr id="404" name="Text 4"/>
          <p:cNvSpPr txBox="1"/>
          <p:nvPr/>
        </p:nvSpPr>
        <p:spPr>
          <a:xfrm>
            <a:off x="11323015" y="6480723"/>
            <a:ext cx="3657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900">
                <a:solidFill>
                  <a:srgbClr val="64748B"/>
                </a:solidFill>
                <a:latin typeface="+mj-lt"/>
                <a:ea typeface="+mj-ea"/>
                <a:cs typeface="+mj-cs"/>
                <a:sym typeface="Calibri"/>
              </a:defRPr>
            </a:lvl1pPr>
          </a:lstStyle>
          <a:p>
            <a:pPr/>
            <a:r>
              <a:t>11</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A2E"/>
        </a:solidFill>
      </p:bgPr>
    </p:bg>
    <p:spTree>
      <p:nvGrpSpPr>
        <p:cNvPr id="1" name=""/>
        <p:cNvGrpSpPr/>
        <p:nvPr/>
      </p:nvGrpSpPr>
      <p:grpSpPr>
        <a:xfrm>
          <a:off x="0" y="0"/>
          <a:ext cx="0" cy="0"/>
          <a:chOff x="0" y="0"/>
          <a:chExt cx="0" cy="0"/>
        </a:xfrm>
      </p:grpSpPr>
      <p:sp>
        <p:nvSpPr>
          <p:cNvPr id="408"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5EEAD4"/>
                </a:solidFill>
                <a:latin typeface="+mj-lt"/>
                <a:ea typeface="+mj-ea"/>
                <a:cs typeface="+mj-cs"/>
                <a:sym typeface="Calibri"/>
              </a:defRPr>
            </a:lvl1pPr>
          </a:lstStyle>
          <a:p>
            <a:pPr/>
            <a:r>
              <a:t>THE LEVER YOU CONTROL</a:t>
            </a:r>
          </a:p>
        </p:txBody>
      </p:sp>
      <p:sp>
        <p:nvSpPr>
          <p:cNvPr id="409" name="Text 1"/>
          <p:cNvSpPr txBox="1"/>
          <p:nvPr/>
        </p:nvSpPr>
        <p:spPr>
          <a:xfrm>
            <a:off x="685800" y="960120"/>
            <a:ext cx="10881360" cy="548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000">
                <a:solidFill>
                  <a:srgbClr val="FFFFFF"/>
                </a:solidFill>
                <a:latin typeface="Cambria"/>
                <a:ea typeface="Cambria"/>
                <a:cs typeface="Cambria"/>
                <a:sym typeface="Cambria"/>
              </a:defRPr>
            </a:lvl1pPr>
          </a:lstStyle>
          <a:p>
            <a:pPr/>
            <a:r>
              <a:t>Cut tokens, cut cost — without losing quality</a:t>
            </a:r>
          </a:p>
        </p:txBody>
      </p:sp>
      <p:sp>
        <p:nvSpPr>
          <p:cNvPr id="410" name="Shape 2"/>
          <p:cNvSpPr/>
          <p:nvPr/>
        </p:nvSpPr>
        <p:spPr>
          <a:xfrm>
            <a:off x="640080" y="1828800"/>
            <a:ext cx="5349241" cy="2286000"/>
          </a:xfrm>
          <a:prstGeom prst="roundRect">
            <a:avLst>
              <a:gd name="adj" fmla="val 4000"/>
            </a:avLst>
          </a:prstGeom>
          <a:solidFill>
            <a:srgbClr val="143A40"/>
          </a:solidFill>
          <a:ln w="19050">
            <a:solidFill>
              <a:srgbClr val="E05252"/>
            </a:solidFill>
          </a:ln>
        </p:spPr>
        <p:txBody>
          <a:bodyPr lIns="45718" tIns="45718" rIns="45718" bIns="45718"/>
          <a:lstStyle/>
          <a:p>
            <a:pPr>
              <a:defRPr>
                <a:latin typeface="+mj-lt"/>
                <a:ea typeface="+mj-ea"/>
                <a:cs typeface="+mj-cs"/>
                <a:sym typeface="Calibri"/>
              </a:defRPr>
            </a:pPr>
          </a:p>
        </p:txBody>
      </p:sp>
      <p:pic>
        <p:nvPicPr>
          <p:cNvPr id="411" name="Image 0" descr="Image 0"/>
          <p:cNvPicPr>
            <a:picLocks noChangeAspect="1"/>
          </p:cNvPicPr>
          <p:nvPr/>
        </p:nvPicPr>
        <p:blipFill>
          <a:blip r:embed="rId3">
            <a:extLst/>
          </a:blip>
          <a:stretch>
            <a:fillRect/>
          </a:stretch>
        </p:blipFill>
        <p:spPr>
          <a:xfrm>
            <a:off x="914400" y="2057400"/>
            <a:ext cx="411481" cy="411481"/>
          </a:xfrm>
          <a:prstGeom prst="rect">
            <a:avLst/>
          </a:prstGeom>
          <a:ln w="12700">
            <a:miter lim="400000"/>
          </a:ln>
        </p:spPr>
      </p:pic>
      <p:sp>
        <p:nvSpPr>
          <p:cNvPr id="412" name="Text 3"/>
          <p:cNvSpPr txBox="1"/>
          <p:nvPr/>
        </p:nvSpPr>
        <p:spPr>
          <a:xfrm>
            <a:off x="1508758" y="2124142"/>
            <a:ext cx="356616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E05252"/>
                </a:solidFill>
                <a:latin typeface="+mj-lt"/>
                <a:ea typeface="+mj-ea"/>
                <a:cs typeface="+mj-cs"/>
                <a:sym typeface="Calibri"/>
              </a:defRPr>
            </a:lvl1pPr>
          </a:lstStyle>
          <a:p>
            <a:pPr/>
            <a:r>
              <a:t>BLOATED PROMPT</a:t>
            </a:r>
          </a:p>
        </p:txBody>
      </p:sp>
      <p:sp>
        <p:nvSpPr>
          <p:cNvPr id="413" name="Text 4"/>
          <p:cNvSpPr txBox="1"/>
          <p:nvPr/>
        </p:nvSpPr>
        <p:spPr>
          <a:xfrm>
            <a:off x="960119" y="2808540"/>
            <a:ext cx="4754882" cy="5093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i="1" sz="1400">
                <a:solidFill>
                  <a:srgbClr val="C9DDDF"/>
                </a:solidFill>
                <a:latin typeface="+mj-lt"/>
                <a:ea typeface="+mj-ea"/>
                <a:cs typeface="+mj-cs"/>
                <a:sym typeface="Calibri"/>
              </a:defRPr>
            </a:lvl1pPr>
          </a:lstStyle>
          <a:p>
            <a:pPr/>
            <a:r>
              <a:t>“I would really like you to please carefully read through the following text and then kindly extract...”</a:t>
            </a:r>
          </a:p>
        </p:txBody>
      </p:sp>
      <p:sp>
        <p:nvSpPr>
          <p:cNvPr id="414" name="Text 5"/>
          <p:cNvSpPr txBox="1"/>
          <p:nvPr/>
        </p:nvSpPr>
        <p:spPr>
          <a:xfrm>
            <a:off x="960119" y="3628389"/>
            <a:ext cx="4480562"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700">
                <a:solidFill>
                  <a:srgbClr val="E05252"/>
                </a:solidFill>
                <a:latin typeface="Courier New"/>
                <a:ea typeface="Courier New"/>
                <a:cs typeface="Courier New"/>
                <a:sym typeface="Courier New"/>
              </a:defRPr>
            </a:lvl1pPr>
          </a:lstStyle>
          <a:p>
            <a:pPr/>
            <a:r>
              <a:t>142 tokens / call</a:t>
            </a:r>
          </a:p>
        </p:txBody>
      </p:sp>
      <p:sp>
        <p:nvSpPr>
          <p:cNvPr id="415" name="Shape 6"/>
          <p:cNvSpPr/>
          <p:nvPr/>
        </p:nvSpPr>
        <p:spPr>
          <a:xfrm>
            <a:off x="6172200" y="1828800"/>
            <a:ext cx="5349241" cy="2286000"/>
          </a:xfrm>
          <a:prstGeom prst="roundRect">
            <a:avLst>
              <a:gd name="adj" fmla="val 4000"/>
            </a:avLst>
          </a:prstGeom>
          <a:solidFill>
            <a:srgbClr val="143A40"/>
          </a:solidFill>
          <a:ln w="19050">
            <a:solidFill>
              <a:srgbClr val="1FA971"/>
            </a:solidFill>
          </a:ln>
        </p:spPr>
        <p:txBody>
          <a:bodyPr lIns="45718" tIns="45718" rIns="45718" bIns="45718"/>
          <a:lstStyle/>
          <a:p>
            <a:pPr>
              <a:defRPr>
                <a:latin typeface="+mj-lt"/>
                <a:ea typeface="+mj-ea"/>
                <a:cs typeface="+mj-cs"/>
                <a:sym typeface="Calibri"/>
              </a:defRPr>
            </a:pPr>
          </a:p>
        </p:txBody>
      </p:sp>
      <p:pic>
        <p:nvPicPr>
          <p:cNvPr id="416" name="Image 1" descr="Image 1"/>
          <p:cNvPicPr>
            <a:picLocks noChangeAspect="1"/>
          </p:cNvPicPr>
          <p:nvPr/>
        </p:nvPicPr>
        <p:blipFill>
          <a:blip r:embed="rId4">
            <a:extLst/>
          </a:blip>
          <a:stretch>
            <a:fillRect/>
          </a:stretch>
        </p:blipFill>
        <p:spPr>
          <a:xfrm>
            <a:off x="6446520" y="2057400"/>
            <a:ext cx="411482" cy="411481"/>
          </a:xfrm>
          <a:prstGeom prst="rect">
            <a:avLst/>
          </a:prstGeom>
          <a:ln w="12700">
            <a:miter lim="400000"/>
          </a:ln>
        </p:spPr>
      </p:pic>
      <p:sp>
        <p:nvSpPr>
          <p:cNvPr id="417" name="Text 7"/>
          <p:cNvSpPr txBox="1"/>
          <p:nvPr/>
        </p:nvSpPr>
        <p:spPr>
          <a:xfrm>
            <a:off x="7040878" y="2124142"/>
            <a:ext cx="356616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500">
                <a:solidFill>
                  <a:srgbClr val="1FA971"/>
                </a:solidFill>
                <a:latin typeface="+mj-lt"/>
                <a:ea typeface="+mj-ea"/>
                <a:cs typeface="+mj-cs"/>
                <a:sym typeface="Calibri"/>
              </a:defRPr>
            </a:lvl1pPr>
          </a:lstStyle>
          <a:p>
            <a:pPr/>
            <a:r>
              <a:t>TIGHT PROMPT</a:t>
            </a:r>
          </a:p>
        </p:txBody>
      </p:sp>
      <p:sp>
        <p:nvSpPr>
          <p:cNvPr id="418" name="Text 8"/>
          <p:cNvSpPr txBox="1"/>
          <p:nvPr/>
        </p:nvSpPr>
        <p:spPr>
          <a:xfrm>
            <a:off x="6492240" y="2922840"/>
            <a:ext cx="4754882"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i="1" sz="1400">
                <a:solidFill>
                  <a:srgbClr val="C9DDDF"/>
                </a:solidFill>
                <a:latin typeface="+mj-lt"/>
                <a:ea typeface="+mj-ea"/>
                <a:cs typeface="+mj-cs"/>
                <a:sym typeface="Calibri"/>
              </a:defRPr>
            </a:lvl1pPr>
          </a:lstStyle>
          <a:p>
            <a:pPr/>
            <a:r>
              <a:t>“Extract skills, experience, summary. Return JSON only.”</a:t>
            </a:r>
          </a:p>
        </p:txBody>
      </p:sp>
      <p:sp>
        <p:nvSpPr>
          <p:cNvPr id="419" name="Text 9"/>
          <p:cNvSpPr txBox="1"/>
          <p:nvPr/>
        </p:nvSpPr>
        <p:spPr>
          <a:xfrm>
            <a:off x="6492240" y="3628389"/>
            <a:ext cx="4480560" cy="332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700">
                <a:solidFill>
                  <a:srgbClr val="1FA971"/>
                </a:solidFill>
                <a:latin typeface="Courier New"/>
                <a:ea typeface="Courier New"/>
                <a:cs typeface="Courier New"/>
                <a:sym typeface="Courier New"/>
              </a:defRPr>
            </a:lvl1pPr>
          </a:lstStyle>
          <a:p>
            <a:pPr/>
            <a:r>
              <a:t>18 tokens / call</a:t>
            </a:r>
          </a:p>
        </p:txBody>
      </p:sp>
      <p:sp>
        <p:nvSpPr>
          <p:cNvPr id="420" name="Shape 10"/>
          <p:cNvSpPr/>
          <p:nvPr/>
        </p:nvSpPr>
        <p:spPr>
          <a:xfrm>
            <a:off x="640080" y="4434840"/>
            <a:ext cx="10881360" cy="1508762"/>
          </a:xfrm>
          <a:prstGeom prst="roundRect">
            <a:avLst>
              <a:gd name="adj" fmla="val 6061"/>
            </a:avLst>
          </a:prstGeom>
          <a:solidFill>
            <a:srgbClr val="0D9488"/>
          </a:solidFill>
          <a:ln w="12700">
            <a:miter lim="400000"/>
          </a:ln>
          <a:effectLst>
            <a:outerShdw sx="100000" sy="100000" kx="0" ky="0" algn="b" rotWithShape="0" blurRad="88900" dist="38100" dir="2700000">
              <a:srgbClr val="000000">
                <a:alpha val="25000"/>
              </a:srgbClr>
            </a:outerShdw>
          </a:effectLst>
        </p:spPr>
        <p:txBody>
          <a:bodyPr lIns="45718" tIns="45718" rIns="45718" bIns="45718"/>
          <a:lstStyle/>
          <a:p>
            <a:pPr>
              <a:defRPr>
                <a:latin typeface="+mj-lt"/>
                <a:ea typeface="+mj-ea"/>
                <a:cs typeface="+mj-cs"/>
                <a:sym typeface="Calibri"/>
              </a:defRPr>
            </a:pPr>
          </a:p>
        </p:txBody>
      </p:sp>
      <p:pic>
        <p:nvPicPr>
          <p:cNvPr id="421" name="Image 2" descr="Image 2"/>
          <p:cNvPicPr>
            <a:picLocks noChangeAspect="1"/>
          </p:cNvPicPr>
          <p:nvPr/>
        </p:nvPicPr>
        <p:blipFill>
          <a:blip r:embed="rId5">
            <a:extLst/>
          </a:blip>
          <a:stretch>
            <a:fillRect/>
          </a:stretch>
        </p:blipFill>
        <p:spPr>
          <a:xfrm>
            <a:off x="1005838" y="4892040"/>
            <a:ext cx="594362" cy="594362"/>
          </a:xfrm>
          <a:prstGeom prst="rect">
            <a:avLst/>
          </a:prstGeom>
          <a:ln w="12700">
            <a:miter lim="400000"/>
          </a:ln>
        </p:spPr>
      </p:pic>
      <p:sp>
        <p:nvSpPr>
          <p:cNvPr id="422" name="Text 11"/>
          <p:cNvSpPr txBox="1"/>
          <p:nvPr/>
        </p:nvSpPr>
        <p:spPr>
          <a:xfrm>
            <a:off x="1874520" y="4911924"/>
            <a:ext cx="9418320" cy="5545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defRPr b="1" sz="1600">
                <a:solidFill>
                  <a:srgbClr val="FFFFFF"/>
                </a:solidFill>
                <a:latin typeface="+mj-lt"/>
                <a:ea typeface="+mj-ea"/>
                <a:cs typeface="+mj-cs"/>
                <a:sym typeface="Calibri"/>
              </a:defRPr>
            </a:pPr>
            <a:r>
              <a:t>124 tokens saved × 50,000 calls/month = 6.2M fewer tokens.  </a:t>
            </a:r>
            <a:r>
              <a:rPr b="0">
                <a:solidFill>
                  <a:srgbClr val="E6FFFB"/>
                </a:solidFill>
              </a:rPr>
              <a:t>Same answer. Lower bill. </a:t>
            </a:r>
            <a:r>
              <a:rPr>
                <a:solidFill>
                  <a:srgbClr val="0F2A2E"/>
                </a:solidFill>
              </a:rPr>
              <a:t>Prompt design is cost engineering — that's Module 2.</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6" name="Text 0"/>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E05252"/>
                </a:solidFill>
                <a:latin typeface="+mj-lt"/>
                <a:ea typeface="+mj-ea"/>
                <a:cs typeface="+mj-cs"/>
                <a:sym typeface="Calibri"/>
              </a:defRPr>
            </a:lvl1pPr>
          </a:lstStyle>
          <a:p>
            <a:pPr/>
            <a:r>
              <a:t>KNOW THE LIMITS</a:t>
            </a:r>
          </a:p>
        </p:txBody>
      </p:sp>
      <p:sp>
        <p:nvSpPr>
          <p:cNvPr id="427" name="Text 1"/>
          <p:cNvSpPr txBox="1"/>
          <p:nvPr/>
        </p:nvSpPr>
        <p:spPr>
          <a:xfrm>
            <a:off x="685800" y="972820"/>
            <a:ext cx="10881360" cy="523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2900">
                <a:solidFill>
                  <a:srgbClr val="1E293B"/>
                </a:solidFill>
                <a:latin typeface="Cambria"/>
                <a:ea typeface="Cambria"/>
                <a:cs typeface="Cambria"/>
                <a:sym typeface="Cambria"/>
              </a:defRPr>
            </a:lvl1pPr>
          </a:lstStyle>
          <a:p>
            <a:pPr/>
            <a:r>
              <a:t>What it can't do — the failures teams plan around</a:t>
            </a:r>
          </a:p>
        </p:txBody>
      </p:sp>
      <p:sp>
        <p:nvSpPr>
          <p:cNvPr id="428" name="Shape 2"/>
          <p:cNvSpPr/>
          <p:nvPr/>
        </p:nvSpPr>
        <p:spPr>
          <a:xfrm>
            <a:off x="640080" y="1828800"/>
            <a:ext cx="5349241" cy="1737362"/>
          </a:xfrm>
          <a:prstGeom prst="roundRect">
            <a:avLst>
              <a:gd name="adj" fmla="val 5263"/>
            </a:avLst>
          </a:prstGeom>
          <a:solidFill>
            <a:srgbClr val="F1F5F9"/>
          </a:solidFill>
          <a:ln w="12700">
            <a:miter lim="400000"/>
          </a:ln>
          <a:effectLst>
            <a:outerShdw sx="100000" sy="100000" kx="0" ky="0" algn="b" rotWithShape="0" blurRad="88900" dist="38100" dir="2700000">
              <a:srgbClr val="000000">
                <a:alpha val="10000"/>
              </a:srgbClr>
            </a:outerShdw>
          </a:effectLst>
        </p:spPr>
        <p:txBody>
          <a:bodyPr lIns="45718" tIns="45718" rIns="45718" bIns="45718"/>
          <a:lstStyle/>
          <a:p>
            <a:pPr>
              <a:defRPr>
                <a:latin typeface="+mj-lt"/>
                <a:ea typeface="+mj-ea"/>
                <a:cs typeface="+mj-cs"/>
                <a:sym typeface="Calibri"/>
              </a:defRPr>
            </a:pPr>
          </a:p>
        </p:txBody>
      </p:sp>
      <p:sp>
        <p:nvSpPr>
          <p:cNvPr id="429" name="Shape 3"/>
          <p:cNvSpPr/>
          <p:nvPr/>
        </p:nvSpPr>
        <p:spPr>
          <a:xfrm>
            <a:off x="914400" y="2148838"/>
            <a:ext cx="822962" cy="82296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430" name="Image 0" descr="Image 0"/>
          <p:cNvPicPr>
            <a:picLocks noChangeAspect="1"/>
          </p:cNvPicPr>
          <p:nvPr/>
        </p:nvPicPr>
        <p:blipFill>
          <a:blip r:embed="rId3">
            <a:extLst/>
          </a:blip>
          <a:stretch>
            <a:fillRect/>
          </a:stretch>
        </p:blipFill>
        <p:spPr>
          <a:xfrm>
            <a:off x="1115566" y="2350006"/>
            <a:ext cx="420626" cy="420626"/>
          </a:xfrm>
          <a:prstGeom prst="rect">
            <a:avLst/>
          </a:prstGeom>
          <a:ln w="12700">
            <a:miter lim="400000"/>
          </a:ln>
        </p:spPr>
      </p:pic>
      <p:sp>
        <p:nvSpPr>
          <p:cNvPr id="431" name="Text 4"/>
          <p:cNvSpPr txBox="1"/>
          <p:nvPr/>
        </p:nvSpPr>
        <p:spPr>
          <a:xfrm>
            <a:off x="1965960" y="2189438"/>
            <a:ext cx="3749041" cy="33028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900">
                <a:solidFill>
                  <a:srgbClr val="1E293B"/>
                </a:solidFill>
                <a:latin typeface="+mj-lt"/>
                <a:ea typeface="+mj-ea"/>
                <a:cs typeface="+mj-cs"/>
                <a:sym typeface="Calibri"/>
              </a:defRPr>
            </a:lvl1pPr>
          </a:lstStyle>
          <a:p>
            <a:pPr/>
            <a:r>
              <a:t>Hallucination</a:t>
            </a:r>
          </a:p>
        </p:txBody>
      </p:sp>
      <p:sp>
        <p:nvSpPr>
          <p:cNvPr id="432" name="Text 5"/>
          <p:cNvSpPr txBox="1"/>
          <p:nvPr/>
        </p:nvSpPr>
        <p:spPr>
          <a:xfrm>
            <a:off x="1965960" y="2809678"/>
            <a:ext cx="3794760" cy="4614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4748B"/>
                </a:solidFill>
                <a:latin typeface="+mj-lt"/>
                <a:ea typeface="+mj-ea"/>
                <a:cs typeface="+mj-cs"/>
                <a:sym typeface="Calibri"/>
              </a:defRPr>
            </a:lvl1pPr>
          </a:lstStyle>
          <a:p>
            <a:pPr/>
            <a:r>
              <a:t>It will state false things with total confidence. It optimises for plausible, not true.</a:t>
            </a:r>
          </a:p>
        </p:txBody>
      </p:sp>
      <p:sp>
        <p:nvSpPr>
          <p:cNvPr id="433" name="Shape 6"/>
          <p:cNvSpPr/>
          <p:nvPr/>
        </p:nvSpPr>
        <p:spPr>
          <a:xfrm>
            <a:off x="6172200" y="1828800"/>
            <a:ext cx="5349241" cy="1737362"/>
          </a:xfrm>
          <a:prstGeom prst="roundRect">
            <a:avLst>
              <a:gd name="adj" fmla="val 5263"/>
            </a:avLst>
          </a:prstGeom>
          <a:solidFill>
            <a:srgbClr val="F1F5F9"/>
          </a:solidFill>
          <a:ln w="12700">
            <a:miter lim="400000"/>
          </a:ln>
          <a:effectLst>
            <a:outerShdw sx="100000" sy="100000" kx="0" ky="0" algn="b" rotWithShape="0" blurRad="88900" dist="38100" dir="2700000">
              <a:srgbClr val="000000">
                <a:alpha val="10000"/>
              </a:srgbClr>
            </a:outerShdw>
          </a:effectLst>
        </p:spPr>
        <p:txBody>
          <a:bodyPr lIns="45718" tIns="45718" rIns="45718" bIns="45718"/>
          <a:lstStyle/>
          <a:p>
            <a:pPr>
              <a:defRPr>
                <a:latin typeface="+mj-lt"/>
                <a:ea typeface="+mj-ea"/>
                <a:cs typeface="+mj-cs"/>
                <a:sym typeface="Calibri"/>
              </a:defRPr>
            </a:pPr>
          </a:p>
        </p:txBody>
      </p:sp>
      <p:sp>
        <p:nvSpPr>
          <p:cNvPr id="434" name="Shape 7"/>
          <p:cNvSpPr/>
          <p:nvPr/>
        </p:nvSpPr>
        <p:spPr>
          <a:xfrm>
            <a:off x="6446520" y="2148838"/>
            <a:ext cx="822963" cy="82296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435" name="Image 1" descr="Image 1"/>
          <p:cNvPicPr>
            <a:picLocks noChangeAspect="1"/>
          </p:cNvPicPr>
          <p:nvPr/>
        </p:nvPicPr>
        <p:blipFill>
          <a:blip r:embed="rId4">
            <a:extLst/>
          </a:blip>
          <a:stretch>
            <a:fillRect/>
          </a:stretch>
        </p:blipFill>
        <p:spPr>
          <a:xfrm>
            <a:off x="6647688" y="2350006"/>
            <a:ext cx="420626" cy="420626"/>
          </a:xfrm>
          <a:prstGeom prst="rect">
            <a:avLst/>
          </a:prstGeom>
          <a:ln w="12700">
            <a:miter lim="400000"/>
          </a:ln>
        </p:spPr>
      </p:pic>
      <p:sp>
        <p:nvSpPr>
          <p:cNvPr id="436" name="Text 8"/>
          <p:cNvSpPr txBox="1"/>
          <p:nvPr/>
        </p:nvSpPr>
        <p:spPr>
          <a:xfrm>
            <a:off x="7498078" y="2189438"/>
            <a:ext cx="3749042" cy="33028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900">
                <a:solidFill>
                  <a:srgbClr val="1E293B"/>
                </a:solidFill>
                <a:latin typeface="+mj-lt"/>
                <a:ea typeface="+mj-ea"/>
                <a:cs typeface="+mj-cs"/>
                <a:sym typeface="Calibri"/>
              </a:defRPr>
            </a:lvl1pPr>
          </a:lstStyle>
          <a:p>
            <a:pPr/>
            <a:r>
              <a:t>No live knowledge</a:t>
            </a:r>
          </a:p>
        </p:txBody>
      </p:sp>
      <p:sp>
        <p:nvSpPr>
          <p:cNvPr id="437" name="Text 9"/>
          <p:cNvSpPr txBox="1"/>
          <p:nvPr/>
        </p:nvSpPr>
        <p:spPr>
          <a:xfrm>
            <a:off x="7498078" y="2809678"/>
            <a:ext cx="3794762" cy="4614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4748B"/>
                </a:solidFill>
                <a:latin typeface="+mj-lt"/>
                <a:ea typeface="+mj-ea"/>
                <a:cs typeface="+mj-cs"/>
                <a:sym typeface="Calibri"/>
              </a:defRPr>
            </a:lvl1pPr>
          </a:lstStyle>
          <a:p>
            <a:pPr/>
            <a:r>
              <a:t>Frozen at its training cutoff. It doesn't know today unless you give it today.</a:t>
            </a:r>
          </a:p>
        </p:txBody>
      </p:sp>
      <p:sp>
        <p:nvSpPr>
          <p:cNvPr id="438" name="Shape 10"/>
          <p:cNvSpPr/>
          <p:nvPr/>
        </p:nvSpPr>
        <p:spPr>
          <a:xfrm>
            <a:off x="640080" y="3749040"/>
            <a:ext cx="5349241" cy="1737362"/>
          </a:xfrm>
          <a:prstGeom prst="roundRect">
            <a:avLst>
              <a:gd name="adj" fmla="val 5263"/>
            </a:avLst>
          </a:prstGeom>
          <a:solidFill>
            <a:srgbClr val="F1F5F9"/>
          </a:solidFill>
          <a:ln w="12700">
            <a:miter lim="400000"/>
          </a:ln>
          <a:effectLst>
            <a:outerShdw sx="100000" sy="100000" kx="0" ky="0" algn="b" rotWithShape="0" blurRad="88900" dist="38100" dir="2700000">
              <a:srgbClr val="000000">
                <a:alpha val="10000"/>
              </a:srgbClr>
            </a:outerShdw>
          </a:effectLst>
        </p:spPr>
        <p:txBody>
          <a:bodyPr lIns="45718" tIns="45718" rIns="45718" bIns="45718"/>
          <a:lstStyle/>
          <a:p>
            <a:pPr>
              <a:defRPr>
                <a:latin typeface="+mj-lt"/>
                <a:ea typeface="+mj-ea"/>
                <a:cs typeface="+mj-cs"/>
                <a:sym typeface="Calibri"/>
              </a:defRPr>
            </a:pPr>
          </a:p>
        </p:txBody>
      </p:sp>
      <p:sp>
        <p:nvSpPr>
          <p:cNvPr id="439" name="Shape 11"/>
          <p:cNvSpPr/>
          <p:nvPr/>
        </p:nvSpPr>
        <p:spPr>
          <a:xfrm>
            <a:off x="914400" y="4069079"/>
            <a:ext cx="822962" cy="82296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440" name="Image 2" descr="Image 2"/>
          <p:cNvPicPr>
            <a:picLocks noChangeAspect="1"/>
          </p:cNvPicPr>
          <p:nvPr/>
        </p:nvPicPr>
        <p:blipFill>
          <a:blip r:embed="rId5">
            <a:extLst/>
          </a:blip>
          <a:stretch>
            <a:fillRect/>
          </a:stretch>
        </p:blipFill>
        <p:spPr>
          <a:xfrm>
            <a:off x="1115566" y="4270247"/>
            <a:ext cx="420626" cy="420626"/>
          </a:xfrm>
          <a:prstGeom prst="rect">
            <a:avLst/>
          </a:prstGeom>
          <a:ln w="12700">
            <a:miter lim="400000"/>
          </a:ln>
        </p:spPr>
      </p:pic>
      <p:sp>
        <p:nvSpPr>
          <p:cNvPr id="441" name="Text 12"/>
          <p:cNvSpPr txBox="1"/>
          <p:nvPr/>
        </p:nvSpPr>
        <p:spPr>
          <a:xfrm>
            <a:off x="1965960" y="4109678"/>
            <a:ext cx="3749041" cy="33028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900">
                <a:solidFill>
                  <a:srgbClr val="1E293B"/>
                </a:solidFill>
                <a:latin typeface="+mj-lt"/>
                <a:ea typeface="+mj-ea"/>
                <a:cs typeface="+mj-cs"/>
                <a:sym typeface="Calibri"/>
              </a:defRPr>
            </a:lvl1pPr>
          </a:lstStyle>
          <a:p>
            <a:pPr/>
            <a:r>
              <a:t>Weak at exact math</a:t>
            </a:r>
          </a:p>
        </p:txBody>
      </p:sp>
      <p:sp>
        <p:nvSpPr>
          <p:cNvPr id="442" name="Text 13"/>
          <p:cNvSpPr txBox="1"/>
          <p:nvPr/>
        </p:nvSpPr>
        <p:spPr>
          <a:xfrm>
            <a:off x="1965960" y="4729919"/>
            <a:ext cx="3794760" cy="4614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4748B"/>
                </a:solidFill>
                <a:latin typeface="+mj-lt"/>
                <a:ea typeface="+mj-ea"/>
                <a:cs typeface="+mj-cs"/>
                <a:sym typeface="Calibri"/>
              </a:defRPr>
            </a:lvl1pPr>
          </a:lstStyle>
          <a:p>
            <a:pPr/>
            <a:r>
              <a:t>A language model isn't a calculator. Give it tools for arithmetic &amp; logic.</a:t>
            </a:r>
          </a:p>
        </p:txBody>
      </p:sp>
      <p:sp>
        <p:nvSpPr>
          <p:cNvPr id="443" name="Shape 14"/>
          <p:cNvSpPr/>
          <p:nvPr/>
        </p:nvSpPr>
        <p:spPr>
          <a:xfrm>
            <a:off x="6172200" y="3749040"/>
            <a:ext cx="5349241" cy="1737362"/>
          </a:xfrm>
          <a:prstGeom prst="roundRect">
            <a:avLst>
              <a:gd name="adj" fmla="val 5263"/>
            </a:avLst>
          </a:prstGeom>
          <a:solidFill>
            <a:srgbClr val="F1F5F9"/>
          </a:solidFill>
          <a:ln w="12700">
            <a:miter lim="400000"/>
          </a:ln>
          <a:effectLst>
            <a:outerShdw sx="100000" sy="100000" kx="0" ky="0" algn="b" rotWithShape="0" blurRad="88900" dist="38100" dir="2700000">
              <a:srgbClr val="000000">
                <a:alpha val="10000"/>
              </a:srgbClr>
            </a:outerShdw>
          </a:effectLst>
        </p:spPr>
        <p:txBody>
          <a:bodyPr lIns="45718" tIns="45718" rIns="45718" bIns="45718"/>
          <a:lstStyle/>
          <a:p>
            <a:pPr>
              <a:defRPr>
                <a:latin typeface="+mj-lt"/>
                <a:ea typeface="+mj-ea"/>
                <a:cs typeface="+mj-cs"/>
                <a:sym typeface="Calibri"/>
              </a:defRPr>
            </a:pPr>
          </a:p>
        </p:txBody>
      </p:sp>
      <p:sp>
        <p:nvSpPr>
          <p:cNvPr id="444" name="Shape 15"/>
          <p:cNvSpPr/>
          <p:nvPr/>
        </p:nvSpPr>
        <p:spPr>
          <a:xfrm>
            <a:off x="6446520" y="4069079"/>
            <a:ext cx="822963" cy="822963"/>
          </a:xfrm>
          <a:prstGeom prst="ellipse">
            <a:avLst/>
          </a:prstGeom>
          <a:solidFill>
            <a:srgbClr val="0F2A2E"/>
          </a:solidFill>
          <a:ln w="12700">
            <a:miter lim="400000"/>
          </a:ln>
        </p:spPr>
        <p:txBody>
          <a:bodyPr lIns="45718" tIns="45718" rIns="45718" bIns="45718"/>
          <a:lstStyle/>
          <a:p>
            <a:pPr>
              <a:defRPr>
                <a:latin typeface="+mj-lt"/>
                <a:ea typeface="+mj-ea"/>
                <a:cs typeface="+mj-cs"/>
                <a:sym typeface="Calibri"/>
              </a:defRPr>
            </a:pPr>
          </a:p>
        </p:txBody>
      </p:sp>
      <p:pic>
        <p:nvPicPr>
          <p:cNvPr id="445" name="Image 3" descr="Image 3"/>
          <p:cNvPicPr>
            <a:picLocks noChangeAspect="1"/>
          </p:cNvPicPr>
          <p:nvPr/>
        </p:nvPicPr>
        <p:blipFill>
          <a:blip r:embed="rId6">
            <a:extLst/>
          </a:blip>
          <a:stretch>
            <a:fillRect/>
          </a:stretch>
        </p:blipFill>
        <p:spPr>
          <a:xfrm>
            <a:off x="6647688" y="4270247"/>
            <a:ext cx="420626" cy="420626"/>
          </a:xfrm>
          <a:prstGeom prst="rect">
            <a:avLst/>
          </a:prstGeom>
          <a:ln w="12700">
            <a:miter lim="400000"/>
          </a:ln>
        </p:spPr>
      </p:pic>
      <p:sp>
        <p:nvSpPr>
          <p:cNvPr id="446" name="Text 16"/>
          <p:cNvSpPr txBox="1"/>
          <p:nvPr/>
        </p:nvSpPr>
        <p:spPr>
          <a:xfrm>
            <a:off x="7498078" y="4109678"/>
            <a:ext cx="3749042" cy="33028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900">
                <a:solidFill>
                  <a:srgbClr val="1E293B"/>
                </a:solidFill>
                <a:latin typeface="+mj-lt"/>
                <a:ea typeface="+mj-ea"/>
                <a:cs typeface="+mj-cs"/>
                <a:sym typeface="Calibri"/>
              </a:defRPr>
            </a:lvl1pPr>
          </a:lstStyle>
          <a:p>
            <a:pPr/>
            <a:r>
              <a:t>No real memory</a:t>
            </a:r>
          </a:p>
        </p:txBody>
      </p:sp>
      <p:sp>
        <p:nvSpPr>
          <p:cNvPr id="447" name="Text 17"/>
          <p:cNvSpPr txBox="1"/>
          <p:nvPr/>
        </p:nvSpPr>
        <p:spPr>
          <a:xfrm>
            <a:off x="7498078" y="4729919"/>
            <a:ext cx="3794762" cy="4614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64748B"/>
                </a:solidFill>
                <a:latin typeface="+mj-lt"/>
                <a:ea typeface="+mj-ea"/>
                <a:cs typeface="+mj-cs"/>
                <a:sym typeface="Calibri"/>
              </a:defRPr>
            </a:lvl1pPr>
          </a:lstStyle>
          <a:p>
            <a:pPr/>
            <a:r>
              <a:t>Each API call is stateless. It only 'remembers' what you re-send every time.</a:t>
            </a:r>
          </a:p>
        </p:txBody>
      </p:sp>
      <p:sp>
        <p:nvSpPr>
          <p:cNvPr id="448" name="Text 18"/>
          <p:cNvSpPr txBox="1"/>
          <p:nvPr/>
        </p:nvSpPr>
        <p:spPr>
          <a:xfrm>
            <a:off x="502919" y="6480723"/>
            <a:ext cx="53949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64748B"/>
                </a:solidFill>
                <a:latin typeface="+mj-lt"/>
                <a:ea typeface="+mj-ea"/>
                <a:cs typeface="+mj-cs"/>
                <a:sym typeface="Calibri"/>
              </a:defRPr>
            </a:lvl1pPr>
          </a:lstStyle>
          <a:p>
            <a:pPr/>
            <a:r>
              <a:t>The ₹0 AI Engineer  ·  Module 1</a:t>
            </a:r>
          </a:p>
        </p:txBody>
      </p:sp>
      <p:sp>
        <p:nvSpPr>
          <p:cNvPr id="449" name="Text 19"/>
          <p:cNvSpPr txBox="1"/>
          <p:nvPr/>
        </p:nvSpPr>
        <p:spPr>
          <a:xfrm>
            <a:off x="11323015" y="6480723"/>
            <a:ext cx="36576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900">
                <a:solidFill>
                  <a:srgbClr val="64748B"/>
                </a:solidFill>
                <a:latin typeface="+mj-lt"/>
                <a:ea typeface="+mj-ea"/>
                <a:cs typeface="+mj-cs"/>
                <a:sym typeface="Calibri"/>
              </a:defRPr>
            </a:lvl1pPr>
          </a:lstStyle>
          <a:p>
            <a:pPr/>
            <a:r>
              <a:t>13</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A2E"/>
        </a:solidFill>
      </p:bgPr>
    </p:bg>
    <p:spTree>
      <p:nvGrpSpPr>
        <p:cNvPr id="1" name=""/>
        <p:cNvGrpSpPr/>
        <p:nvPr/>
      </p:nvGrpSpPr>
      <p:grpSpPr>
        <a:xfrm>
          <a:off x="0" y="0"/>
          <a:ext cx="0" cy="0"/>
          <a:chOff x="0" y="0"/>
          <a:chExt cx="0" cy="0"/>
        </a:xfrm>
      </p:grpSpPr>
      <p:sp>
        <p:nvSpPr>
          <p:cNvPr id="453" name="Shape 0"/>
          <p:cNvSpPr/>
          <p:nvPr/>
        </p:nvSpPr>
        <p:spPr>
          <a:xfrm>
            <a:off x="9509759" y="-1463040"/>
            <a:ext cx="5486403" cy="5486402"/>
          </a:xfrm>
          <a:prstGeom prst="ellipse">
            <a:avLst/>
          </a:prstGeom>
          <a:solidFill>
            <a:srgbClr val="0D9488">
              <a:alpha val="12000"/>
            </a:srgbClr>
          </a:solidFill>
          <a:ln w="12700">
            <a:miter lim="400000"/>
          </a:ln>
        </p:spPr>
        <p:txBody>
          <a:bodyPr lIns="45718" tIns="45718" rIns="45718" bIns="45718"/>
          <a:lstStyle/>
          <a:p>
            <a:pPr>
              <a:defRPr>
                <a:latin typeface="+mj-lt"/>
                <a:ea typeface="+mj-ea"/>
                <a:cs typeface="+mj-cs"/>
                <a:sym typeface="Calibri"/>
              </a:defRPr>
            </a:pPr>
          </a:p>
        </p:txBody>
      </p:sp>
      <p:sp>
        <p:nvSpPr>
          <p:cNvPr id="454" name="Text 1"/>
          <p:cNvSpPr txBox="1"/>
          <p:nvPr/>
        </p:nvSpPr>
        <p:spPr>
          <a:xfrm>
            <a:off x="685799" y="515927"/>
            <a:ext cx="5394962"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300" sz="1200">
                <a:solidFill>
                  <a:srgbClr val="5EEAD4"/>
                </a:solidFill>
                <a:latin typeface="+mj-lt"/>
                <a:ea typeface="+mj-ea"/>
                <a:cs typeface="+mj-cs"/>
                <a:sym typeface="Calibri"/>
              </a:defRPr>
            </a:lvl1pPr>
          </a:lstStyle>
          <a:p>
            <a:pPr/>
            <a:r>
              <a:t>MODULE 1 — LOCKED IN</a:t>
            </a:r>
          </a:p>
        </p:txBody>
      </p:sp>
      <p:sp>
        <p:nvSpPr>
          <p:cNvPr id="455" name="Text 2"/>
          <p:cNvSpPr txBox="1"/>
          <p:nvPr/>
        </p:nvSpPr>
        <p:spPr>
          <a:xfrm>
            <a:off x="685800" y="934720"/>
            <a:ext cx="9966960" cy="599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3400">
                <a:solidFill>
                  <a:srgbClr val="FFFFFF"/>
                </a:solidFill>
                <a:latin typeface="Cambria"/>
                <a:ea typeface="Cambria"/>
                <a:cs typeface="Cambria"/>
                <a:sym typeface="Cambria"/>
              </a:defRPr>
            </a:lvl1pPr>
          </a:lstStyle>
          <a:p>
            <a:pPr/>
            <a:r>
              <a:t>You can now read the meter</a:t>
            </a:r>
          </a:p>
        </p:txBody>
      </p:sp>
      <p:pic>
        <p:nvPicPr>
          <p:cNvPr id="456" name="Image 0" descr="Image 0"/>
          <p:cNvPicPr>
            <a:picLocks noChangeAspect="1"/>
          </p:cNvPicPr>
          <p:nvPr/>
        </p:nvPicPr>
        <p:blipFill>
          <a:blip r:embed="rId3">
            <a:extLst/>
          </a:blip>
          <a:stretch>
            <a:fillRect/>
          </a:stretch>
        </p:blipFill>
        <p:spPr>
          <a:xfrm>
            <a:off x="731519" y="1874520"/>
            <a:ext cx="384050" cy="384050"/>
          </a:xfrm>
          <a:prstGeom prst="rect">
            <a:avLst/>
          </a:prstGeom>
          <a:ln w="12700">
            <a:miter lim="400000"/>
          </a:ln>
        </p:spPr>
      </p:pic>
      <p:sp>
        <p:nvSpPr>
          <p:cNvPr id="457" name="Text 3"/>
          <p:cNvSpPr txBox="1"/>
          <p:nvPr/>
        </p:nvSpPr>
        <p:spPr>
          <a:xfrm>
            <a:off x="1371600" y="1929962"/>
            <a:ext cx="7223760" cy="3005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600">
                <a:solidFill>
                  <a:srgbClr val="E2F0F0"/>
                </a:solidFill>
                <a:latin typeface="+mj-lt"/>
                <a:ea typeface="+mj-ea"/>
                <a:cs typeface="+mj-cs"/>
                <a:sym typeface="Calibri"/>
              </a:defRPr>
            </a:lvl1pPr>
          </a:lstStyle>
          <a:p>
            <a:pPr/>
            <a:r>
              <a:t>AI is a product you rent by the token — not a model you train</a:t>
            </a:r>
          </a:p>
        </p:txBody>
      </p:sp>
      <p:pic>
        <p:nvPicPr>
          <p:cNvPr id="458" name="Image 1" descr="Image 1"/>
          <p:cNvPicPr>
            <a:picLocks noChangeAspect="1"/>
          </p:cNvPicPr>
          <p:nvPr/>
        </p:nvPicPr>
        <p:blipFill>
          <a:blip r:embed="rId3">
            <a:extLst/>
          </a:blip>
          <a:stretch>
            <a:fillRect/>
          </a:stretch>
        </p:blipFill>
        <p:spPr>
          <a:xfrm>
            <a:off x="731519" y="2441448"/>
            <a:ext cx="384050" cy="384050"/>
          </a:xfrm>
          <a:prstGeom prst="rect">
            <a:avLst/>
          </a:prstGeom>
          <a:ln w="12700">
            <a:miter lim="400000"/>
          </a:ln>
        </p:spPr>
      </p:pic>
      <p:sp>
        <p:nvSpPr>
          <p:cNvPr id="459" name="Text 4"/>
          <p:cNvSpPr txBox="1"/>
          <p:nvPr/>
        </p:nvSpPr>
        <p:spPr>
          <a:xfrm>
            <a:off x="1371600" y="2496890"/>
            <a:ext cx="7223760" cy="3005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600">
                <a:solidFill>
                  <a:srgbClr val="E2F0F0"/>
                </a:solidFill>
                <a:latin typeface="+mj-lt"/>
                <a:ea typeface="+mj-ea"/>
                <a:cs typeface="+mj-cs"/>
                <a:sym typeface="Calibri"/>
              </a:defRPr>
            </a:lvl1pPr>
          </a:lstStyle>
          <a:p>
            <a:pPr/>
            <a:r>
              <a:t>Tokens are billing units: input is cheap, output costs 3–5×</a:t>
            </a:r>
          </a:p>
        </p:txBody>
      </p:sp>
      <p:pic>
        <p:nvPicPr>
          <p:cNvPr id="460" name="Image 2" descr="Image 2"/>
          <p:cNvPicPr>
            <a:picLocks noChangeAspect="1"/>
          </p:cNvPicPr>
          <p:nvPr/>
        </p:nvPicPr>
        <p:blipFill>
          <a:blip r:embed="rId3">
            <a:extLst/>
          </a:blip>
          <a:stretch>
            <a:fillRect/>
          </a:stretch>
        </p:blipFill>
        <p:spPr>
          <a:xfrm>
            <a:off x="731519" y="3008376"/>
            <a:ext cx="384050" cy="384050"/>
          </a:xfrm>
          <a:prstGeom prst="rect">
            <a:avLst/>
          </a:prstGeom>
          <a:ln w="12700">
            <a:miter lim="400000"/>
          </a:ln>
        </p:spPr>
      </p:pic>
      <p:sp>
        <p:nvSpPr>
          <p:cNvPr id="461" name="Text 5"/>
          <p:cNvSpPr txBox="1"/>
          <p:nvPr/>
        </p:nvSpPr>
        <p:spPr>
          <a:xfrm>
            <a:off x="1371600" y="3063819"/>
            <a:ext cx="7223760" cy="3005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600">
                <a:solidFill>
                  <a:srgbClr val="E2F0F0"/>
                </a:solidFill>
                <a:latin typeface="+mj-lt"/>
                <a:ea typeface="+mj-ea"/>
                <a:cs typeface="+mj-cs"/>
                <a:sym typeface="Calibri"/>
              </a:defRPr>
            </a:lvl1pPr>
          </a:lstStyle>
          <a:p>
            <a:pPr/>
            <a:r>
              <a:t>Model tiers span ~300× in price — picking the tier is the engineering</a:t>
            </a:r>
          </a:p>
        </p:txBody>
      </p:sp>
      <p:pic>
        <p:nvPicPr>
          <p:cNvPr id="462" name="Image 3" descr="Image 3"/>
          <p:cNvPicPr>
            <a:picLocks noChangeAspect="1"/>
          </p:cNvPicPr>
          <p:nvPr/>
        </p:nvPicPr>
        <p:blipFill>
          <a:blip r:embed="rId3">
            <a:extLst/>
          </a:blip>
          <a:stretch>
            <a:fillRect/>
          </a:stretch>
        </p:blipFill>
        <p:spPr>
          <a:xfrm>
            <a:off x="731519" y="3575303"/>
            <a:ext cx="384050" cy="384050"/>
          </a:xfrm>
          <a:prstGeom prst="rect">
            <a:avLst/>
          </a:prstGeom>
          <a:ln w="12700">
            <a:miter lim="400000"/>
          </a:ln>
        </p:spPr>
      </p:pic>
      <p:sp>
        <p:nvSpPr>
          <p:cNvPr id="463" name="Text 6"/>
          <p:cNvSpPr txBox="1"/>
          <p:nvPr/>
        </p:nvSpPr>
        <p:spPr>
          <a:xfrm>
            <a:off x="1371600" y="3630748"/>
            <a:ext cx="7223760" cy="3005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600">
                <a:solidFill>
                  <a:srgbClr val="E2F0F0"/>
                </a:solidFill>
                <a:latin typeface="+mj-lt"/>
                <a:ea typeface="+mj-ea"/>
                <a:cs typeface="+mj-cs"/>
                <a:sym typeface="Calibri"/>
              </a:defRPr>
            </a:lvl1pPr>
          </a:lstStyle>
          <a:p>
            <a:pPr/>
            <a:r>
              <a:t>Judge AI on accuracy + speed + cost-per-1,000, all at once</a:t>
            </a:r>
          </a:p>
        </p:txBody>
      </p:sp>
      <p:pic>
        <p:nvPicPr>
          <p:cNvPr id="464" name="Image 4" descr="Image 4"/>
          <p:cNvPicPr>
            <a:picLocks noChangeAspect="1"/>
          </p:cNvPicPr>
          <p:nvPr/>
        </p:nvPicPr>
        <p:blipFill>
          <a:blip r:embed="rId3">
            <a:extLst/>
          </a:blip>
          <a:stretch>
            <a:fillRect/>
          </a:stretch>
        </p:blipFill>
        <p:spPr>
          <a:xfrm>
            <a:off x="731519" y="4142232"/>
            <a:ext cx="384050" cy="384050"/>
          </a:xfrm>
          <a:prstGeom prst="rect">
            <a:avLst/>
          </a:prstGeom>
          <a:ln w="12700">
            <a:miter lim="400000"/>
          </a:ln>
        </p:spPr>
      </p:pic>
      <p:sp>
        <p:nvSpPr>
          <p:cNvPr id="465" name="Text 7"/>
          <p:cNvSpPr txBox="1"/>
          <p:nvPr/>
        </p:nvSpPr>
        <p:spPr>
          <a:xfrm>
            <a:off x="1371600" y="4197675"/>
            <a:ext cx="7223760" cy="3005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600">
                <a:solidFill>
                  <a:srgbClr val="E2F0F0"/>
                </a:solidFill>
                <a:latin typeface="+mj-lt"/>
                <a:ea typeface="+mj-ea"/>
                <a:cs typeface="+mj-cs"/>
                <a:sym typeface="Calibri"/>
              </a:defRPr>
            </a:lvl1pPr>
          </a:lstStyle>
          <a:p>
            <a:pPr/>
            <a:r>
              <a:t>Know its limits: hallucination, cutoff, weak math, no memory</a:t>
            </a:r>
          </a:p>
        </p:txBody>
      </p:sp>
      <p:sp>
        <p:nvSpPr>
          <p:cNvPr id="466" name="Shape 8"/>
          <p:cNvSpPr/>
          <p:nvPr/>
        </p:nvSpPr>
        <p:spPr>
          <a:xfrm>
            <a:off x="640080" y="4892040"/>
            <a:ext cx="10881360" cy="1417322"/>
          </a:xfrm>
          <a:prstGeom prst="roundRect">
            <a:avLst>
              <a:gd name="adj" fmla="val 6452"/>
            </a:avLst>
          </a:prstGeom>
          <a:solidFill>
            <a:srgbClr val="F4A338"/>
          </a:solidFill>
          <a:ln w="12700">
            <a:miter lim="400000"/>
          </a:ln>
          <a:effectLst>
            <a:outerShdw sx="100000" sy="100000" kx="0" ky="0" algn="b" rotWithShape="0" blurRad="88900" dist="38100" dir="2700000">
              <a:srgbClr val="000000">
                <a:alpha val="25000"/>
              </a:srgbClr>
            </a:outerShdw>
          </a:effectLst>
        </p:spPr>
        <p:txBody>
          <a:bodyPr lIns="45718" tIns="45718" rIns="45718" bIns="45718"/>
          <a:lstStyle/>
          <a:p>
            <a:pPr>
              <a:defRPr>
                <a:latin typeface="+mj-lt"/>
                <a:ea typeface="+mj-ea"/>
                <a:cs typeface="+mj-cs"/>
                <a:sym typeface="Calibri"/>
              </a:defRPr>
            </a:pPr>
          </a:p>
        </p:txBody>
      </p:sp>
      <p:pic>
        <p:nvPicPr>
          <p:cNvPr id="467" name="Image 5" descr="Image 5"/>
          <p:cNvPicPr>
            <a:picLocks noChangeAspect="1"/>
          </p:cNvPicPr>
          <p:nvPr/>
        </p:nvPicPr>
        <p:blipFill>
          <a:blip r:embed="rId4">
            <a:extLst/>
          </a:blip>
          <a:stretch>
            <a:fillRect/>
          </a:stretch>
        </p:blipFill>
        <p:spPr>
          <a:xfrm>
            <a:off x="960119" y="5257800"/>
            <a:ext cx="640081" cy="640081"/>
          </a:xfrm>
          <a:prstGeom prst="rect">
            <a:avLst/>
          </a:prstGeom>
          <a:ln w="12700">
            <a:miter lim="400000"/>
          </a:ln>
        </p:spPr>
      </p:pic>
      <p:sp>
        <p:nvSpPr>
          <p:cNvPr id="468" name="Text 9"/>
          <p:cNvSpPr txBox="1"/>
          <p:nvPr/>
        </p:nvSpPr>
        <p:spPr>
          <a:xfrm>
            <a:off x="1874520" y="5323403"/>
            <a:ext cx="9418320" cy="5545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defRPr b="1" sz="1600">
                <a:solidFill>
                  <a:srgbClr val="0F2A2E"/>
                </a:solidFill>
                <a:latin typeface="+mj-lt"/>
                <a:ea typeface="+mj-ea"/>
                <a:cs typeface="+mj-cs"/>
                <a:sym typeface="Calibri"/>
              </a:defRPr>
            </a:pPr>
            <a:r>
              <a:t>DO TONIGHT:  </a:t>
            </a:r>
            <a:r>
              <a:rPr b="0"/>
              <a:t>Open the OpenAI Tokenizer, paste your own CV, and calculate what one screening call would cost on Haiku vs Opus. Bring the number to Module 2.</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